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7" d="100"/>
          <a:sy n="147" d="100"/>
        </p:scale>
        <p:origin x="69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A1A1A"/>
                </a:solidFill>
                <a:latin typeface="Archivo"/>
              </a:defRPr>
            </a:pPr>
            <a:r>
              <a:t>Bayesian</a:t>
            </a:r>
          </a:p>
          <a:p>
            <a:pPr>
              <a:spcBef>
                <a:spcPts val="0"/>
              </a:spcBef>
              <a:defRPr sz="5400" b="1">
                <a:solidFill>
                  <a:srgbClr val="FF3300"/>
                </a:solidFill>
                <a:latin typeface="Archivo"/>
              </a:defRPr>
            </a:pPr>
            <a:r>
              <a:t>Optimisation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931920"/>
            <a:ext cx="731520" cy="635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44444"/>
                </a:solidFill>
                <a:latin typeface="Nunito"/>
              </a:defRPr>
            </a:pPr>
            <a:r>
              <a:t>Surrogate Models, Acquisition Functions &amp; Sample-Efficient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t>Bayesian Optimization II — Building on the GP foundations from Lecture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What We Know So Far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RECAP FROM LECTURE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In the previous lecture we established that a Gaussian Process (GP) is a distribution over functions, fully specified by a mean function μ(x) and a kernel function k(x, x').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5681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f(x) ~ GP(μ(x), k(x, x'))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4086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Given observed data, the GP posterior gives us at every point: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249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Mean prediction μ(x) — our best estimate of f(x)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Predictive variance σ²(x) — our calibrated uncertainty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0168"/>
            <a:ext cx="50800" cy="45720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6301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t>Today’s lecture takes these GP capabilities as given and asks: how do we use them to optimise an expensive function?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3300"/>
                </a:solidFill>
                <a:latin typeface="Archivo"/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548640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chivo"/>
              </a:defRPr>
            </a:pPr>
            <a:r>
              <a:t>What is Bayesian Optimisation</a:t>
            </a:r>
            <a:br/>
            <a:r>
              <a:t>and why do we need it?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The Optimisation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We seek the global optimum of an objective function: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0584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50800" cy="5029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1848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mbria Math"/>
              </a:defRPr>
            </a:pPr>
            <a:r>
              <a:t>x* = argmax  f(x),    x ∈ 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6712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where f has properties that make classical methods impractical: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5117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Expensive to evaluate — each call may be a CFD simulation (hours), a physical experiment (days), or a neural-network training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3522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Black-box — no closed-form expression is available; we only observe input-output pairs (xᵢ, yᵢ)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192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No gradient information — derivatives of f are unavailable, so gradient-based optimisers cannot be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03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Possibly noisy — observations may be corrupted: y = f(x) + ε, where ε ~ N(0, σ²ₙ)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Why Not Brute Force?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When evaluations are cheap, we can afford exhaustive strategies. When they are expensive, we cannot: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064578"/>
              </p:ext>
            </p:extLst>
          </p:nvPr>
        </p:nvGraphicFramePr>
        <p:xfrm>
          <a:off x="822960" y="1944235"/>
          <a:ext cx="100584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rPr dirty="0"/>
                        <a:t>Evaluations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Uses past data?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Grid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Evaluate on a fixed 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O(k^d) — exponential in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Random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Sample uniformly at 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Many, high 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Gradient descent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Follow ∇f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Requires gradients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Bayesian Optimisation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Model f, then decide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Very few (10–100)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rPr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The Two Ingredients of BO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Bayesian Optimisation combines two components in a sequential loop: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5681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1. Surrogate Model — A cheap probabilistic approximation of f(x) that provides predictions with uncertainty.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4086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   Answers: "What do we think f looks like?"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249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2. Acquisition Function — A utility function α(x) that quantifies the value of evaluating f at a candidate point 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9300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   Answers: "Where should we sample next?"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968496"/>
            <a:ext cx="50800" cy="457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96849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Nunito"/>
              </a:defRPr>
            </a:pPr>
            <a:r>
              <a:t>Together they form a sequential decision process: model → decide → evaluate → update → repeat.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3300"/>
                </a:solidFill>
                <a:latin typeface="Archivo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548640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chivo"/>
              </a:defRPr>
            </a:pPr>
            <a:r>
              <a:t>The Surrogate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What is a Surrogate Model?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DEFINITION: A surrogate model (also: metamodel, emulator, response surface) is a statistical model that approximates an expensive function f(x) from a small set of observations Dₙ = {(xᵢ, yᵢ)}.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5681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For BO, the surrogate must provide two outputs at every query point x: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4086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Predictive mean μ(x) = E[f(x) | Dₙ] — the best estimate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249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Predictive uncertainty σ(x) = √Var[f(x) | Dₙ] — how confident the estimate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49300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The uncertainty is critical: it is what allows BO to distinguish "explored" regions from "unexplored" ones and to make principled decisions about where to sample next.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Why GPs Are the Default Surrogate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Many models can predict μ(x), but few give well-calibrated σ(x). GPs are the standard choice because: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727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Closed-form posterior — predictions are exact, computed via the conditioning formulae from Lecture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5681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Calibrated uncertainty — σ(x) is analytically derived, not heuristic; it shrinks at observed points and grows in unobserved regions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4086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Non-parametric — the model complexity grows with the data, not fixed in advance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249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Data-efficient — perform well with very few observations (n &lt; 50), exactly the BO regime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46120"/>
            <a:ext cx="50800" cy="45720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t>Other surrogates (Random Forests, Bayesian Neural Networks, etc.) can be used, but GPs remain the most common choice for low-dimensional BO.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Surrogate Fitted to 3 Initial Samples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t>A GP surrogate trained on just 3 observations. Blue line: posterior mean μ(x). Shaded band: μ ± 2σ (95% CI). Dashed black: the true function (unseen by the model).</a:t>
            </a:r>
          </a:p>
        </p:txBody>
      </p:sp>
      <p:pic>
        <p:nvPicPr>
          <p:cNvPr id="4" name="Picture 3" descr="gp_surro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714" y="1417320"/>
            <a:ext cx="4742267" cy="29260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4480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Near observations (red dots): the confidence band is narrow — the model is certain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800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Far from observations: the band is wide — the model honestly reports its ignorance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3300"/>
                </a:solidFill>
                <a:latin typeface="Archivo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548640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chivo"/>
              </a:defRPr>
            </a:pPr>
            <a:r>
              <a:t>Acquisition Functions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What is an Acquisition Function?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DEFINITION: An acquisition function α(x) is a cheap-to-evaluate utility that scores every candidate point x based on how valuable it would be to evaluate f(x)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The next sample is chosen as: xₙ₊₁ = argmax α(x)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5681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34086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It uses the GP posterior (μ and σ) as input — it never calls the expensive f itself. Different acquisition functions encode different strategies: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249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In this lecture we cover three widely used acquisition functions: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9300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Expected Improvement (EI) — How much improvement can we expect?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7705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Probability of Improvement (PI) — How likely is any improvement?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6110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Upper Confidence Bound (UCB) — What is the optimistic upper bound on f?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The Exploration–Exploitation Trade-off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Before diving into the formulae, let us build intuition for the central tension: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5681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EXPLOITATION: Sample where the predicted mean μ(x) is high — regions we already believe are good.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4086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  Risk: converging to a local optimum and missing the global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249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EXPLORATION: Sample where the uncertainty σ(x) is large — regions we haven’t explored.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9300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  Risk: wasting expensive evaluations in regions that turn out to be uninteresting.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968496"/>
            <a:ext cx="50800" cy="457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96849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Nunito"/>
              </a:defRPr>
            </a:pPr>
            <a:r>
              <a:t>A good acquisition function balances both signals. The three functions we cover next differ mainly in how they strike this balance.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Shared Notation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Before we define each function, let us establish the shared notation. All three build on the same GP posterior quantities: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45920"/>
          <a:ext cx="10058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μ(x)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GP posterior mean at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σ(x)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GP posterior standard deviation at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f* = max yᵢ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Best observed value so far (the "incumbent")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Φ(·)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Standard normal CDF — Φ(z) = P(Z ≤ z)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φ(·)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Standard normal PDF — φ(z) = (1/√2π) e^(-z²/2)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Standardised improvement: Z = (μ(x) - f*) / σ(x)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Expected Improvement (EI)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DEFINITION: EI measures the expected amount by which a new evaluation will improve over the current best f*.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0584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50800" cy="5029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1848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mbria Math"/>
              </a:defRPr>
            </a:pPr>
            <a:r>
              <a:t>EI(x) = (μ(x) - f*) · Φ(Z)  +  σ(x) · φ(Z)     if σ(x) &gt; 0,   0 otherwise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67128"/>
            <a:ext cx="100584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167128"/>
            <a:ext cx="50800" cy="5029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21284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mbria Math"/>
              </a:defRPr>
            </a:pPr>
            <a:r>
              <a:t>where   Z = (μ(x) - f*) / σ(x)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14553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Interpreting the two terms: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958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(μ(x) - f*)·Φ(Z) — EXPLOITATION: large when the mean is well above f* and improvement is likely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91363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σ(x)·φ(Z) — EXPLORATION: large when uncertainty is high, even if the mean is not promising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Where Does the EI Formula Come From?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Define the improvement random variable at point x as: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0584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50800" cy="5029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1848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mbria Math"/>
              </a:defRPr>
            </a:pPr>
            <a:r>
              <a:t>I(x) = max(f(x) - f*,  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6712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EI is the expectation of I(x) under the GP posterior, where f(x) ~ N(μ(x), σ²(x)):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551176"/>
            <a:ext cx="100584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551176"/>
            <a:ext cx="50800" cy="5029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59689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mbria Math"/>
              </a:defRPr>
            </a:pPr>
            <a:r>
              <a:t>EI(x) = E[I(x)] = ∫ from f* to ∞  (f - f*) · N(f | μ(x), σ²(x)) 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4553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52958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Evaluating this integral analytically (by substituting z = (f - μ)/σ and integrating by parts) yields the closed-form expression on the previous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Visualising the Two Terms of 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t>The figure decomposes EI into its constituent parts on a GP fitted to the initial observations:</a:t>
            </a:r>
          </a:p>
        </p:txBody>
      </p:sp>
      <p:pic>
        <p:nvPicPr>
          <p:cNvPr id="4" name="Picture 3" descr="explore_explo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417320"/>
            <a:ext cx="9144000" cy="27321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4480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Left (red): exploitation term (μ - f*)Φ(Z) — peaks where the mean already exceeds f*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800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Middle (blue): exploration term σ·φ(Z) — peaks in high-uncertainty regions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120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Right (green): the full EI — the sum of both, selecting a point that balances the two signals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Probability of Improvement (PI)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Having seen how EI balances explore and exploit, let us now look at a simpler alternative: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DEFINITION: PI measures the probability that a new evaluation will exceed the current best by at least a margin ξ ≥ 0.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56816"/>
            <a:ext cx="100584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956816"/>
            <a:ext cx="50800" cy="5029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0253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mbria Math"/>
              </a:defRPr>
            </a:pPr>
            <a:r>
              <a:t>PI(x) = P(f(x) &gt; f* + ξ) = Φ((μ(x) - f* - ξ) / σ(x))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5117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93522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PI asks only whether improvement occurs, not how much — it ignores the magnitude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192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With ξ = 0: very greedy — samples cluster near the current best, risking premature convergence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03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Increasing ξ adds a margin that encourages more exploration, but the right value is problem-dependent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8736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PI was one of the earliest acquisition functions proposed (Kushner, 1964)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Upper Confidence Bound (UCB)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UCB takes an entirely different approach from EI and PI: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DEFINITION: UCB scores each point by its mean plus an exploration bonus proportional to the uncertainty.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56816"/>
            <a:ext cx="100584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956816"/>
            <a:ext cx="50800" cy="5029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0253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mbria Math"/>
              </a:defRPr>
            </a:pPr>
            <a:r>
              <a:t>UCB(x) = μ(x) + κ · σ(x)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5117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93522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κ &gt; 0 directly controls the balance: κ = 0 is pure exploitation; κ → ∞ is pure exploration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192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Also called GP-UCB; has theoretical regret bounds: O(√(T·γ_T)) (Srinivas et al., 2010)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03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Common practical choice: κ = 2 (roughly a 95% upper confidence bound)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Summary: Three Acquisition Functions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Now that we have seen each function individually, the table below collects the key differences: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45920"/>
          <a:ext cx="10058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UCB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(μ-f*)Φ(Z) + σφ(Z)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Φ((μ-f*-ξ)/σ)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μ + κσ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Expected magnitude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Probability of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Optimistic upper 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Free 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ξ (margin)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κ (exploration weight)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Balanced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Greedy / exploitative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Tuneable, principled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Regret 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Empirically 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No formal 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O(√(Tγ_T))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EI, PI, and UCB on the Same Surrogate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t>All three acquisition functions evaluated on the same GP posterior fitted to 4 observations. Dashed lines mark each function’s recommended next sample:</a:t>
            </a:r>
          </a:p>
        </p:txBody>
      </p:sp>
      <p:pic>
        <p:nvPicPr>
          <p:cNvPr id="4" name="Picture 3" descr="acq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812" y="1417320"/>
            <a:ext cx="3842070" cy="29260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4480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PI (red) peaks closest to the current best observation — it is the most exploitative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800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UCB (blue) peaks furthest into the uncertain region to the right — the most explorative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120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EI (green) sits between the two, balancing mean and uncertainty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Practical Guidance: Choosing an Acquisition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There is no universally best acquisition function — the right choice depends on problem characteristics: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45920"/>
          <a:ext cx="10058400" cy="22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If you need…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Why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A safe, general-purpose 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Parameter-free, balances both signals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Fast convergence on simple landscape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PI (small ξ)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Aggressively exploits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Robustness to local optima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UCB (high κ)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Strong exploration prevents premature convergence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Theoretical guarantees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UCB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Formal regret bounds under mild assumptions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3300"/>
                </a:solidFill>
                <a:latin typeface="Archivo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548640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chivo"/>
              </a:defRPr>
            </a:pPr>
            <a:r>
              <a:t>How It All Comes Together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rPr dirty="0"/>
              <a:t>From Components to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We have now covered the two building blocks — the surrogate model and the acquisition function. Bayesian Optimization puts them together in a simple iterative loop:</a:t>
            </a:r>
            <a:r>
              <a:rPr lang="en-US" dirty="0"/>
              <a:t>  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88720" y="1956816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Step 1.  </a:t>
            </a:r>
            <a:r>
              <a:rPr dirty="0"/>
              <a:t>Start with a small initial dataset (e.g. 3–5 random evaluations)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188720" y="2340864"/>
                <a:ext cx="960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•  </a:t>
                </a:r>
                <a:r>
                  <a:rPr b="1" dirty="0"/>
                  <a:t>Step 2.  </a:t>
                </a:r>
                <a:r>
                  <a:rPr dirty="0"/>
                  <a:t>Fit the surrogate to all data collected so far → obtain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2340864"/>
                <a:ext cx="9601200" cy="369332"/>
              </a:xfrm>
              <a:prstGeom prst="rect">
                <a:avLst/>
              </a:prstGeom>
              <a:blipFill>
                <a:blip r:embed="rId2"/>
                <a:stretch>
                  <a:fillRect l="-508" t="-11475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188720" y="2724912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Step 3.</a:t>
            </a:r>
            <a:r>
              <a:rPr dirty="0"/>
              <a:t>  Maximize the acquisition function to choose the next evaluation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188720" y="3108960"/>
                <a:ext cx="960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•  </a:t>
                </a:r>
                <a:r>
                  <a:rPr b="1" dirty="0"/>
                  <a:t>Step 4.</a:t>
                </a:r>
                <a:r>
                  <a:rPr dirty="0"/>
                  <a:t>  Evaluate the expensive function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dirty="0"/>
                  <a:t>and add the result to the dataset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3108960"/>
                <a:ext cx="9601200" cy="369332"/>
              </a:xfrm>
              <a:prstGeom prst="rect">
                <a:avLst/>
              </a:prstGeom>
              <a:blipFill>
                <a:blip r:embed="rId3"/>
                <a:stretch>
                  <a:fillRect l="-508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188720" y="3493008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Step 5.</a:t>
            </a:r>
            <a:r>
              <a:rPr dirty="0"/>
              <a:t>  Go back to Step 2 until the evaluation budget is exhausted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75820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Each iteration, the surrogate becomes more accurate and the acquisition function makes</a:t>
            </a:r>
            <a:r>
              <a:rPr lang="en-US" dirty="0"/>
              <a:t> </a:t>
            </a:r>
            <a:r>
              <a:rPr dirty="0"/>
              <a:t>better-informed decisions.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44ACF3-CF2E-54E8-EBBB-D0E9DDC94321}"/>
              </a:ext>
            </a:extLst>
          </p:cNvPr>
          <p:cNvSpPr/>
          <p:nvPr/>
        </p:nvSpPr>
        <p:spPr>
          <a:xfrm>
            <a:off x="771728" y="1188720"/>
            <a:ext cx="10597312" cy="35786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The Bayesian Optimisation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22960" y="1188720"/>
                <a:ext cx="960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Input: search space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dirty="0"/>
                  <a:t>, budget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dirty="0"/>
                  <a:t>, acquisition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188720"/>
                <a:ext cx="9601200" cy="369332"/>
              </a:xfrm>
              <a:prstGeom prst="rect">
                <a:avLst/>
              </a:prstGeom>
              <a:blipFill>
                <a:blip r:embed="rId2"/>
                <a:stretch>
                  <a:fillRect l="-508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22960" y="1572768"/>
                <a:ext cx="9601200" cy="3845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lang="en-US" dirty="0"/>
                  <a:t>1.  Choose initial design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₀</m:t>
                        </m:r>
                      </m:sub>
                    </m:sSub>
                    <m:r>
                      <a:rPr lang="ar-AE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ar-AE" dirty="0"/>
                  <a:t> </a:t>
                </a:r>
                <a:r>
                  <a:rPr lang="en-US" dirty="0"/>
                  <a:t>and evaluate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ᵢ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ᵢ)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572768"/>
                <a:ext cx="9601200" cy="384529"/>
              </a:xfrm>
              <a:prstGeom prst="rect">
                <a:avLst/>
              </a:prstGeom>
              <a:blipFill>
                <a:blip r:embed="rId3"/>
                <a:stretch>
                  <a:fillRect l="-508" t="-7937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22960" y="1956816"/>
                <a:ext cx="960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2. 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b="1" dirty="0"/>
                  <a:t>to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dirty="0"/>
                  <a:t> </a:t>
                </a:r>
                <a:r>
                  <a:rPr b="1" dirty="0"/>
                  <a:t>do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956816"/>
                <a:ext cx="9601200" cy="369332"/>
              </a:xfrm>
              <a:prstGeom prst="rect">
                <a:avLst/>
              </a:prstGeom>
              <a:blipFill>
                <a:blip r:embed="rId4"/>
                <a:stretch>
                  <a:fillRect l="-508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22960" y="2340864"/>
                <a:ext cx="9601200" cy="395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lang="en-US" dirty="0"/>
                  <a:t>      a.  Fit GP to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1" dirty="0" smtClean="0">
                        <a:latin typeface="Cambria Math" panose="02040503050406030204" pitchFamily="18" charset="0"/>
                      </a:rPr>
                      <m:t> = </m:t>
                    </m:r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{(</m:t>
                        </m:r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ᵢ,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ᵢ)}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2340864"/>
                <a:ext cx="9601200" cy="395621"/>
              </a:xfrm>
              <a:prstGeom prst="rect">
                <a:avLst/>
              </a:prstGeom>
              <a:blipFill>
                <a:blip r:embed="rId5"/>
                <a:stretch>
                  <a:fillRect t="-3077" b="-2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22960" y="2724912"/>
                <a:ext cx="960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      b.  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using GP posterior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2724912"/>
                <a:ext cx="9601200" cy="369332"/>
              </a:xfrm>
              <a:prstGeom prst="rect">
                <a:avLst/>
              </a:prstGeom>
              <a:blipFill>
                <a:blip r:embed="rId6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22960" y="3108960"/>
                <a:ext cx="9601200" cy="393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lang="en-US" dirty="0"/>
                  <a:t>      c.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ₜ = </m:t>
                    </m:r>
                    <m:sSub>
                      <m:sSub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arg</m:t>
                        </m:r>
                        <m:r>
                          <m:rPr>
                            <m:nor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ar-AE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ar-AE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sub>
                    </m:sSub>
                    <m:r>
                      <a:rPr lang="ar-AE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3108960"/>
                <a:ext cx="9601200" cy="393890"/>
              </a:xfrm>
              <a:prstGeom prst="rect">
                <a:avLst/>
              </a:prstGeom>
              <a:blipFill>
                <a:blip r:embed="rId7"/>
                <a:stretch>
                  <a:fillRect t="-3077" b="-2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22960" y="3493008"/>
                <a:ext cx="960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      d.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ₜ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ₜ) 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    </m:t>
                    </m:r>
                  </m:oMath>
                </a14:m>
                <a:r>
                  <a:rPr dirty="0"/>
                  <a:t>← </a:t>
                </a:r>
                <a:r>
                  <a:rPr i="1" dirty="0"/>
                  <a:t>the expensive evaluation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3493008"/>
                <a:ext cx="9601200" cy="369332"/>
              </a:xfrm>
              <a:prstGeom prst="rect">
                <a:avLst/>
              </a:prstGeom>
              <a:blipFill>
                <a:blip r:embed="rId8"/>
                <a:stretch>
                  <a:fillRect t="-11475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22960" y="3877056"/>
                <a:ext cx="960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      e.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ₜ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ₜ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∪ {(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ₜ)}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3877056"/>
                <a:ext cx="9601200" cy="369332"/>
              </a:xfrm>
              <a:prstGeom prst="rect">
                <a:avLst/>
              </a:prstGeom>
              <a:blipFill>
                <a:blip r:embed="rId9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22960" y="4261104"/>
                <a:ext cx="9601200" cy="404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lang="en-US" dirty="0"/>
                  <a:t>3.  </a:t>
                </a:r>
                <a:r>
                  <a:rPr lang="en-US" b="1" dirty="0"/>
                  <a:t>Return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ar-AE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arg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sSub>
                          <m:sSubPr>
                            <m:ctrlPr>
                              <a:rPr lang="ar-A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ar-AE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𝒟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sub>
                    </m:sSub>
                    <m:r>
                      <a:rPr lang="ar-AE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4261104"/>
                <a:ext cx="9601200" cy="404213"/>
              </a:xfrm>
              <a:prstGeom prst="rect">
                <a:avLst/>
              </a:prstGeom>
              <a:blipFill>
                <a:blip r:embed="rId10"/>
                <a:stretch>
                  <a:fillRect l="-508" t="-3030"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D9A2A2-D7D8-7886-77D7-8A9CF893BBB3}"/>
              </a:ext>
            </a:extLst>
          </p:cNvPr>
          <p:cNvCxnSpPr>
            <a:cxnSpLocks/>
          </p:cNvCxnSpPr>
          <p:nvPr/>
        </p:nvCxnSpPr>
        <p:spPr>
          <a:xfrm>
            <a:off x="771728" y="1188720"/>
            <a:ext cx="0" cy="357864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One BO Iteration Visualised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22960" y="914400"/>
                <a:ext cx="10058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Top panel: GP surrogate (step 2a). Bottom panel: EI acquisition function (step 2b). Green dashed line: </a:t>
                </a:r>
                <a:endParaRPr lang="en-US" dirty="0"/>
              </a:p>
              <a:p>
                <a:pPr algn="l">
                  <a:defRPr sz="1600" b="0">
                    <a:solidFill>
                      <a:srgbClr val="444444"/>
                    </a:solidFill>
                    <a:latin typeface="Nunito"/>
                  </a:defRPr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EI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(step 2c).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914400"/>
                <a:ext cx="10058400" cy="584775"/>
              </a:xfrm>
              <a:prstGeom prst="rect">
                <a:avLst/>
              </a:prstGeom>
              <a:blipFill>
                <a:blip r:embed="rId2"/>
                <a:stretch>
                  <a:fillRect l="-303" t="-2083" b="-13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ei_acqui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208" y="1417320"/>
            <a:ext cx="4736340" cy="37402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5157605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EI is high where the mean is promising AND uncertainty remains moderate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477645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EI is near zero at observed points (no uncertainty = no expected improvement)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282B98-C9BE-E03E-56AC-7C746CC4D29B}"/>
              </a:ext>
            </a:extLst>
          </p:cNvPr>
          <p:cNvSpPr/>
          <p:nvPr/>
        </p:nvSpPr>
        <p:spPr>
          <a:xfrm>
            <a:off x="822960" y="830012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How the Surrogate Evolves Over Iterations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t>The grid below shows the GP surrogate at iterations 1, 3, 5, and 7. At each step a new observation is added and the surrogate is re-fitted:</a:t>
            </a:r>
          </a:p>
        </p:txBody>
      </p:sp>
      <p:pic>
        <p:nvPicPr>
          <p:cNvPr id="4" name="Picture 3" descr="bo_it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624" y="1417320"/>
            <a:ext cx="5199579" cy="3690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510767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The uncertainty band shrinks progressively as data accumulates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42771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The GP mean converges toward the true function (dashed black 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74775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New samples (green stars) migrate toward the optimum — the algorithm self-focuses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8B8DF6-19A0-F663-37D5-D620FE4F1B3A}"/>
              </a:ext>
            </a:extLst>
          </p:cNvPr>
          <p:cNvSpPr/>
          <p:nvPr/>
        </p:nvSpPr>
        <p:spPr>
          <a:xfrm>
            <a:off x="822960" y="824685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3300"/>
                </a:solidFill>
                <a:latin typeface="Archivo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548640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chivo"/>
              </a:defRPr>
            </a:pPr>
            <a:r>
              <a:t>Code Example:</a:t>
            </a:r>
            <a:br/>
            <a:r>
              <a:t>BO on a 1-D Test Function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rPr lang="en-US" dirty="0"/>
              <a:t>A Coded Example Case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The accompanying Jupyter notebook implements a full BO pipeline from scratch using numpy, scikit-learn, and scipy: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956816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Step 0: </a:t>
            </a:r>
            <a:r>
              <a:rPr dirty="0"/>
              <a:t>Define a 1-D test function as a stand-in for an expensive black-box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40864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Step 1: </a:t>
            </a:r>
            <a:r>
              <a:rPr dirty="0"/>
              <a:t>Draw 3 random initial samples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24912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Step 2: </a:t>
            </a:r>
            <a:r>
              <a:rPr dirty="0"/>
              <a:t>Fit a GP surrogate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Step 3: </a:t>
            </a:r>
            <a:r>
              <a:rPr dirty="0"/>
              <a:t>Implement the EI acquisition function as a Python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93008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Step 4: </a:t>
            </a:r>
            <a:r>
              <a:rPr dirty="0"/>
              <a:t>Run the BO loop for 7 iterations, plotting the surrogate at each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77056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Step 5: </a:t>
            </a:r>
            <a:r>
              <a:rPr dirty="0"/>
              <a:t>Compare BO against random search, and compare EI vs. PI vs. UCB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4515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The following slides show key code snippets alongside their output graphs.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Step 0: The Objective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502920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47548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ourier New"/>
              </a:defRPr>
            </a:pPr>
            <a:r>
              <a:rPr lang="en-US" b="0" i="0" dirty="0">
                <a:solidFill>
                  <a:srgbClr val="FF7B72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i="0" dirty="0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objective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(x):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"""Expensive in real life."""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>
                <a:solidFill>
                  <a:srgbClr val="FF7B72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-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np.sin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>
                <a:solidFill>
                  <a:srgbClr val="79C0FF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*x) - x**</a:t>
            </a:r>
            <a:r>
              <a:rPr lang="en-US" b="0" i="0" dirty="0">
                <a:solidFill>
                  <a:srgbClr val="79C0FF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+ </a:t>
            </a:r>
            <a:r>
              <a:rPr lang="en-US" b="0" i="0" dirty="0">
                <a:solidFill>
                  <a:srgbClr val="79C0FF"/>
                </a:solidFill>
                <a:effectLst/>
                <a:latin typeface="Courier New" panose="02070309020205020404" pitchFamily="49" charset="0"/>
              </a:rPr>
              <a:t>0.7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*x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22960" y="3794760"/>
                <a:ext cx="5212080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6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A known test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−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−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²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dirty="0"/>
                  <a:t>. </a:t>
                </a:r>
                <a:endParaRPr lang="en-US" dirty="0"/>
              </a:p>
              <a:p>
                <a:pPr algn="l">
                  <a:defRPr sz="16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In practice, we would never see this curve — only point evaluations. The graph shows a global maximum near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≈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3794760"/>
                <a:ext cx="5212080" cy="1323439"/>
              </a:xfrm>
              <a:prstGeom prst="rect">
                <a:avLst/>
              </a:prstGeom>
              <a:blipFill>
                <a:blip r:embed="rId2"/>
                <a:stretch>
                  <a:fillRect l="-585" t="-922" r="-1520" b="-5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objective_fun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654351"/>
            <a:ext cx="5775299" cy="28262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5F39191-9F06-DF09-A4CB-93638FA2B2AF}"/>
              </a:ext>
            </a:extLst>
          </p:cNvPr>
          <p:cNvSpPr/>
          <p:nvPr/>
        </p:nvSpPr>
        <p:spPr>
          <a:xfrm>
            <a:off x="822960" y="856845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Step 1–2: Initial Samples &amp; Surrogate 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502920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475488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ourier New"/>
              </a:defRPr>
            </a:pP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# 3 random initial points</a:t>
            </a:r>
            <a:br>
              <a:rPr lang="en-US" dirty="0"/>
            </a:b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X_init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rng.uniform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(-</a:t>
            </a:r>
            <a:r>
              <a:rPr lang="en-US" b="0" i="0" dirty="0">
                <a:solidFill>
                  <a:srgbClr val="79C0FF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US" b="0" i="0" dirty="0">
                <a:solidFill>
                  <a:srgbClr val="79C0FF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, size=</a:t>
            </a:r>
            <a:r>
              <a:rPr lang="en-US" b="0" i="0" dirty="0">
                <a:solidFill>
                  <a:srgbClr val="79C0FF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dirty="0"/>
            </a:b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y_init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 </a:t>
            </a:r>
            <a:r>
              <a:rPr lang="en-US" b="0" i="0" dirty="0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objective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X_init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# Fit GP surrogate</a:t>
            </a:r>
            <a:br>
              <a:rPr lang="en-US" dirty="0"/>
            </a:b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gp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 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GaussianProcessRegressor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kernel=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Matern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(nu=</a:t>
            </a:r>
            <a:r>
              <a:rPr lang="en-US" b="0" i="0" dirty="0">
                <a:solidFill>
                  <a:srgbClr val="79C0FF"/>
                </a:solidFill>
                <a:effectLst/>
                <a:latin typeface="Courier New" panose="02070309020205020404" pitchFamily="49" charset="0"/>
              </a:rPr>
              <a:t>2.5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),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alpha=</a:t>
            </a:r>
            <a:r>
              <a:rPr lang="en-US" b="0" i="0" dirty="0">
                <a:solidFill>
                  <a:srgbClr val="79C0FF"/>
                </a:solidFill>
                <a:effectLst/>
                <a:latin typeface="Courier New" panose="02070309020205020404" pitchFamily="49" charset="0"/>
              </a:rPr>
              <a:t>1e-6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dirty="0"/>
            </a:b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gp.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fit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X_init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y_init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502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rPr lang="en-US" b="1" dirty="0"/>
              <a:t>Step 1</a:t>
            </a:r>
            <a:r>
              <a:rPr b="1" dirty="0"/>
              <a:t>:</a:t>
            </a:r>
            <a:r>
              <a:rPr dirty="0"/>
              <a:t> 3 random samples (red dots). </a:t>
            </a:r>
            <a:endParaRPr lang="en-US" dirty="0"/>
          </a:p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rPr lang="en-US" b="1" dirty="0"/>
              <a:t>Step 2:</a:t>
            </a:r>
            <a:r>
              <a:rPr dirty="0"/>
              <a:t> GP surrogate fitted to those points. With so little data, the surrogate is highly uncertain.</a:t>
            </a:r>
          </a:p>
        </p:txBody>
      </p:sp>
      <p:pic>
        <p:nvPicPr>
          <p:cNvPr id="6" name="Picture 5" descr="initial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926" y="1097280"/>
            <a:ext cx="4980169" cy="2437103"/>
          </a:xfrm>
          <a:prstGeom prst="rect">
            <a:avLst/>
          </a:prstGeom>
        </p:spPr>
      </p:pic>
      <p:pic>
        <p:nvPicPr>
          <p:cNvPr id="7" name="Picture 6" descr="gp_surro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704" y="3609611"/>
            <a:ext cx="4671848" cy="288262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30BB5C5-C38C-D2F8-9C7D-3BBFF0E2511A}"/>
              </a:ext>
            </a:extLst>
          </p:cNvPr>
          <p:cNvSpPr/>
          <p:nvPr/>
        </p:nvSpPr>
        <p:spPr>
          <a:xfrm>
            <a:off x="822960" y="856845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Step 3: Computing Expected Improvement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122" y="353181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This is a direct translation of the closed-form EI formula into code: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24001" y="3915864"/>
                <a:ext cx="102848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lang="en-US" dirty="0"/>
                  <a:t>•  </a:t>
                </a:r>
                <a:r>
                  <a:rPr lang="en-US" i="1" dirty="0"/>
                  <a:t>mu - </a:t>
                </a:r>
                <a:r>
                  <a:rPr lang="en-US" i="1" dirty="0" err="1"/>
                  <a:t>f_best</a:t>
                </a:r>
                <a:r>
                  <a:rPr lang="en-US" i="1" dirty="0"/>
                  <a:t> </a:t>
                </a:r>
                <a:r>
                  <a:rPr lang="en-US" dirty="0"/>
                  <a:t>computes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− </m:t>
                    </m:r>
                    <m:sSup>
                      <m:sSup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ar-AE" dirty="0"/>
                  <a:t> — </a:t>
                </a:r>
                <a:r>
                  <a:rPr lang="en-US" dirty="0"/>
                  <a:t>the predicted improvement in the mean</a:t>
                </a:r>
                <a:endParaRPr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01" y="3915864"/>
                <a:ext cx="10284849" cy="369332"/>
              </a:xfrm>
              <a:prstGeom prst="rect">
                <a:avLst/>
              </a:prstGeom>
              <a:blipFill>
                <a:blip r:embed="rId2"/>
                <a:stretch>
                  <a:fillRect l="-474" t="-9836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24001" y="4261103"/>
                <a:ext cx="108489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•  </a:t>
                </a:r>
                <a:r>
                  <a:rPr lang="en-US" i="1" dirty="0"/>
                  <a:t>Z = (mu - </a:t>
                </a:r>
                <a:r>
                  <a:rPr lang="en-US" i="1" dirty="0" err="1"/>
                  <a:t>f_best</a:t>
                </a:r>
                <a:r>
                  <a:rPr lang="en-US" i="1" dirty="0"/>
                  <a:t>) / sigma </a:t>
                </a:r>
                <a:r>
                  <a:rPr lang="en-US" dirty="0"/>
                  <a:t>computes the standardized score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- the key to balancing explore and exploit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01" y="4261103"/>
                <a:ext cx="10848935" cy="369332"/>
              </a:xfrm>
              <a:prstGeom prst="rect">
                <a:avLst/>
              </a:prstGeom>
              <a:blipFill>
                <a:blip r:embed="rId3"/>
                <a:stretch>
                  <a:fillRect l="-449" t="-9836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824001" y="4617522"/>
            <a:ext cx="10284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i="1" dirty="0" err="1"/>
              <a:t>norm.cdf</a:t>
            </a:r>
            <a:r>
              <a:rPr i="1" dirty="0"/>
              <a:t>(Z) </a:t>
            </a:r>
            <a:r>
              <a:rPr dirty="0"/>
              <a:t>and </a:t>
            </a:r>
            <a:r>
              <a:rPr i="1" dirty="0"/>
              <a:t>norm.pdf(Z) </a:t>
            </a:r>
            <a:r>
              <a:rPr dirty="0"/>
              <a:t>are </a:t>
            </a:r>
            <a:r>
              <a:rPr i="1" dirty="0"/>
              <a:t>Φ(</a:t>
            </a:r>
            <a:r>
              <a:rPr lang="en-US" i="1" dirty="0"/>
              <a:t>Z</a:t>
            </a:r>
            <a:r>
              <a:rPr i="1" dirty="0"/>
              <a:t>)</a:t>
            </a:r>
            <a:r>
              <a:rPr dirty="0"/>
              <a:t> and </a:t>
            </a:r>
            <a:r>
              <a:rPr i="1" dirty="0"/>
              <a:t>φ(Z)</a:t>
            </a:r>
            <a:r>
              <a:rPr dirty="0"/>
              <a:t> from </a:t>
            </a:r>
            <a:r>
              <a:rPr i="1" dirty="0" err="1"/>
              <a:t>scipy.stats</a:t>
            </a:r>
            <a:endParaRPr i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437B95-6B80-438D-F0E6-BEFEB43DF1D1}"/>
              </a:ext>
            </a:extLst>
          </p:cNvPr>
          <p:cNvSpPr/>
          <p:nvPr/>
        </p:nvSpPr>
        <p:spPr>
          <a:xfrm>
            <a:off x="822959" y="1097279"/>
            <a:ext cx="10493551" cy="2119333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206B94-8DC8-6F98-8CB7-870333A138AF}"/>
              </a:ext>
            </a:extLst>
          </p:cNvPr>
          <p:cNvSpPr txBox="1"/>
          <p:nvPr/>
        </p:nvSpPr>
        <p:spPr>
          <a:xfrm>
            <a:off x="1005839" y="1188720"/>
            <a:ext cx="9921175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ourier New"/>
              </a:defRPr>
            </a:pPr>
            <a:r>
              <a:rPr lang="en-US" b="0" i="0" dirty="0">
                <a:solidFill>
                  <a:srgbClr val="FF7B72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expected_improvement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(X,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gp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f_best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):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mu, sigma =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gp.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predict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(X,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return_std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i="0" dirty="0">
                <a:solidFill>
                  <a:srgbClr val="FF7B72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sigma =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maximum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(sigma, </a:t>
            </a:r>
            <a:r>
              <a:rPr lang="en-US" b="0" i="0" dirty="0">
                <a:solidFill>
                  <a:srgbClr val="79C0FF"/>
                </a:solidFill>
                <a:effectLst/>
                <a:latin typeface="Courier New" panose="02070309020205020404" pitchFamily="49" charset="0"/>
              </a:rPr>
              <a:t>1e-9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  </a:t>
            </a: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# avoid division by zero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Z = (mu -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f_best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 / sigma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ei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 (mu -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f_best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 *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norm.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cdf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(Z) + sigma * norm.</a:t>
            </a:r>
            <a:r>
              <a:rPr lang="en-US" b="0" i="0" dirty="0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pdf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(Z)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>
                <a:solidFill>
                  <a:srgbClr val="FF7B72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ei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Step 4: The Complete BO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527431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Each iteration maps directly to steps 2a–2e of the pseudocode. The entire BO engine is under 10 lines of Python.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02014"/>
            <a:ext cx="50800" cy="457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902014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Nunito"/>
              </a:defRPr>
            </a:pPr>
            <a:r>
              <a:rPr dirty="0"/>
              <a:t>Result after 7 iterations (10 total evaluations): f(x*) = 0.5003 — matching the true optimum to 4 decimal places.</a:t>
            </a:r>
            <a:r>
              <a:rPr lang="en-US" dirty="0"/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086784-AFAC-3AD0-59F5-2FA7D128BDAB}"/>
              </a:ext>
            </a:extLst>
          </p:cNvPr>
          <p:cNvSpPr/>
          <p:nvPr/>
        </p:nvSpPr>
        <p:spPr>
          <a:xfrm>
            <a:off x="822959" y="1097279"/>
            <a:ext cx="10493551" cy="2119333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F8376E-7E0B-8214-C597-74B4731D2DAB}"/>
              </a:ext>
            </a:extLst>
          </p:cNvPr>
          <p:cNvSpPr txBox="1"/>
          <p:nvPr/>
        </p:nvSpPr>
        <p:spPr>
          <a:xfrm>
            <a:off x="1005839" y="1188720"/>
            <a:ext cx="992117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ourier New"/>
              </a:defRPr>
            </a:pPr>
            <a:r>
              <a:rPr lang="en-US" b="0" i="0" dirty="0">
                <a:solidFill>
                  <a:srgbClr val="FF7B72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i="0" dirty="0">
                <a:solidFill>
                  <a:srgbClr val="FF7B72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i="0" dirty="0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n_iterations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):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gp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 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fit_gp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X_obs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y_obs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              </a:t>
            </a: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# step 2a: fit surrogate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f_best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max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y_obs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                </a:t>
            </a: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# current incumbent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ei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 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expected_improvement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(X,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gp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f_best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 </a:t>
            </a: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# step 2b: compute alpha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x_new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 X[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argmax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ei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)]             </a:t>
            </a: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# step 2c: argmax alpha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y_new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 </a:t>
            </a:r>
            <a:r>
              <a:rPr lang="en-US" b="0" i="0" dirty="0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objective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x_new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              </a:t>
            </a: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# step 2d: EXPENSIVE call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X_obs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vstack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X_obs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x_new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])     </a:t>
            </a: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# step 2e: update data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y_obs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vstack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y_obs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y_new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])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BO vs. Random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t>50 independent random-search trials with the same evaluation budget (10 calls) compared against BO:</a:t>
            </a:r>
          </a:p>
        </p:txBody>
      </p:sp>
      <p:pic>
        <p:nvPicPr>
          <p:cNvPr id="4" name="Picture 3" descr="bo_vs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277" y="1310188"/>
            <a:ext cx="5727819" cy="35341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4937760"/>
            <a:ext cx="9601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BO</a:t>
            </a:r>
            <a:r>
              <a:rPr dirty="0"/>
              <a:t> (blue) reaches the optimum in ~6 evaluations — deterministic given initial samples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257800"/>
            <a:ext cx="9601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Random search </a:t>
            </a:r>
            <a:r>
              <a:rPr dirty="0"/>
              <a:t>(red band = 10th–90th percentile) has high variance and often fails within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577840"/>
            <a:ext cx="9601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The gap widens dramatically on more expensive or higher-dimensional problems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2AFBE7-4ACF-8415-2500-1772ABB073A1}"/>
              </a:ext>
            </a:extLst>
          </p:cNvPr>
          <p:cNvSpPr/>
          <p:nvPr/>
        </p:nvSpPr>
        <p:spPr>
          <a:xfrm>
            <a:off x="822960" y="82677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Where Did Each Acquisition Function Sample?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t>Full BO loop run independently with EI, PI, and UCB (same 3 initial points). Numbered diamonds show evaluation order:</a:t>
            </a:r>
          </a:p>
        </p:txBody>
      </p:sp>
      <p:pic>
        <p:nvPicPr>
          <p:cNvPr id="4" name="Picture 3" descr="sample_lo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61" y="1417319"/>
            <a:ext cx="10179518" cy="35113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4983480"/>
            <a:ext cx="9601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PI</a:t>
            </a:r>
            <a:r>
              <a:rPr dirty="0"/>
              <a:t> clusters tightly near the first promising region — pure exploitation, as predicted by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188720" y="5303520"/>
                <a:ext cx="9601200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5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•  </a:t>
                </a:r>
                <a:r>
                  <a:rPr b="1" dirty="0"/>
                  <a:t>UCB</a:t>
                </a:r>
                <a:r>
                  <a:rPr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dirty="0"/>
                  <a:t>) spreads broadly, probing uncertain regions even when the mean is low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5303520"/>
                <a:ext cx="9601200" cy="323165"/>
              </a:xfrm>
              <a:prstGeom prst="rect">
                <a:avLst/>
              </a:prstGeom>
              <a:blipFill>
                <a:blip r:embed="rId3"/>
                <a:stretch>
                  <a:fillRect l="-254" t="-1887" b="-20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188720" y="5623560"/>
            <a:ext cx="9601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EI</a:t>
            </a:r>
            <a:r>
              <a:rPr dirty="0"/>
              <a:t> strikes a middle ground: it explores somewhat but converges toward the optimum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97C161-C5AB-A3BB-076F-570A95740EA2}"/>
              </a:ext>
            </a:extLst>
          </p:cNvPr>
          <p:cNvSpPr/>
          <p:nvPr/>
        </p:nvSpPr>
        <p:spPr>
          <a:xfrm>
            <a:off x="822960" y="856845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Convergence: EI vs. PI vs. UCB</a:t>
            </a:r>
          </a:p>
        </p:txBody>
      </p:sp>
      <p:pic>
        <p:nvPicPr>
          <p:cNvPr id="4" name="Picture 3" descr="converge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247" y="1095983"/>
            <a:ext cx="7271853" cy="39789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514625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All three reach the optimum within budget on this simple 1-D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46629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EI and UCB converge smoothly; PI can plateau before catching up (stall around evaluation 5–6)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78633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The grey band marks the 3 initial samples — all methods start from the same baseline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D866AE-41E5-8AEB-1D3A-E0BB26EA75CC}"/>
              </a:ext>
            </a:extLst>
          </p:cNvPr>
          <p:cNvSpPr/>
          <p:nvPr/>
        </p:nvSpPr>
        <p:spPr>
          <a:xfrm>
            <a:off x="822960" y="856845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nal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368" y="1595854"/>
            <a:ext cx="6385387" cy="349389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Final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7260"/>
            <a:ext cx="107075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rPr lang="en-US" b="0" i="0" dirty="0">
                <a:solidFill>
                  <a:srgbClr val="444444"/>
                </a:solidFill>
                <a:effectLst/>
                <a:latin typeface="Nunito" pitchFamily="2" charset="0"/>
              </a:rPr>
              <a:t>The figure below shows the GP surrogate </a:t>
            </a:r>
            <a:r>
              <a:rPr lang="en-US" b="1" i="0" dirty="0">
                <a:solidFill>
                  <a:srgbClr val="1A1A1A"/>
                </a:solidFill>
                <a:effectLst/>
                <a:latin typeface="Nunito" pitchFamily="2" charset="0"/>
              </a:rPr>
              <a:t>after all 7 BO iterations</a:t>
            </a:r>
            <a:r>
              <a:rPr lang="en-US" b="0" i="0" dirty="0">
                <a:solidFill>
                  <a:srgbClr val="444444"/>
                </a:solidFill>
                <a:effectLst/>
                <a:latin typeface="Nunito" pitchFamily="2" charset="0"/>
              </a:rPr>
              <a:t> (10 total evaluations), using EI as the acquisition function. Red circles are the initial samples; green diamonds are the points selected by BO; the gold star is the best observation: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88720" y="5015925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The surrogate now closely tracks the true function across the entire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335965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The confidence band has collapsed nearly everywhere — very little uncertainty remains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56005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Best found value f(x*) = 0.5003 matches the true optimum to 4 decimal places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D77547-3E5F-76CD-61A5-CA3A9275135F}"/>
              </a:ext>
            </a:extLst>
          </p:cNvPr>
          <p:cNvSpPr/>
          <p:nvPr/>
        </p:nvSpPr>
        <p:spPr>
          <a:xfrm>
            <a:off x="822960" y="856845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When to Use Bayesian Optimisation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A7D2A"/>
                </a:solidFill>
                <a:effectLst/>
                <a:latin typeface="Archivo"/>
              </a:rPr>
              <a:t>Good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0247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Expensive evaluations (simulations, physical experiments)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188720" y="1904096"/>
                <a:ext cx="960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•  Low-dimensional input space (typically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dirty="0"/>
                  <a:t>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1904096"/>
                <a:ext cx="9601200" cy="369332"/>
              </a:xfrm>
              <a:prstGeom prst="rect">
                <a:avLst/>
              </a:prstGeom>
              <a:blipFill>
                <a:blip r:embed="rId2"/>
                <a:stretch>
                  <a:fillRect l="-508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188720" y="230571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Smooth, continuous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07340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Black-box: no gradients 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Budget of 10–100 evaluations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6499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FF3300"/>
                </a:solidFill>
                <a:effectLst/>
                <a:latin typeface="Archivo"/>
              </a:rPr>
              <a:t>Poor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055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Cheap evaluations (can afford 10³+ calls)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188720" y="4492169"/>
                <a:ext cx="960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lang="en-US" dirty="0"/>
                  <a:t>•  Very high-dimensional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/>
                  <a:t>): GP cost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³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4492169"/>
                <a:ext cx="9601200" cy="369332"/>
              </a:xfrm>
              <a:prstGeom prst="rect">
                <a:avLst/>
              </a:prstGeom>
              <a:blipFill>
                <a:blip r:embed="rId3"/>
                <a:stretch>
                  <a:fillRect l="-508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188720" y="484107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Highly discrete or combinatorial problems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277839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Gradient information available (use gradient descent)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62C16B-5BC4-0C8E-1AED-FF937AADF035}"/>
              </a:ext>
            </a:extLst>
          </p:cNvPr>
          <p:cNvSpPr txBox="1"/>
          <p:nvPr/>
        </p:nvSpPr>
        <p:spPr>
          <a:xfrm>
            <a:off x="1188720" y="5626739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lang="fr-FR" dirty="0"/>
              <a:t>•  </a:t>
            </a:r>
            <a:r>
              <a:rPr lang="en-US" b="0" i="0" dirty="0">
                <a:solidFill>
                  <a:srgbClr val="444444"/>
                </a:solidFill>
                <a:effectLst/>
                <a:latin typeface="Nunito" pitchFamily="2" charset="0"/>
              </a:rPr>
              <a:t>Extremely noisy with no structure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Bayesian Optimization is a sequential, model-based strategy for optimizing expensive black-box functions using as few evaluations as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76714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The surrogate model (typically a GP) provides predictions with calibrated uncertainty, enabling intelligent sampling.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4708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Acquisition functions formalize the exploration–exploitation trade-off: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0382" y="2975703"/>
            <a:ext cx="7691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lang="en-US" dirty="0"/>
              <a:t>•  </a:t>
            </a:r>
            <a:r>
              <a:rPr dirty="0"/>
              <a:t>EI: expected magnitude of improvement (balanced, parameter-free)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10382" y="3386698"/>
                <a:ext cx="76919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lang="en-US" dirty="0"/>
                  <a:t>•  </a:t>
                </a:r>
                <a:r>
                  <a:rPr dirty="0"/>
                  <a:t>PI: probability of improvement (greedy, tunable via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dirty="0"/>
                  <a:t>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382" y="3386698"/>
                <a:ext cx="7691985" cy="369332"/>
              </a:xfrm>
              <a:prstGeom prst="rect">
                <a:avLst/>
              </a:prstGeom>
              <a:blipFill>
                <a:blip r:embed="rId2"/>
                <a:stretch>
                  <a:fillRect l="-713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510382" y="3797693"/>
                <a:ext cx="76919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lang="en-US" dirty="0"/>
                  <a:t>•  </a:t>
                </a:r>
                <a:r>
                  <a:rPr dirty="0"/>
                  <a:t>UCB: optimistic bound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dirty="0"/>
                  <a:t> (principled, tunable via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dirty="0"/>
                  <a:t>)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382" y="3797693"/>
                <a:ext cx="7691985" cy="369332"/>
              </a:xfrm>
              <a:prstGeom prst="rect">
                <a:avLst/>
              </a:prstGeom>
              <a:blipFill>
                <a:blip r:embed="rId3"/>
                <a:stretch>
                  <a:fillRect l="-713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188720" y="4208687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The BO loop </a:t>
            </a:r>
            <a:r>
              <a:rPr lang="en-US" dirty="0"/>
              <a:t>-</a:t>
            </a:r>
            <a:r>
              <a:rPr dirty="0"/>
              <a:t> </a:t>
            </a:r>
            <a:r>
              <a:rPr i="1" dirty="0"/>
              <a:t>fit, decide, evaluate, update </a:t>
            </a:r>
            <a:r>
              <a:rPr lang="en-US" dirty="0"/>
              <a:t>- </a:t>
            </a:r>
            <a:r>
              <a:rPr dirty="0"/>
              <a:t>converges to the optimum in very few evaluations compared to uninformed methods.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References &amp; Further Reading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Kushner, H.J. (1964). A New Method of Locating the Maximum Point of an Arbitrary Multipeak Curve in the Presence of Noise. — introduced 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36487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dirty="0" err="1"/>
              <a:t>Mockus</a:t>
            </a:r>
            <a:r>
              <a:rPr dirty="0"/>
              <a:t>, J. (1975). On Bayesian Methods for Seeking the Extremum. — introduced 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07255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Srinivas, N. et al. (2010). Gaussian Process Optimization in the Bandit Setting: No Regret and Experimental Design. ICML. — GP-UCB regret bounds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188720" y="3155022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dirty="0" err="1"/>
              <a:t>Brochu</a:t>
            </a:r>
            <a:r>
              <a:rPr dirty="0"/>
              <a:t>, E., Cora, V.M. &amp; de Freitas, N. (2010). A Tutorial on Bayesian Optimization.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188720" y="3625790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dirty="0" err="1"/>
              <a:t>Shahriari</a:t>
            </a:r>
            <a:r>
              <a:rPr dirty="0"/>
              <a:t>, B. et al. (2016). Taking the Human Out of the Loop: A Review of Bayesian Optimization. Proc. IEEE.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73556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Frazier, P.I. (2018). A Tutorial on Bayesian Optimization. arXiv:1807.02811.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A1A1A"/>
                </a:solidFill>
                <a:latin typeface="Archivo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931920"/>
            <a:ext cx="731520" cy="635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44444"/>
                </a:solidFill>
                <a:latin typeface="Nunito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3897</Words>
  <Application>Microsoft Office PowerPoint</Application>
  <PresentationFormat>Widescreen</PresentationFormat>
  <Paragraphs>292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Archivo</vt:lpstr>
      <vt:lpstr>Arial</vt:lpstr>
      <vt:lpstr>Calibri</vt:lpstr>
      <vt:lpstr>Cambria Math</vt:lpstr>
      <vt:lpstr>Courier New</vt:lpstr>
      <vt:lpstr>Nunito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2026-04-17T08:21:40Z</dcterms:modified>
  <cp:category/>
</cp:coreProperties>
</file>