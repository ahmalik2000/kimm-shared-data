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47" d="100"/>
          <a:sy n="147" d="100"/>
        </p:scale>
        <p:origin x="696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8288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1A1A1A"/>
                </a:solidFill>
                <a:latin typeface="Archivo"/>
              </a:defRPr>
            </a:pPr>
            <a:r>
              <a:t>Bayesian</a:t>
            </a:r>
          </a:p>
          <a:p>
            <a:pPr>
              <a:spcBef>
                <a:spcPts val="0"/>
              </a:spcBef>
              <a:defRPr sz="5400" b="1">
                <a:solidFill>
                  <a:srgbClr val="FF3300"/>
                </a:solidFill>
                <a:latin typeface="Archivo"/>
              </a:defRPr>
            </a:pPr>
            <a:r>
              <a:t>Optimisation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3931920"/>
            <a:ext cx="731520" cy="63500"/>
          </a:xfrm>
          <a:prstGeom prst="rect">
            <a:avLst/>
          </a:prstGeom>
          <a:solidFill>
            <a:srgbClr val="FF3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444444"/>
                </a:solidFill>
                <a:latin typeface="Nunito"/>
              </a:defRPr>
            </a:pPr>
            <a:r>
              <a:t>Surrogate Models, Acquisition Functions &amp; Sample-Efficient 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754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44444"/>
                </a:solidFill>
                <a:latin typeface="Nunito"/>
              </a:defRPr>
            </a:pPr>
            <a:r>
              <a:t>Bayesian Optimization II — Building on the GP foundations from Lecture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What We Know So Far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3657600" cy="381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RECAP FROM LECTURE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In the previous lecture we established that a Gaussian Process (GP) is a distribution over functions, fully specified by a mean function μ(x) and a kernel function k(x, x').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568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f(x) ~ GP(μ(x), k(x, x'))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4086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Given observed data, the GP posterior gives us at every point: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2491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Mean prediction μ(x) — our best estimate of f(x)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108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Predictive variance σ²(x) — our calibrated uncertainty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630168"/>
            <a:ext cx="50800" cy="457200"/>
          </a:xfrm>
          <a:prstGeom prst="rect">
            <a:avLst/>
          </a:prstGeom>
          <a:solidFill>
            <a:srgbClr val="1A5F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363016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44444"/>
                </a:solidFill>
                <a:latin typeface="Nunito"/>
              </a:defRPr>
            </a:pPr>
            <a:r>
              <a:t>Today’s lecture takes these GP capabilities as given and asks: how do we use them to optimise an expensive function?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8288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3300"/>
                </a:solidFill>
                <a:latin typeface="Archivo"/>
              </a:defRPr>
            </a:pPr>
            <a:r>
              <a:t>01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3200400"/>
            <a:ext cx="548640" cy="508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4747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1A"/>
                </a:solidFill>
                <a:latin typeface="Archivo"/>
              </a:defRPr>
            </a:pPr>
            <a:r>
              <a:t>What is Bayesian Optimisation</a:t>
            </a:r>
            <a:br/>
            <a:r>
              <a:t>and why do we need it?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The Optimisation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3657600" cy="381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We seek the global optimum of an objective function: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05840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50800" cy="502920"/>
          </a:xfrm>
          <a:prstGeom prst="rect">
            <a:avLst/>
          </a:prstGeom>
          <a:solidFill>
            <a:srgbClr val="FF3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61848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1A1A"/>
                </a:solidFill>
                <a:latin typeface="Cambria Math"/>
              </a:defRPr>
            </a:pPr>
            <a:r>
              <a:t>x* = argmax  f(x),    x ∈ 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6712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where f has properties that make classical methods impractical: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51176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Expensive to evaluate — each call may be a CFD simulation (hours), a physical experiment (days), or a neural-network training 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935224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Black-box — no closed-form expression is available; we only observe input-output pairs (xᵢ, yᵢ)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319272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No gradient information — derivatives of f are unavailable, so gradient-based optimisers cannot be used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70332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Possibly noisy — observations may be corrupted: y = f(x) + ε, where ε ~ N(0, σ²ₙ)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Why Not Brute Force?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3657600" cy="381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When evaluations are cheap, we can afford exhaustive strategies. When they are expensive, we cannot: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1064578"/>
              </p:ext>
            </p:extLst>
          </p:nvPr>
        </p:nvGraphicFramePr>
        <p:xfrm>
          <a:off x="822960" y="1944235"/>
          <a:ext cx="100584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A1A"/>
                          </a:solidFill>
                          <a:latin typeface="Archivo"/>
                        </a:defRPr>
                      </a:pPr>
                      <a: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A1A"/>
                          </a:solidFill>
                          <a:latin typeface="Archivo"/>
                        </a:defRPr>
                      </a:pPr>
                      <a:r>
                        <a:t>Strategy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A1A"/>
                          </a:solidFill>
                          <a:latin typeface="Archivo"/>
                        </a:defRPr>
                      </a:pPr>
                      <a:r>
                        <a:rPr dirty="0"/>
                        <a:t>Evaluations needed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A1A"/>
                          </a:solidFill>
                          <a:latin typeface="Archivo"/>
                        </a:defRPr>
                      </a:pPr>
                      <a:r>
                        <a:t>Uses past data?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Grid search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Evaluate on a fixed 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O(k^d) — exponential in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Random search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Sample uniformly at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Many, high variance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Gradient descent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Follow ∇f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Requires gradients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Bayesian Optimisation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Model f, then decide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Very few (10–100)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rPr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The Two Ingredients of BO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3657600" cy="381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Bayesian Optimisation combines two components in a sequential loop: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9568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1. Surrogate Model — A cheap probabilistic approximation of f(x) that provides predictions with uncertainty.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4086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   Answers: "What do we think f looks like?"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2491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2. Acquisition Function — A utility function α(x) that quantifies the value of evaluating f at a candidate point 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9300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   Answers: "Where should we sample next?"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968496"/>
            <a:ext cx="50800" cy="457200"/>
          </a:xfrm>
          <a:prstGeom prst="rect">
            <a:avLst/>
          </a:prstGeom>
          <a:solidFill>
            <a:srgbClr val="FF3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3968496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Nunito"/>
              </a:defRPr>
            </a:pPr>
            <a:r>
              <a:t>Together they form a sequential decision process: model → decide → evaluate → update → repeat.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8288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3300"/>
                </a:solidFill>
                <a:latin typeface="Archivo"/>
              </a:defRPr>
            </a:pPr>
            <a:r>
              <a:t>02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3200400"/>
            <a:ext cx="548640" cy="508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4747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1A"/>
                </a:solidFill>
                <a:latin typeface="Archivo"/>
              </a:defRPr>
            </a:pPr>
            <a:r>
              <a:t>The Surrogate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What is a Surrogate Model?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3657600" cy="381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DEFINITION: A surrogate model (also: metamodel, emulator, response surface) is a statistical model that approximates an expensive function f(x) from a small set of observations Dₙ = {(xᵢ, yᵢ)}.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9568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For BO, the surrogate must provide two outputs at every query point x: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34086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Predictive mean μ(x) = E[f(x) | Dₙ] — the best estimate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2491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Predictive uncertainty σ(x) = √Var[f(x) | Dₙ] — how confident the estimate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49300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The uncertainty is critical: it is what allows BO to distinguish "explored" regions from "unexplored" ones and to make principled decisions about where to sample next.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Why GPs Are the Default Surrogate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3657600" cy="381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Many models can predict μ(x), but few give well-calibrated σ(x). GPs are the standard choice because: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57276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Closed-form posterior — predictions are exact, computed via the conditioning formulae from Lecture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9568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Calibrated uncertainty — σ(x) is analytically derived, not heuristic; it shrinks at observed points and grows in unobserved regions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34086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Non-parametric — the model complexity grows with the data, not fixed in advance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2491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Data-efficient — perform well with very few observations (n &lt; 50), exactly the BO regime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246120"/>
            <a:ext cx="50800" cy="457200"/>
          </a:xfrm>
          <a:prstGeom prst="rect">
            <a:avLst/>
          </a:prstGeom>
          <a:solidFill>
            <a:srgbClr val="1A5F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3246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44444"/>
                </a:solidFill>
                <a:latin typeface="Nunito"/>
              </a:defRPr>
            </a:pPr>
            <a:r>
              <a:t>Other surrogates (Random Forests, Bayesian Neural Networks, etc.) can be used, but GPs remain the most common choice for low-dimensional BO.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Surrogate Fitted to 3 Initial Samples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44444"/>
                </a:solidFill>
                <a:latin typeface="Nunito"/>
              </a:defRPr>
            </a:pPr>
            <a:r>
              <a:t>A GP surrogate trained on just 3 observations. Blue line: posterior mean μ(x). Shaded band: μ ± 2σ (95% CI). Dashed black: the true function (unseen by the model).</a:t>
            </a:r>
          </a:p>
        </p:txBody>
      </p:sp>
      <p:pic>
        <p:nvPicPr>
          <p:cNvPr id="4" name="Picture 3" descr="gp_surrog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4714" y="1417320"/>
            <a:ext cx="4742267" cy="29260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44805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Nunito"/>
              </a:defRPr>
            </a:pPr>
            <a:r>
              <a:t>•  Near observations (red dots): the confidence band is narrow — the model is certain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8006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Nunito"/>
              </a:defRPr>
            </a:pPr>
            <a:r>
              <a:t>•  Far from observations: the band is wide — the model honestly reports its ignorance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8288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3300"/>
                </a:solidFill>
                <a:latin typeface="Archivo"/>
              </a:defRPr>
            </a:pPr>
            <a:r>
              <a:t>03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3200400"/>
            <a:ext cx="548640" cy="508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4747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1A"/>
                </a:solidFill>
                <a:latin typeface="Archivo"/>
              </a:defRPr>
            </a:pPr>
            <a:r>
              <a:t>Acquisition Functions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What is an Acquisition Function?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3657600" cy="381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DEFINITION: An acquisition function α(x) is a cheap-to-evaluate utility that scores every candidate point x based on how valuable it would be to evaluate f(x) there.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The next sample is chosen as: xₙ₊₁ = argmax α(x)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568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34086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It uses the GP posterior (μ and σ) as input — it never calls the expensive f itself. Different acquisition functions encode different strategies: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2491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In this lecture we cover three widely used acquisition functions: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49300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Expected Improvement (EI) — How much improvement can we expect?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87705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Probability of Improvement (PI) — How likely is any improvement?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6110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Upper Confidence Bound (UCB) — What is the optimistic upper bound on f?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The Exploration–Exploitation Trade-off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3657600" cy="381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Before diving into the formulae, let us build intuition for the central tension: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9568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EXPLOITATION: Sample where the predicted mean μ(x) is high — regions we already believe are good.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4086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  Risk: converging to a local optimum and missing the global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2491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EXPLORATION: Sample where the uncertainty σ(x) is large — regions we haven’t explored.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9300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  Risk: wasting expensive evaluations in regions that turn out to be uninteresting.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968496"/>
            <a:ext cx="50800" cy="457200"/>
          </a:xfrm>
          <a:prstGeom prst="rect">
            <a:avLst/>
          </a:prstGeom>
          <a:solidFill>
            <a:srgbClr val="FF3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3968496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Nunito"/>
              </a:defRPr>
            </a:pPr>
            <a:r>
              <a:t>A good acquisition function balances both signals. The three functions we cover next differ mainly in how they strike this balance.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Shared Notation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3657600" cy="381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Before we define each function, let us establish the shared notation. All three build on the same GP posterior quantities: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645920"/>
          <a:ext cx="100584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A1A"/>
                          </a:solidFill>
                          <a:latin typeface="Archivo"/>
                        </a:defRPr>
                      </a:pPr>
                      <a:r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A1A"/>
                          </a:solidFill>
                          <a:latin typeface="Archivo"/>
                        </a:defRPr>
                      </a:pPr>
                      <a:r>
                        <a:t>Meaning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μ(x)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GP posterior mean at 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σ(x)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GP posterior standard deviation at 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f* = max yᵢ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Best observed value so far (the "incumbent")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Φ(·)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Standard normal CDF — Φ(z) = P(Z ≤ z)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φ(·)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Standard normal PDF — φ(z) = (1/√2π) e^(-z²/2)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Standardised improvement: Z = (μ(x) - f*) / σ(x)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Expected Improvement (EI)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3657600" cy="381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DEFINITION: EI measures the expected amount by which a new evaluation will improve over the current best f*.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05840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50800" cy="502920"/>
          </a:xfrm>
          <a:prstGeom prst="rect">
            <a:avLst/>
          </a:prstGeom>
          <a:solidFill>
            <a:srgbClr val="FF3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61848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1A1A"/>
                </a:solidFill>
                <a:latin typeface="Cambria Math"/>
              </a:defRPr>
            </a:pPr>
            <a:r>
              <a:t>EI(x) = (μ(x) - f*) · Φ(Z)  +  σ(x) · φ(Z)     if σ(x) &gt; 0,   0 otherwise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167128"/>
            <a:ext cx="1005840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22960" y="2167128"/>
            <a:ext cx="50800" cy="502920"/>
          </a:xfrm>
          <a:prstGeom prst="rect">
            <a:avLst/>
          </a:prstGeom>
          <a:solidFill>
            <a:srgbClr val="FF3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21284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1A1A"/>
                </a:solidFill>
                <a:latin typeface="Cambria Math"/>
              </a:defRPr>
            </a:pPr>
            <a:r>
              <a:t>where   Z = (μ(x) - f*) / σ(x)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76148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3145536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Interpreting the two terms: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529584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(μ(x) - f*)·Φ(Z) — EXPLOITATION: large when the mean is well above f* and improvement is likely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913632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σ(x)·φ(Z) — EXPLORATION: large when uncertainty is high, even if the mean is not promising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Where Does the EI Formula Come From?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3657600" cy="381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Define the improvement random variable at point x as: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05840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50800" cy="502920"/>
          </a:xfrm>
          <a:prstGeom prst="rect">
            <a:avLst/>
          </a:prstGeom>
          <a:solidFill>
            <a:srgbClr val="FF3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61848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1A1A"/>
                </a:solidFill>
                <a:latin typeface="Cambria Math"/>
              </a:defRPr>
            </a:pPr>
            <a:r>
              <a:t>I(x) = max(f(x) - f*,  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6712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EI is the expectation of I(x) under the GP posterior, where f(x) ~ N(μ(x), σ²(x)):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551176"/>
            <a:ext cx="1005840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2960" y="2551176"/>
            <a:ext cx="50800" cy="502920"/>
          </a:xfrm>
          <a:prstGeom prst="rect">
            <a:avLst/>
          </a:prstGeom>
          <a:solidFill>
            <a:srgbClr val="FF3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596896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1A1A"/>
                </a:solidFill>
                <a:latin typeface="Cambria Math"/>
              </a:defRPr>
            </a:pPr>
            <a:r>
              <a:t>EI(x) = E[I(x)] = ∫ from f* to ∞  (f - f*) · N(f | μ(x), σ²(x)) 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45536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3529584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Evaluating this integral analytically (by substituting z = (f - μ)/σ and integrating by parts) yields the closed-form expression on the previous slide.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Visualising the Two Terms of 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44444"/>
                </a:solidFill>
                <a:latin typeface="Nunito"/>
              </a:defRPr>
            </a:pPr>
            <a:r>
              <a:t>The figure decomposes EI into its constituent parts on a GP fitted to the initial observations:</a:t>
            </a:r>
          </a:p>
        </p:txBody>
      </p:sp>
      <p:pic>
        <p:nvPicPr>
          <p:cNvPr id="4" name="Picture 3" descr="explore_explo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1417320"/>
            <a:ext cx="9144000" cy="27321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44805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Nunito"/>
              </a:defRPr>
            </a:pPr>
            <a:r>
              <a:t>•  Left (red): exploitation term (μ - f*)Φ(Z) — peaks where the mean already exceeds f*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8006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Nunito"/>
              </a:defRPr>
            </a:pPr>
            <a:r>
              <a:t>•  Middle (blue): exploration term σ·φ(Z) — peaks in high-uncertainty regions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1206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Nunito"/>
              </a:defRPr>
            </a:pPr>
            <a:r>
              <a:t>•  Right (green): the full EI — the sum of both, selecting a point that balances the two signals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Probability of Improvement (PI)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3657600" cy="381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Having seen how EI balances explore and exploit, let us now look at a simpler alternative: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DEFINITION: PI measures the probability that a new evaluation will exceed the current best by at least a margin ξ ≥ 0.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956816"/>
            <a:ext cx="1005840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1956816"/>
            <a:ext cx="50800" cy="502920"/>
          </a:xfrm>
          <a:prstGeom prst="rect">
            <a:avLst/>
          </a:prstGeom>
          <a:solidFill>
            <a:srgbClr val="FF3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002536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1A1A"/>
                </a:solidFill>
                <a:latin typeface="Cambria Math"/>
              </a:defRPr>
            </a:pPr>
            <a:r>
              <a:t>PI(x) = P(f(x) &gt; f* + ξ) = Φ((μ(x) - f* - ξ) / σ(x))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51176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2935224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PI asks only whether improvement occurs, not how much — it ignores the magnitude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319272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With ξ = 0: very greedy — samples cluster near the current best, risking premature convergence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70332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Increasing ξ adds a margin that encourages more exploration, but the right value is problem-dependent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08736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PI was one of the earliest acquisition functions proposed (Kushner, 1964)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Upper Confidence Bound (UCB)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3657600" cy="381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UCB takes an entirely different approach from EI and PI: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DEFINITION: UCB scores each point by its mean plus an exploration bonus proportional to the uncertainty.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956816"/>
            <a:ext cx="1005840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1956816"/>
            <a:ext cx="50800" cy="502920"/>
          </a:xfrm>
          <a:prstGeom prst="rect">
            <a:avLst/>
          </a:prstGeom>
          <a:solidFill>
            <a:srgbClr val="FF3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002536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1A1A"/>
                </a:solidFill>
                <a:latin typeface="Cambria Math"/>
              </a:defRPr>
            </a:pPr>
            <a:r>
              <a:t>UCB(x) = μ(x) + κ · σ(x)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51176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2935224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κ &gt; 0 directly controls the balance: κ = 0 is pure exploitation; κ → ∞ is pure exploration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319272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Also called GP-UCB; has theoretical regret bounds: O(√(T·γ_T)) (Srinivas et al., 2010)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70332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Common practical choice: κ = 2 (roughly a 95% upper confidence bound)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Summary: Three Acquisition Functions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3657600" cy="381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Now that we have seen each function individually, the table below collects the key differences: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645920"/>
          <a:ext cx="100584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A1A"/>
                          </a:solidFill>
                          <a:latin typeface="Archivo"/>
                        </a:defRPr>
                      </a:pPr>
                      <a:r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A1A"/>
                          </a:solidFill>
                          <a:latin typeface="Archivo"/>
                        </a:defRPr>
                      </a:pPr>
                      <a:r>
                        <a:t>EI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A1A"/>
                          </a:solidFill>
                          <a:latin typeface="Archivo"/>
                        </a:defRPr>
                      </a:pPr>
                      <a:r>
                        <a:t>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A1A"/>
                          </a:solidFill>
                          <a:latin typeface="Archivo"/>
                        </a:defRPr>
                      </a:pPr>
                      <a:r>
                        <a:t>UCB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Formula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(μ-f*)Φ(Z) + σφ(Z)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Φ((μ-f*-ξ)/σ)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μ + κσ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Measures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Expected magnitude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Probability of improvement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Optimistic upper bound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Free 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ξ (margin)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κ (exploration weight)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Character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Balanced (default)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Greedy / exploitative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Tuneable, principled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Regret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Empirically strong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No formal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O(√(Tγ_T))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EI, PI, and UCB on the Same Surrogate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44444"/>
                </a:solidFill>
                <a:latin typeface="Nunito"/>
              </a:defRPr>
            </a:pPr>
            <a:r>
              <a:t>All three acquisition functions evaluated on the same GP posterior fitted to 4 observations. Dashed lines mark each function’s recommended next sample:</a:t>
            </a:r>
          </a:p>
        </p:txBody>
      </p:sp>
      <p:pic>
        <p:nvPicPr>
          <p:cNvPr id="4" name="Picture 3" descr="acq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4812" y="1417320"/>
            <a:ext cx="3842070" cy="29260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44805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Nunito"/>
              </a:defRPr>
            </a:pPr>
            <a:r>
              <a:t>•  PI (red) peaks closest to the current best observation — it is the most exploitative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8006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Nunito"/>
              </a:defRPr>
            </a:pPr>
            <a:r>
              <a:t>•  UCB (blue) peaks furthest into the uncertain region to the right — the most explorative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1206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Nunito"/>
              </a:defRPr>
            </a:pPr>
            <a:r>
              <a:t>•  EI (green) sits between the two, balancing mean and uncertainty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Practical Guidance: Choosing an Acquisition Function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3657600" cy="381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There is no universally best acquisition function — the right choice depends on problem characteristics: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645920"/>
          <a:ext cx="10058400" cy="2270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A1A"/>
                          </a:solidFill>
                          <a:latin typeface="Archivo"/>
                        </a:defRPr>
                      </a:pPr>
                      <a:r>
                        <a:t>If you need…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A1A"/>
                          </a:solidFill>
                          <a:latin typeface="Archivo"/>
                        </a:defRPr>
                      </a:pPr>
                      <a:r>
                        <a:t>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A1A"/>
                          </a:solidFill>
                          <a:latin typeface="Archivo"/>
                        </a:defRPr>
                      </a:pPr>
                      <a:r>
                        <a:t>Why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A safe, general-purpose default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EI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Parameter-free, balances both signals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Fast convergence on simple landscape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PI (small ξ)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Aggressively exploits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Robustness to local optima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UCB (high κ)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Strong exploration prevents premature convergence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Theoretical guarantees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UCB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4444"/>
                          </a:solidFill>
                          <a:latin typeface="Nunito"/>
                        </a:defRPr>
                      </a:pPr>
                      <a:r>
                        <a:t>Formal regret bounds under mild assumptions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8288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3300"/>
                </a:solidFill>
                <a:latin typeface="Archivo"/>
              </a:defRPr>
            </a:pPr>
            <a:r>
              <a:t>04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3200400"/>
            <a:ext cx="548640" cy="508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4747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1A"/>
                </a:solidFill>
                <a:latin typeface="Archivo"/>
              </a:defRPr>
            </a:pPr>
            <a:r>
              <a:t>How It All Comes Together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From Components to Algorithm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3657600" cy="381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We have now covered the two building blocks — the surrogate model and the acquisition function. Bayesian Optimisation puts them together in a simple iterative loop: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19568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Step 1.  Start with a small initial dataset (e.g. 3–5 random evaluations)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34086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Step 2.  Fit the surrogate to all data collected so far → obtain μ(x) and σ(x)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2491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Step 3.  Maximise the acquisition function to choose the next evaluation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108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Step 4.  Evaluate the expensive function at xₙ₊₁ and add the result to the 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49300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Step 5.  Go back to Step 2 until the evaluation budget is exhausted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7705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426110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Each iteration, the surrogate becomes more accurate and the acquisition function makes better-informed decisions.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The Bayesian Optimisation Algorithm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3657600" cy="381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Input: search space X, budget T, acquisition function 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1.  Choose initial design {x₁, …, xₙ₀} and evaluate yᵢ = f(xᵢ)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56816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2.  for t = n₀ + 1 to T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40864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      a.  Fit GP to data Dₜ₋₁ = {(xᵢ, yᵢ)}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24912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      b.  Compute α(x) using GP posterior μ(x), σ(x)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      c.  xₜ = argmax α(x)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9300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      d.  yₜ = f(xₜ) + ε     ← the expensive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77056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      e.  Dₜ = Dₜ₋₁ ∪ {(xₜ, yₜ)}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261104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Nunito"/>
              </a:defRPr>
            </a:pPr>
            <a:r>
              <a:t>3.  Return x* = argmax yᵢ in D_T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One BO Iteration Visualised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44444"/>
                </a:solidFill>
                <a:latin typeface="Nunito"/>
              </a:defRPr>
            </a:pPr>
            <a:r>
              <a:t>Top panel: GP surrogate (step 2a). Bottom panel: EI acquisition function (step 2b). Green dashed line: xₙ₊₁ = argmax EI(x) (step 2c).</a:t>
            </a:r>
          </a:p>
        </p:txBody>
      </p:sp>
      <p:pic>
        <p:nvPicPr>
          <p:cNvPr id="4" name="Picture 3" descr="ei_acqui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3194" y="1417320"/>
            <a:ext cx="3705307" cy="29260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44805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Nunito"/>
              </a:defRPr>
            </a:pPr>
            <a:r>
              <a:t>•  EI is high where the mean is promising AND uncertainty remains moderate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8006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Nunito"/>
              </a:defRPr>
            </a:pPr>
            <a:r>
              <a:t>•  EI is near zero at observed points (no uncertainty = no expected improvement)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How the Surrogate Evolves Over Iterations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44444"/>
                </a:solidFill>
                <a:latin typeface="Nunito"/>
              </a:defRPr>
            </a:pPr>
            <a:r>
              <a:t>The grid below shows the GP surrogate at iterations 1, 3, 5, and 7. At each step a new observation is added and the surrogate is re-fitted:</a:t>
            </a:r>
          </a:p>
        </p:txBody>
      </p:sp>
      <p:pic>
        <p:nvPicPr>
          <p:cNvPr id="4" name="Picture 3" descr="bo_ite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474" y="1417320"/>
            <a:ext cx="4122747" cy="29260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44805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Nunito"/>
              </a:defRPr>
            </a:pPr>
            <a:r>
              <a:t>•  The uncertainty band shrinks progressively as data accumulates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8006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Nunito"/>
              </a:defRPr>
            </a:pPr>
            <a:r>
              <a:t>•  The GP mean converges toward the true function (dashed black line)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1206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Nunito"/>
              </a:defRPr>
            </a:pPr>
            <a:r>
              <a:t>•  New samples (green stars) migrate toward the optimum — the algorithm self-focuses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8288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3300"/>
                </a:solidFill>
                <a:latin typeface="Archivo"/>
              </a:defRPr>
            </a:pPr>
            <a:r>
              <a:t>05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3200400"/>
            <a:ext cx="548640" cy="508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4747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1A"/>
                </a:solidFill>
                <a:latin typeface="Archivo"/>
              </a:defRPr>
            </a:pPr>
            <a:r>
              <a:t>Code Example:</a:t>
            </a:r>
            <a:br/>
            <a:r>
              <a:t>BO on a 1-D Test Function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What the Notebook Demonstrates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3657600" cy="381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The accompanying Jupyter notebook implements a full BO pipeline from scratch using numpy, scikit-learn, and scipy: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19568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Step 0: Define a 1-D test function as a stand-in for an expensive black-box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34086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Step 1: Draw 3 random initial samples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2491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Step 2: Fit a GP surrogate (GaussianProcessRegressor with a Matérn kernel)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108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Step 3: Implement the EI acquisition function as a Python function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49300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Step 4: Run the BO loop for 7 iterations, plotting the surrogate at each step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87705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Step 5: Compare BO against random search, and compare EI vs. PI vs. UCB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26110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64515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The following slides show key code snippets alongside their output graphs.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Step 0: The Objective Function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97280"/>
            <a:ext cx="5029200" cy="2560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18872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Courier New"/>
              </a:defRPr>
            </a:pPr>
            <a:r>
              <a:rPr dirty="0"/>
              <a:t>def objective(x):</a:t>
            </a:r>
            <a:br>
              <a:rPr dirty="0"/>
            </a:br>
            <a:r>
              <a:rPr dirty="0"/>
              <a:t>    """Expensive in real life."""</a:t>
            </a:r>
            <a:br>
              <a:rPr dirty="0"/>
            </a:br>
            <a:r>
              <a:rPr dirty="0"/>
              <a:t>    return -</a:t>
            </a:r>
            <a:r>
              <a:rPr dirty="0" err="1"/>
              <a:t>np.sin</a:t>
            </a:r>
            <a:r>
              <a:rPr dirty="0"/>
              <a:t>(3*x) - x**2 + 0.7*x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44444"/>
                </a:solidFill>
                <a:latin typeface="Nunito"/>
              </a:defRPr>
            </a:pPr>
            <a:r>
              <a:t>A known test function f(x) = -sin(3x) - x² + 0.7x on [-2, 2]. In practice, we would never see this curve — only point evaluations. The graph shows a global maximum near x ≈ 0.3.</a:t>
            </a:r>
          </a:p>
        </p:txBody>
      </p:sp>
      <p:pic>
        <p:nvPicPr>
          <p:cNvPr id="6" name="Picture 5" descr="objective_fun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5029200" cy="246109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Step 1–2: Initial Samples &amp; Surrogate 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97280"/>
            <a:ext cx="5029200" cy="2560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18872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Courier New"/>
              </a:defRPr>
            </a:pPr>
            <a:r>
              <a:t># 3 random initial points</a:t>
            </a:r>
            <a:br/>
            <a:r>
              <a:t>X_init = rng.uniform(-2, 2, size=3)</a:t>
            </a:r>
            <a:br/>
            <a:r>
              <a:t>y_init = objective(X_init)</a:t>
            </a:r>
            <a:br/>
            <a:br/>
            <a:r>
              <a:t># Fit GP surrogate</a:t>
            </a:r>
            <a:br/>
            <a:r>
              <a:t>gp = GaussianProcessRegressor(</a:t>
            </a:r>
            <a:br/>
            <a:r>
              <a:t>    kernel=Matern(nu=2.5),</a:t>
            </a:r>
            <a:br/>
            <a:r>
              <a:t>    alpha=1e-6)</a:t>
            </a:r>
            <a:br/>
            <a:r>
              <a:t>gp.fit(X_init, y_init)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44444"/>
                </a:solidFill>
                <a:latin typeface="Nunito"/>
              </a:defRPr>
            </a:pPr>
            <a:r>
              <a:t>Top: 3 random samples (red dots). Bottom: the GP surrogate fitted to those points. With so little data, the surrogate is highly uncertain.</a:t>
            </a:r>
          </a:p>
        </p:txBody>
      </p:sp>
      <p:pic>
        <p:nvPicPr>
          <p:cNvPr id="6" name="Picture 5" descr="initial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9704" y="1097280"/>
            <a:ext cx="4671391" cy="2285999"/>
          </a:xfrm>
          <a:prstGeom prst="rect">
            <a:avLst/>
          </a:prstGeom>
        </p:spPr>
      </p:pic>
      <p:pic>
        <p:nvPicPr>
          <p:cNvPr id="7" name="Picture 6" descr="gp_surro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2952" y="3566160"/>
            <a:ext cx="3704896" cy="2285999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Step 3: Computing Expected Improvement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3657600" cy="381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def expected_improvement(X, gp, f_best):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    mu, sigma = gp.predict(X, return_std=True)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568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    sigma = np.maximum(sigma, 1e-9)    # avoid /0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4086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    Z = (mu - f_best) / sigma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2491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    ei = (mu - f_best) * norm.cdf(Z) + sigma * norm.pdf(Z)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    return ei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9300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87705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This is a direct translation of the closed-form EI formula into code: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6110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mu - f_best computes μ(x) - f* — the predicted improvement in the mean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64515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Z standardises this improvement by the uncertainty — the key to balancing explore/exploit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292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norm.cdf(Z) and norm.pdf(Z) are Φ(Z) and φ(Z) from scipy.stats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Step 4: The Complete BO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3657600" cy="381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for i in range(n_iterations):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    gp = fit_gp(X_obs, y_obs)              # step 2a: fit surrogate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568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    f_best = np.max(y_obs)                  # current incumbent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4086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    ei = expected_improvement(X, gp, f_best) # step 2b: compute 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2491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    x_new = X[np.argmax(ei)]                # step 2c: argmax 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    y_new = objective(x_new)                # step 2d: EXPENSIVE 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9300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    X_obs = np.vstack([X_obs, x_new])       # step 2e: update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7705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    y_obs = np.vstack([y_obs, y_new])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26110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64515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Each iteration maps directly to steps 2a–2e of the pseudocode. The entire BO engine is under 10 lines of Python.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120640"/>
            <a:ext cx="50800" cy="457200"/>
          </a:xfrm>
          <a:prstGeom prst="rect">
            <a:avLst/>
          </a:prstGeom>
          <a:solidFill>
            <a:srgbClr val="FF3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5120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Nunito"/>
              </a:defRPr>
            </a:pPr>
            <a:r>
              <a:t>Result after 7 iterations (10 total evaluations): f(x*) = 0.5003 — matching the true optimum to 4 decimal places.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BO vs. Random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44444"/>
                </a:solidFill>
                <a:latin typeface="Nunito"/>
              </a:defRPr>
            </a:pPr>
            <a:r>
              <a:t>50 independent random-search trials with the same evaluation budget (10 calls) compared against BO:</a:t>
            </a:r>
          </a:p>
        </p:txBody>
      </p:sp>
      <p:pic>
        <p:nvPicPr>
          <p:cNvPr id="4" name="Picture 3" descr="bo_vs_rand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4714" y="1417320"/>
            <a:ext cx="4742267" cy="29260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44805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Nunito"/>
              </a:defRPr>
            </a:pPr>
            <a:r>
              <a:t>•  BO (blue) reaches the optimum in ~6 evaluations — deterministic given initial samples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8006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Nunito"/>
              </a:defRPr>
            </a:pPr>
            <a:r>
              <a:t>•  Random search (red band = 10th–90th percentile) has high variance and often fails within budget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1206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Nunito"/>
              </a:defRPr>
            </a:pPr>
            <a:r>
              <a:t>•  The gap widens dramatically on more expensive or higher-dimensional problems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Where Did Each Acquisition Function Sample?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44444"/>
                </a:solidFill>
                <a:latin typeface="Nunito"/>
              </a:defRPr>
            </a:pPr>
            <a:r>
              <a:t>Full BO loop run independently with EI, PI, and UCB (same 3 initial points). Numbered diamonds show evaluation order:</a:t>
            </a:r>
          </a:p>
        </p:txBody>
      </p:sp>
      <p:pic>
        <p:nvPicPr>
          <p:cNvPr id="4" name="Picture 3" descr="sample_lo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4461" y="1417320"/>
            <a:ext cx="8482772" cy="29260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44805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Nunito"/>
              </a:defRPr>
            </a:pPr>
            <a:r>
              <a:t>•  PI clusters tightly near the first promising region — pure exploitation, as predicted by theory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8006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Nunito"/>
              </a:defRPr>
            </a:pPr>
            <a:r>
              <a:t>•  UCB (κ = 2) spreads broadly, probing uncertain regions even when the mean is 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1206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Nunito"/>
              </a:defRPr>
            </a:pPr>
            <a:r>
              <a:t>•  EI strikes a middle ground: it explores somewhat but converges toward the optimum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Convergence: EI vs. PI vs. UCB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44444"/>
                </a:solidFill>
                <a:latin typeface="Nunito"/>
              </a:defRPr>
            </a:pPr>
            <a:r>
              <a:t>Best value found so far as a function of the number of evaluations for all three acquisition functions:</a:t>
            </a:r>
          </a:p>
        </p:txBody>
      </p:sp>
      <p:pic>
        <p:nvPicPr>
          <p:cNvPr id="4" name="Picture 3" descr="convergenc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2016" y="1417320"/>
            <a:ext cx="5347663" cy="29260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44805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Nunito"/>
              </a:defRPr>
            </a:pPr>
            <a:r>
              <a:t>•  All three reach the optimum within budget on this simple 1-D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8006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Nunito"/>
              </a:defRPr>
            </a:pPr>
            <a:r>
              <a:t>•  EI and UCB converge smoothly; PI can plateau before catching up (stall around evaluation 5–6)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1206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Nunito"/>
              </a:defRPr>
            </a:pPr>
            <a:r>
              <a:t>•  The grey band marks the 3 initial samples — all methods start from the same baseline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Final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44444"/>
                </a:solidFill>
                <a:latin typeface="Nunito"/>
              </a:defRPr>
            </a:pPr>
            <a:r>
              <a:t>GP surrogate after all 7 BO iterations (10 total evaluations). Red circles: initial samples. Green diamonds: BO-selected points. Gold star: best observation.</a:t>
            </a:r>
          </a:p>
        </p:txBody>
      </p:sp>
      <p:pic>
        <p:nvPicPr>
          <p:cNvPr id="4" name="Picture 3" descr="final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2016" y="1417320"/>
            <a:ext cx="5347663" cy="29260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44805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Nunito"/>
              </a:defRPr>
            </a:pPr>
            <a:r>
              <a:t>•  The surrogate now closely tracks the true function across the entire domain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8006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Nunito"/>
              </a:defRPr>
            </a:pPr>
            <a:r>
              <a:t>•  The confidence band has collapsed nearly everywhere — very little uncertainty remains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1206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Nunito"/>
              </a:defRPr>
            </a:pPr>
            <a:r>
              <a:t>•  Best found value f(x*) = 0.5003 matches the true optimum to 4 decimal places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When to Use Bayesian Optimisation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3657600" cy="381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GOOD FIT: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57276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Expensive evaluations (simulations, physical experiments)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9568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Low-dimensional input space (typically d &lt; 20)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34086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Smooth, continuous 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2491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Black-box: no gradients available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108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Budget of 10–100 evaluations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9300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87705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POOR FIT: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6110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Cheap evaluations (can afford 10³+ calls)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64515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Very high-dimensional (d &gt; 20): GP cost is O(n³)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292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Highly discrete or combinatorial problems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4132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Gradient information available (use gradient descent)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3657600" cy="381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1188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Bayesian Optimisation is a sequential, model-based strategy for optimising expensive black-box functions using as few evaluations as possible.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57276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The surrogate model (typically a GP) provides predictions with calibrated uncertainty, enabling intelligent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9568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Acquisition functions formalise the exploration–exploitation trade-off: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4086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    EI: expected magnitude of improvement (balanced, parameter-free)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2491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    PI: probability of improvement (greedy, tuneable via ξ)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    UCB: optimistic bound on f (principled, tuneable via κ)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49300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The BO loop — fit, decide, evaluate, update — converges to the optimum in very few evaluations compared to uninformed methods.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Archivo"/>
              </a:defRPr>
            </a:pPr>
            <a:r>
              <a:t>References &amp; Further Reading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60120"/>
            <a:ext cx="3657600" cy="381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1188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Kushner, H.J. (1964). A New Method of Locating the Maximum Point of an Arbitrary Multipeak Curve in the Presence of Noise. — introduced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57276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Mockus, J. (1975). On Bayesian Methods for Seeking the Extremum. — introduced EI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9568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Srinivas, N. et al. (2010). Gaussian Process Optimization in the Bandit Setting: No Regret and Experimental Design. ICML. — GP-UCB regret bounds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34086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Brochu, E., Cora, V.M. &amp; de Freitas, N. (2010). A Tutorial on Bayesian Optimization.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2491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Shahriari, B. et al. (2016). Taking the Human Out of the Loop: A Review of Bayesian Optimization. Proc. IEEE.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108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444444"/>
                </a:solidFill>
                <a:latin typeface="Nunito"/>
              </a:defRPr>
            </a:pPr>
            <a:r>
              <a:t>•  Frazier, P.I. (2018). A Tutorial on Bayesian Optimization. arXiv:1807.02811.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8288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1A1A1A"/>
                </a:solidFill>
                <a:latin typeface="Archivo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3931920"/>
            <a:ext cx="731520" cy="63500"/>
          </a:xfrm>
          <a:prstGeom prst="rect">
            <a:avLst/>
          </a:prstGeom>
          <a:solidFill>
            <a:srgbClr val="FF3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444444"/>
                </a:solidFill>
                <a:latin typeface="Nunito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3881</Words>
  <Application>Microsoft Office PowerPoint</Application>
  <PresentationFormat>Widescreen</PresentationFormat>
  <Paragraphs>301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2</cp:revision>
  <dcterms:created xsi:type="dcterms:W3CDTF">2013-01-27T09:14:16Z</dcterms:created>
  <dcterms:modified xsi:type="dcterms:W3CDTF">2026-04-17T06:55:28Z</dcterms:modified>
  <cp:category/>
</cp:coreProperties>
</file>