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60" r:id="rId3"/>
    <p:sldId id="261" r:id="rId4"/>
    <p:sldId id="262" r:id="rId5"/>
    <p:sldId id="263" r:id="rId6"/>
    <p:sldId id="269" r:id="rId7"/>
    <p:sldId id="264" r:id="rId8"/>
    <p:sldId id="266" r:id="rId9"/>
    <p:sldId id="272" r:id="rId10"/>
    <p:sldId id="267" r:id="rId11"/>
    <p:sldId id="270" r:id="rId12"/>
    <p:sldId id="273" r:id="rId13"/>
    <p:sldId id="268" r:id="rId14"/>
    <p:sldId id="274" r:id="rId1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BA9D"/>
    <a:srgbClr val="242330"/>
    <a:srgbClr val="2A2B39"/>
    <a:srgbClr val="2A2B3A"/>
    <a:srgbClr val="2F3243"/>
    <a:srgbClr val="213C47"/>
    <a:srgbClr val="282836"/>
    <a:srgbClr val="24222F"/>
    <a:srgbClr val="2F3143"/>
    <a:srgbClr val="213C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320" autoAdjust="0"/>
  </p:normalViewPr>
  <p:slideViewPr>
    <p:cSldViewPr>
      <p:cViewPr varScale="1">
        <p:scale>
          <a:sx n="129" d="100"/>
          <a:sy n="129" d="100"/>
        </p:scale>
        <p:origin x="264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59" d="100"/>
          <a:sy n="159" d="100"/>
        </p:scale>
        <p:origin x="2988" y="1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5F4370-6AA5-43E0-978B-C9FBE533C06B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D7167-44B4-449E-8CFC-91B1CBD209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39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63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27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D6D5D4"/>
                </a:solidFill>
                <a:effectLst/>
                <a:latin typeface="pplxSerif"/>
              </a:rPr>
              <a:t>High cost for repeated simulations.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 FEM can be expensive when you need many solves with changing parameters, shapes, or loads. Neural-network surrogates can learn the mapping once and then predict much faster.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D6D5D4"/>
                </a:solidFill>
                <a:effectLst/>
                <a:latin typeface="pplxSerif"/>
              </a:rPr>
              <a:t>Mesh dependence.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 FEM needs a mesh, and creating a good mesh for complicated or changing geometries can be difficult. Neural networks can reduce this burden by learning solution patterns more flexibly, sometimes with less dependence on a fixed mesh.</a:t>
            </a:r>
          </a:p>
          <a:p>
            <a:endParaRPr lang="en-US" dirty="0"/>
          </a:p>
          <a:p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It can act as a </a:t>
            </a:r>
            <a:r>
              <a:rPr lang="en-US" b="1" i="0" dirty="0">
                <a:solidFill>
                  <a:srgbClr val="D6D5D4"/>
                </a:solidFill>
                <a:effectLst/>
                <a:latin typeface="pplxSerif"/>
              </a:rPr>
              <a:t>surrogate model</a:t>
            </a: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 for fast prediction after training.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It can learn physics-informed patterns so the model generalizes better than a purely data-fit surrogate.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D6D5D4"/>
                </a:solidFill>
                <a:effectLst/>
                <a:latin typeface="pplxSerif"/>
              </a:rPr>
              <a:t>It can reduce the amount of full FEM solving needed during design loops, optimization, or uncertainty studies.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369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174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96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09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Academic </a:t>
            </a:r>
            <a:r>
              <a:rPr lang="en-US" dirty="0" err="1"/>
              <a:t>ansys</a:t>
            </a:r>
            <a:r>
              <a:rPr lang="en-US" dirty="0"/>
              <a:t> license is supported by KIMM school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🔁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Automation &amp; Reproducibility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Every step is code — fully reproducible, auditable, and shareable. No more "I don't remember which settings I used."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📐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Parametric Studies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Loop over hundreds of geometry or load variants in a </a:t>
            </a:r>
            <a:r>
              <a:rPr lang="en-US" b="0" i="0" dirty="0">
                <a:solidFill>
                  <a:srgbClr val="FFFFFF"/>
                </a:solidFill>
                <a:effectLst/>
                <a:latin typeface="JetBrains Mono"/>
              </a:rPr>
              <a:t>for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 loop. Run overnight unattended — wake up to results.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🐍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Python Ecosystem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NumPy, SciPy, pandas, scikit-learn,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PyTorch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 — ML-driven design, data fusion, and digital twin workflows alongside simulation.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🚀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CI/CD Integration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Regression-test your models. Run nightly solves in GitHub Actions. Catch physics regressions before they reach review.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☁️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HPC &amp; Cloud Ready</a:t>
            </a:r>
          </a:p>
          <a:p>
            <a:pPr algn="l"/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PyHPS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 submits jobs to remote clusters. Scale from laptop to 1000-core HPC without changing your Python script.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📖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Open Source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MIT licensed, active GitHub community, transparent roadmap. Report bugs, contribute examples, or extend the API.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🔗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Multiphysics Orchestration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Chain Fluent + Mechanical + AEDT in one script via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PySystemCoupling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 — CHT, FSI, EM-thermal — all automated.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📊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Rich Post-Processing</a:t>
            </a:r>
          </a:p>
          <a:p>
            <a:pPr algn="l"/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PyDPF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 returns results as NumPy arrays — combine with matplotlib or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plotly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 for publication-quality custom plots.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🧪</a:t>
            </a:r>
          </a:p>
          <a:p>
            <a:pPr algn="l"/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Testable &amp; Maintainable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Write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pytest</a:t>
            </a: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 tests for simulation workflows. Code review simulation models like software. Version-control everything with Git.</a:t>
            </a: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425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114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PyMAPDL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replication of the paper's baseline case: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D_rubber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 = 160 mm   (rubber-roller OD, over rubber covering)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T_rubber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 = 7 mm     (rubber covering RADIAL thickness, constant)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T_steel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  = 12 mm    (steel wall RADIAL thickness - L9 parameter T)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D_master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 = 300 mm   (simplified master roller OD)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L         = 1200 mm  (roller length; half-model uses L/2 = 600)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D_axis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   = 40 mm    (journal diameter)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f         = 3 N/mm   (applied line load)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F_bearing</a:t>
            </a:r>
            <a:r>
              <a:rPr lang="en-US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= 1800 N   (= f*L/2, the single modeled journal's bearing load)</a:t>
            </a:r>
            <a:endParaRPr lang="en-U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267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986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62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4D7167-44B4-449E-8CFC-91B1CBD2090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484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4401" y="182802"/>
            <a:ext cx="392557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807461" cy="369332"/>
          </a:xfrm>
        </p:spPr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502661" cy="369332"/>
          </a:xfrm>
        </p:spPr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Algorithmic</a:t>
            </a:r>
            <a:r>
              <a:rPr spc="80" dirty="0"/>
              <a:t> </a:t>
            </a:r>
            <a:r>
              <a:rPr spc="-10" dirty="0"/>
              <a:t>Intelligence</a:t>
            </a:r>
            <a:r>
              <a:rPr spc="-5" dirty="0"/>
              <a:t> </a:t>
            </a:r>
            <a:r>
              <a:rPr spc="-10" dirty="0"/>
              <a:t>Laboratory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00" y="546100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0960" y="1"/>
                </a:lnTo>
              </a:path>
            </a:pathLst>
          </a:custGeom>
          <a:ln w="25400">
            <a:solidFill>
              <a:srgbClr val="3E5893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4401" y="182802"/>
            <a:ext cx="5744210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0259" y="3189624"/>
            <a:ext cx="861123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8739" y="6611292"/>
            <a:ext cx="342646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7F8FA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80" dirty="0">
                <a:solidFill>
                  <a:srgbClr val="1F497D"/>
                </a:solidFill>
              </a:rPr>
              <a:t>Advanced Battery Manufacturing Systems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E5893"/>
                </a:solidFill>
                <a:latin typeface="Calibri"/>
                <a:cs typeface="Calibri"/>
              </a:defRPr>
            </a:lvl1pPr>
          </a:lstStyle>
          <a:p>
            <a:pPr marL="3303904">
              <a:spcBef>
                <a:spcPts val="40"/>
              </a:spcBef>
            </a:pPr>
            <a:fld id="{81D60167-4931-47E6-BA6A-407CBD079E47}" type="slidenum">
              <a:rPr lang="en-US" spc="-50" smtClean="0"/>
              <a:pPr marL="3303904">
                <a:spcBef>
                  <a:spcPts val="40"/>
                </a:spcBef>
              </a:pPr>
              <a:t>‹#›</a:t>
            </a:fld>
            <a:r>
              <a:rPr lang="en-US" spc="-50" dirty="0"/>
              <a:t> of max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" y="6623992"/>
            <a:ext cx="2206625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Algorithmic</a:t>
            </a:r>
            <a:r>
              <a:rPr sz="1200" b="1" spc="80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Intelligence</a:t>
            </a:r>
            <a:r>
              <a:rPr sz="1200" b="1" spc="-5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7F8FA9"/>
                </a:solidFill>
                <a:latin typeface="Calibri"/>
                <a:cs typeface="Calibri"/>
              </a:rPr>
              <a:t>Laboratory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642100"/>
            <a:ext cx="2552700" cy="215900"/>
          </a:xfrm>
          <a:custGeom>
            <a:avLst/>
            <a:gdLst/>
            <a:ahLst/>
            <a:cxnLst/>
            <a:rect l="l" t="t" r="r" b="b"/>
            <a:pathLst>
              <a:path w="2552700" h="215900">
                <a:moveTo>
                  <a:pt x="2552700" y="0"/>
                </a:moveTo>
                <a:lnTo>
                  <a:pt x="0" y="0"/>
                </a:lnTo>
                <a:lnTo>
                  <a:pt x="0" y="215900"/>
                </a:lnTo>
                <a:lnTo>
                  <a:pt x="2552700" y="215900"/>
                </a:lnTo>
                <a:lnTo>
                  <a:pt x="2552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84150" y="412750"/>
            <a:ext cx="8785225" cy="0"/>
          </a:xfrm>
          <a:custGeom>
            <a:avLst/>
            <a:gdLst/>
            <a:ahLst/>
            <a:cxnLst/>
            <a:rect l="l" t="t" r="r" b="b"/>
            <a:pathLst>
              <a:path w="8785225">
                <a:moveTo>
                  <a:pt x="0" y="0"/>
                </a:moveTo>
                <a:lnTo>
                  <a:pt x="8784976" y="1"/>
                </a:lnTo>
              </a:path>
            </a:pathLst>
          </a:custGeom>
          <a:ln w="12700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7672" y="2525928"/>
            <a:ext cx="6788657" cy="52264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R="5080" algn="ctr">
              <a:lnSpc>
                <a:spcPts val="3500"/>
              </a:lnSpc>
              <a:spcBef>
                <a:spcPts val="500"/>
              </a:spcBef>
            </a:pPr>
            <a:r>
              <a:rPr lang="en-US" sz="3600" dirty="0">
                <a:solidFill>
                  <a:srgbClr val="0070C0"/>
                </a:solidFill>
              </a:rPr>
              <a:t>FEM Based Neural Networks</a:t>
            </a:r>
            <a:endParaRPr sz="3600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2700" y="4495800"/>
            <a:ext cx="771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Muhammad Abdullah Hassan Malik</a:t>
            </a:r>
          </a:p>
          <a:p>
            <a:pPr algn="ctr"/>
            <a:endParaRPr lang="en-US" sz="2000" b="1" dirty="0">
              <a:latin typeface="+mn-lt"/>
            </a:endParaRPr>
          </a:p>
          <a:p>
            <a:pPr algn="ctr"/>
            <a:r>
              <a:rPr lang="en-US" sz="2000" dirty="0">
                <a:latin typeface="+mn-lt"/>
              </a:rPr>
              <a:t>Under Supervision of </a:t>
            </a:r>
            <a:r>
              <a:rPr lang="en-US" sz="2000" b="1" dirty="0">
                <a:latin typeface="+mn-lt"/>
              </a:rPr>
              <a:t>Professor Seung Hyun Lee </a:t>
            </a:r>
          </a:p>
          <a:p>
            <a:pPr algn="ctr"/>
            <a:r>
              <a:rPr lang="en-US" sz="2000" dirty="0">
                <a:latin typeface="+mn-lt"/>
              </a:rPr>
              <a:t>Department of Advanced Battery Manufacturing Systems</a:t>
            </a:r>
          </a:p>
          <a:p>
            <a:pPr algn="ctr"/>
            <a:r>
              <a:rPr lang="en-US" sz="2000" dirty="0">
                <a:latin typeface="+mn-lt"/>
              </a:rPr>
              <a:t>Korea Institute of Machinery and Materials (KIMM) </a:t>
            </a:r>
          </a:p>
          <a:p>
            <a:pPr algn="ctr"/>
            <a:r>
              <a:rPr lang="en-US" sz="2000" dirty="0">
                <a:latin typeface="+mn-lt"/>
              </a:rPr>
              <a:t>University of Science and Technology (UST)</a:t>
            </a:r>
          </a:p>
        </p:txBody>
      </p:sp>
      <p:pic>
        <p:nvPicPr>
          <p:cNvPr id="9" name="Picture 8" descr="A blue and red logo&#10;&#10;AI-generated content may be incorrect.">
            <a:extLst>
              <a:ext uri="{FF2B5EF4-FFF2-40B4-BE49-F238E27FC236}">
                <a16:creationId xmlns:a16="http://schemas.microsoft.com/office/drawing/2014/main" id="{AC170A6F-8C65-A98B-0A1D-C5F9ECD759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720"/>
            <a:ext cx="444532" cy="308324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58D49150-89F1-0A09-F72E-25841EBDC9E4}"/>
              </a:ext>
            </a:extLst>
          </p:cNvPr>
          <p:cNvSpPr txBox="1">
            <a:spLocks/>
          </p:cNvSpPr>
          <p:nvPr/>
        </p:nvSpPr>
        <p:spPr>
          <a:xfrm>
            <a:off x="1177672" y="3143172"/>
            <a:ext cx="6788657" cy="48199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ea typeface="+mj-ea"/>
                <a:cs typeface="Calibri"/>
              </a:defRPr>
            </a:lvl1pPr>
          </a:lstStyle>
          <a:p>
            <a:pPr marR="5080" algn="ctr">
              <a:lnSpc>
                <a:spcPts val="3500"/>
              </a:lnSpc>
              <a:spcBef>
                <a:spcPts val="500"/>
              </a:spcBef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Seminar Presentation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68036E-919B-D93C-8CF7-3D131E99D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48" y="97738"/>
            <a:ext cx="444532" cy="204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Table of Contents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2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Introduction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What is FEM?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FEM with Neural Networks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Literature Review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Research Proposal and Methodology</a:t>
            </a: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FEM-NN on R2R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PyAnsys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Workflow</a:t>
            </a: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Current Progress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Conclusion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312406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 Is FEM &amp; FEA Explained | Finite Element Method | SimScale">
            <a:extLst>
              <a:ext uri="{FF2B5EF4-FFF2-40B4-BE49-F238E27FC236}">
                <a16:creationId xmlns:a16="http://schemas.microsoft.com/office/drawing/2014/main" id="{2FDEB01B-D86F-AA0F-F989-A5986F4CEA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4" t="12912" r="7725" b="12572"/>
          <a:stretch/>
        </p:blipFill>
        <p:spPr bwMode="auto">
          <a:xfrm>
            <a:off x="5410201" y="1998924"/>
            <a:ext cx="2841800" cy="1461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What is FEM?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3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FEM</a:t>
            </a:r>
            <a:r>
              <a:rPr lang="en-US" sz="2000" dirty="0">
                <a:latin typeface="+mn-lt"/>
              </a:rPr>
              <a:t> or </a:t>
            </a:r>
            <a:r>
              <a:rPr lang="en-US" sz="2000" i="1" dirty="0">
                <a:latin typeface="+mn-lt"/>
              </a:rPr>
              <a:t>Finite Element Method</a:t>
            </a:r>
            <a:r>
              <a:rPr lang="en-US" sz="2000" dirty="0">
                <a:latin typeface="+mn-lt"/>
              </a:rPr>
              <a:t>, is a numerical technique to simulate and analyze complex engineering problems.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It is based on the concept of breaking down the problem into small elements, and then solving equations for each element.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8A29E-F9EF-E150-7CCB-A1BCDADE3580}"/>
              </a:ext>
            </a:extLst>
          </p:cNvPr>
          <p:cNvSpPr txBox="1"/>
          <p:nvPr/>
        </p:nvSpPr>
        <p:spPr>
          <a:xfrm>
            <a:off x="531541" y="2264182"/>
            <a:ext cx="41994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Most commonly used for structural stress, fluid flow, electromagnetics and heat transfer.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95A8E-5C1E-6D47-5ACD-E72E27A4568E}"/>
              </a:ext>
            </a:extLst>
          </p:cNvPr>
          <p:cNvSpPr txBox="1"/>
          <p:nvPr/>
        </p:nvSpPr>
        <p:spPr>
          <a:xfrm>
            <a:off x="531541" y="4419600"/>
            <a:ext cx="41401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Examples of FEM software include</a:t>
            </a: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ANSYS</a:t>
            </a: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Abaqus</a:t>
            </a: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</a:rPr>
              <a:t>FEniCS</a:t>
            </a:r>
            <a:endParaRPr lang="en-US" sz="2000" dirty="0">
              <a:latin typeface="+mn-lt"/>
            </a:endParaRP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n-lt"/>
              </a:rPr>
              <a:t>OpenFOAM</a:t>
            </a:r>
            <a:endParaRPr lang="en-US" sz="20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35D08-B3AC-E36E-5632-98B4A582AC76}"/>
              </a:ext>
            </a:extLst>
          </p:cNvPr>
          <p:cNvSpPr txBox="1"/>
          <p:nvPr/>
        </p:nvSpPr>
        <p:spPr>
          <a:xfrm>
            <a:off x="531541" y="3460447"/>
            <a:ext cx="4199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FEM accelerates prototyping, design and productivity.</a:t>
            </a:r>
          </a:p>
        </p:txBody>
      </p:sp>
      <p:pic>
        <p:nvPicPr>
          <p:cNvPr id="1028" name="Picture 4" descr="Example of 2D mesh">
            <a:extLst>
              <a:ext uri="{FF2B5EF4-FFF2-40B4-BE49-F238E27FC236}">
                <a16:creationId xmlns:a16="http://schemas.microsoft.com/office/drawing/2014/main" id="{E90C3F10-AEE9-0EBB-8D5F-491D6F3F5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19842"/>
            <a:ext cx="2553430" cy="233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E2790E-1E00-40C5-0D95-6E89DC5080E4}"/>
              </a:ext>
            </a:extLst>
          </p:cNvPr>
          <p:cNvCxnSpPr/>
          <p:nvPr/>
        </p:nvCxnSpPr>
        <p:spPr>
          <a:xfrm flipV="1">
            <a:off x="6781800" y="4361424"/>
            <a:ext cx="1066800" cy="6858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97767A-BFCD-C35F-C743-6B44A3F2031B}"/>
              </a:ext>
            </a:extLst>
          </p:cNvPr>
          <p:cNvCxnSpPr/>
          <p:nvPr/>
        </p:nvCxnSpPr>
        <p:spPr>
          <a:xfrm>
            <a:off x="7391400" y="3904224"/>
            <a:ext cx="457200" cy="3810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CE28020-A830-726D-0621-D7F3216E30D5}"/>
              </a:ext>
            </a:extLst>
          </p:cNvPr>
          <p:cNvSpPr txBox="1"/>
          <p:nvPr/>
        </p:nvSpPr>
        <p:spPr>
          <a:xfrm>
            <a:off x="7882054" y="4132824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Elements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74040C-09EE-789C-03F6-A7231F552497}"/>
              </a:ext>
            </a:extLst>
          </p:cNvPr>
          <p:cNvSpPr txBox="1"/>
          <p:nvPr/>
        </p:nvSpPr>
        <p:spPr>
          <a:xfrm>
            <a:off x="6345141" y="3270081"/>
            <a:ext cx="19068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A Typical Stress FEM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0F2204-C6CF-A2D9-9B38-955AFD4067B6}"/>
              </a:ext>
            </a:extLst>
          </p:cNvPr>
          <p:cNvSpPr txBox="1"/>
          <p:nvPr/>
        </p:nvSpPr>
        <p:spPr>
          <a:xfrm>
            <a:off x="5281766" y="6188689"/>
            <a:ext cx="174349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/>
              <a:t>Mesh Pattern for an FEM Simulation</a:t>
            </a:r>
          </a:p>
        </p:txBody>
      </p:sp>
    </p:spTree>
    <p:extLst>
      <p:ext uri="{BB962C8B-B14F-4D97-AF65-F5344CB8AC3E}">
        <p14:creationId xmlns:p14="http://schemas.microsoft.com/office/powerpoint/2010/main" val="148598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401" y="182802"/>
            <a:ext cx="57442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Why do we need FEM with Neural Networks?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4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FEM is powerful, but it has some key limitations: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High cost for repeated simulations.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Dependence on meshing.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Curse of dimensionality.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Difficulty of interpolation.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45CE6-083E-24EE-3928-8F3653533AEF}"/>
              </a:ext>
            </a:extLst>
          </p:cNvPr>
          <p:cNvSpPr txBox="1"/>
          <p:nvPr/>
        </p:nvSpPr>
        <p:spPr>
          <a:xfrm>
            <a:off x="533400" y="2459504"/>
            <a:ext cx="771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However, we can incorporate </a:t>
            </a:r>
            <a:r>
              <a:rPr lang="en-US" sz="2000" i="1" dirty="0">
                <a:latin typeface="+mn-lt"/>
              </a:rPr>
              <a:t>Neural Networks</a:t>
            </a:r>
            <a:r>
              <a:rPr lang="en-US" sz="2000" dirty="0">
                <a:latin typeface="+mn-lt"/>
              </a:rPr>
              <a:t> with FEM to solve some of these issues.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 trained NN can act as a surrogate for the FEM, leading to </a:t>
            </a:r>
            <a:r>
              <a:rPr lang="en-US" sz="2000" b="1" dirty="0">
                <a:latin typeface="+mn-lt"/>
              </a:rPr>
              <a:t>faster solve and prediction times.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NN</a:t>
            </a:r>
            <a:r>
              <a:rPr lang="en-US" sz="2000" b="1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can learn the FEM-based patterns, allowing it to </a:t>
            </a:r>
            <a:r>
              <a:rPr lang="en-US" sz="2000" b="1" dirty="0">
                <a:latin typeface="+mn-lt"/>
              </a:rPr>
              <a:t>generalize </a:t>
            </a:r>
            <a:r>
              <a:rPr lang="en-US" sz="2000" dirty="0">
                <a:latin typeface="+mn-lt"/>
              </a:rPr>
              <a:t>on similar problems.</a:t>
            </a:r>
            <a:endParaRPr lang="en-US" sz="20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3DDBB-FAF5-4220-4702-F54BCC1864A7}"/>
              </a:ext>
            </a:extLst>
          </p:cNvPr>
          <p:cNvSpPr txBox="1"/>
          <p:nvPr/>
        </p:nvSpPr>
        <p:spPr>
          <a:xfrm>
            <a:off x="533400" y="4796265"/>
            <a:ext cx="771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i="1" dirty="0">
                <a:latin typeface="+mn-lt"/>
              </a:rPr>
              <a:t>A good FEM-NN can result in accurate, reliable and fast results compared to just FEM.</a:t>
            </a:r>
            <a:endParaRPr lang="en-US" sz="2000" b="1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427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Literature Review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5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802540"/>
            <a:ext cx="7718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 existing research FEM-NN are being utilized in several capacities: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Solving Navier-Stokes flow for aircraft.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 biomechanics for aorta modelling and analysis.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Modelling fracture mechanics.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Rolling force simulation.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Thermoelastic testing.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540B7-FEFB-3AAD-5B52-829D756BFE00}"/>
              </a:ext>
            </a:extLst>
          </p:cNvPr>
          <p:cNvSpPr txBox="1"/>
          <p:nvPr/>
        </p:nvSpPr>
        <p:spPr>
          <a:xfrm>
            <a:off x="0" y="6233701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 err="1">
                <a:latin typeface="+mn-lt"/>
              </a:rPr>
              <a:t>Griese</a:t>
            </a:r>
            <a:r>
              <a:rPr lang="en-US" sz="800" dirty="0">
                <a:latin typeface="+mn-lt"/>
              </a:rPr>
              <a:t>, F. et. al.(2024). Preconditioned FEM-based neural networks for solving incompressible fluid flows and related inverse problems. J. </a:t>
            </a:r>
            <a:r>
              <a:rPr lang="en-US" sz="800" dirty="0" err="1">
                <a:latin typeface="+mn-lt"/>
              </a:rPr>
              <a:t>Comput</a:t>
            </a:r>
            <a:r>
              <a:rPr lang="en-US" sz="800" dirty="0">
                <a:latin typeface="+mn-lt"/>
              </a:rPr>
              <a:t>. Appl. Math., 469, 116663.</a:t>
            </a:r>
          </a:p>
          <a:p>
            <a:pPr algn="l"/>
            <a:r>
              <a:rPr lang="en-US" sz="800" dirty="0">
                <a:latin typeface="+mn-lt"/>
              </a:rPr>
              <a:t>Liang L, et. Al. Synergistic Integration of Deep Neural Networks and Finite Element Method with Applications of Nonlinear Large Deformation Biomechanics. </a:t>
            </a:r>
            <a:r>
              <a:rPr lang="en-US" sz="800" dirty="0" err="1">
                <a:latin typeface="+mn-lt"/>
              </a:rPr>
              <a:t>Comput</a:t>
            </a:r>
            <a:r>
              <a:rPr lang="en-US" sz="800" dirty="0">
                <a:latin typeface="+mn-lt"/>
              </a:rPr>
              <a:t> Methods Appl Mech Eng. 2023</a:t>
            </a:r>
          </a:p>
          <a:p>
            <a:pPr algn="l"/>
            <a:r>
              <a:rPr lang="en-US" sz="800" b="0" i="0" dirty="0" err="1">
                <a:solidFill>
                  <a:srgbClr val="1B1B1B"/>
                </a:solidFill>
                <a:effectLst/>
                <a:latin typeface="+mn-lt"/>
              </a:rPr>
              <a:t>Terrile</a:t>
            </a:r>
            <a:r>
              <a:rPr lang="en-US" sz="800" b="0" i="0" dirty="0">
                <a:solidFill>
                  <a:srgbClr val="1B1B1B"/>
                </a:solidFill>
                <a:effectLst/>
                <a:latin typeface="+mn-lt"/>
              </a:rPr>
              <a:t> S, López A, Barrientos A. Use of Finite Elements in the Training of a Neural Network for the Modeling of a Soft Robot. Biomimetics (Basel). 2023</a:t>
            </a:r>
          </a:p>
          <a:p>
            <a:pPr algn="l"/>
            <a:r>
              <a:rPr lang="en-US" sz="800" dirty="0" err="1">
                <a:latin typeface="+mn-lt"/>
              </a:rPr>
              <a:t>Abueidda</a:t>
            </a:r>
            <a:r>
              <a:rPr lang="en-US" sz="800" dirty="0">
                <a:latin typeface="+mn-lt"/>
              </a:rPr>
              <a:t>, D.W., </a:t>
            </a:r>
            <a:r>
              <a:rPr lang="en-US" sz="800" dirty="0" err="1">
                <a:latin typeface="+mn-lt"/>
              </a:rPr>
              <a:t>Mobasher</a:t>
            </a:r>
            <a:r>
              <a:rPr lang="en-US" sz="800" dirty="0">
                <a:latin typeface="+mn-lt"/>
              </a:rPr>
              <a:t>, M.E. I-FENN for </a:t>
            </a:r>
            <a:r>
              <a:rPr lang="en-US" sz="800" dirty="0" err="1">
                <a:latin typeface="+mn-lt"/>
              </a:rPr>
              <a:t>thermoelasticity</a:t>
            </a:r>
            <a:r>
              <a:rPr lang="en-US" sz="800" dirty="0">
                <a:latin typeface="+mn-lt"/>
              </a:rPr>
              <a:t> based on physics-informed temporal convolutional network (PI-TCN). </a:t>
            </a:r>
            <a:r>
              <a:rPr lang="en-US" sz="800" dirty="0" err="1">
                <a:latin typeface="+mn-lt"/>
              </a:rPr>
              <a:t>Comput</a:t>
            </a:r>
            <a:r>
              <a:rPr lang="en-US" sz="800" dirty="0">
                <a:latin typeface="+mn-lt"/>
              </a:rPr>
              <a:t> Mech 74, 1229–1259 (2024).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58E73-39B2-2B81-3B09-1A8E57AD8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292" y="3614006"/>
            <a:ext cx="1508593" cy="12385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3A4FD4-A2B8-E3A8-B30B-F252F371C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94" y="3125128"/>
            <a:ext cx="2457666" cy="20328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F56197-4DCD-DBBF-A2E5-164902552F6E}"/>
              </a:ext>
            </a:extLst>
          </p:cNvPr>
          <p:cNvSpPr txBox="1"/>
          <p:nvPr/>
        </p:nvSpPr>
        <p:spPr>
          <a:xfrm>
            <a:off x="337827" y="5179714"/>
            <a:ext cx="24576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Velocity predictions across an airfoil </a:t>
            </a:r>
          </a:p>
          <a:p>
            <a:r>
              <a:rPr lang="en-US" sz="1050" dirty="0"/>
              <a:t>by FEM-NN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DF7E48-E6D3-A3C5-B99E-C61E96661AC9}"/>
              </a:ext>
            </a:extLst>
          </p:cNvPr>
          <p:cNvSpPr txBox="1"/>
          <p:nvPr/>
        </p:nvSpPr>
        <p:spPr>
          <a:xfrm>
            <a:off x="3391447" y="5136545"/>
            <a:ext cx="245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Stress predictions in an aorta valve by FEM-NN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4C85C-BB53-3BDF-9522-210575B3FD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130" y="3604713"/>
            <a:ext cx="2373301" cy="12471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A00781-63D6-15A8-66EE-6A8F5102282B}"/>
              </a:ext>
            </a:extLst>
          </p:cNvPr>
          <p:cNvSpPr txBox="1"/>
          <p:nvPr/>
        </p:nvSpPr>
        <p:spPr>
          <a:xfrm>
            <a:off x="6311932" y="5136545"/>
            <a:ext cx="245766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Temperature predictions in a plate by FEM-NN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8638CF-5837-3337-C742-57DE8F141283}"/>
              </a:ext>
            </a:extLst>
          </p:cNvPr>
          <p:cNvSpPr/>
          <p:nvPr/>
        </p:nvSpPr>
        <p:spPr>
          <a:xfrm>
            <a:off x="337827" y="2971800"/>
            <a:ext cx="2590801" cy="27432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79FFF6-CD6F-BB5D-1846-8B0F788D2375}"/>
              </a:ext>
            </a:extLst>
          </p:cNvPr>
          <p:cNvSpPr/>
          <p:nvPr/>
        </p:nvSpPr>
        <p:spPr>
          <a:xfrm>
            <a:off x="3324879" y="2971800"/>
            <a:ext cx="2590801" cy="27432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749CEB-35AC-C583-D045-8C0F997539CD}"/>
              </a:ext>
            </a:extLst>
          </p:cNvPr>
          <p:cNvSpPr/>
          <p:nvPr/>
        </p:nvSpPr>
        <p:spPr>
          <a:xfrm>
            <a:off x="6311931" y="2971800"/>
            <a:ext cx="2590801" cy="274320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76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Literature Review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6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Many different ways to implement FEM-NN have been discussed in the literature, but the basic flow is as shown.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F946F0-E299-202A-4BF9-923EC4BD8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40" y="1676400"/>
            <a:ext cx="6484710" cy="441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290C8A-418F-1150-01CF-090BAB925F71}"/>
              </a:ext>
            </a:extLst>
          </p:cNvPr>
          <p:cNvSpPr txBox="1"/>
          <p:nvPr/>
        </p:nvSpPr>
        <p:spPr>
          <a:xfrm>
            <a:off x="0" y="6467070"/>
            <a:ext cx="825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latin typeface="+mn-lt"/>
              </a:rPr>
              <a:t>Rishith</a:t>
            </a:r>
            <a:r>
              <a:rPr lang="en-US" sz="800" dirty="0">
                <a:latin typeface="+mn-lt"/>
              </a:rPr>
              <a:t> E. </a:t>
            </a:r>
            <a:r>
              <a:rPr lang="en-US" sz="800" dirty="0" err="1">
                <a:latin typeface="+mn-lt"/>
              </a:rPr>
              <a:t>Meethal</a:t>
            </a:r>
            <a:r>
              <a:rPr lang="en-US" sz="800" dirty="0">
                <a:latin typeface="+mn-lt"/>
              </a:rPr>
              <a:t>, Anoop </a:t>
            </a:r>
            <a:r>
              <a:rPr lang="en-US" sz="800" dirty="0" err="1">
                <a:latin typeface="+mn-lt"/>
              </a:rPr>
              <a:t>Kodakkal</a:t>
            </a:r>
            <a:r>
              <a:rPr lang="en-US" sz="800" dirty="0">
                <a:latin typeface="+mn-lt"/>
              </a:rPr>
              <a:t>, Mohamed Khalil, Aditya </a:t>
            </a:r>
            <a:r>
              <a:rPr lang="en-US" sz="800" dirty="0" err="1">
                <a:latin typeface="+mn-lt"/>
              </a:rPr>
              <a:t>Ghantasala</a:t>
            </a:r>
            <a:r>
              <a:rPr lang="en-US" sz="800" dirty="0">
                <a:latin typeface="+mn-lt"/>
              </a:rPr>
              <a:t>, Birgit </a:t>
            </a:r>
            <a:r>
              <a:rPr lang="en-US" sz="800" dirty="0" err="1">
                <a:latin typeface="+mn-lt"/>
              </a:rPr>
              <a:t>Obst</a:t>
            </a:r>
            <a:r>
              <a:rPr lang="en-US" sz="800" dirty="0">
                <a:latin typeface="+mn-lt"/>
              </a:rPr>
              <a:t>, et al.. Finite element method-enhanced neural network for forward and inverse problems. Advanced Modeling and Simulation in Engineering Sciences, 2023</a:t>
            </a:r>
          </a:p>
        </p:txBody>
      </p:sp>
    </p:spTree>
    <p:extLst>
      <p:ext uri="{BB962C8B-B14F-4D97-AF65-F5344CB8AC3E}">
        <p14:creationId xmlns:p14="http://schemas.microsoft.com/office/powerpoint/2010/main" val="213502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Research Proposal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7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924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proposed research plan is to establish an FEM-NN for use with Roll-to-Roll (R2R) machine to optimize operation and maximize productivity.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93EC94-6384-24ED-84DC-065FB14EA18E}"/>
              </a:ext>
            </a:extLst>
          </p:cNvPr>
          <p:cNvSpPr txBox="1"/>
          <p:nvPr/>
        </p:nvSpPr>
        <p:spPr>
          <a:xfrm>
            <a:off x="45147" y="6594418"/>
            <a:ext cx="48006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latin typeface="+mn-lt"/>
              </a:rPr>
              <a:t>https://www.surecontrols.com/blog/top-7-causes-of-wrinkles-in-web-handling/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78335F4-DA7E-CA86-3E9F-F64DA53F44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8571" y="2130976"/>
            <a:ext cx="8746857" cy="366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1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Performing FEM - PyAnsys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8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tool of choice for FEM is Ansys.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However, for the amount of data required for NN modelling, Ansys workbench is tedious and slow.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better option is to use </a:t>
            </a:r>
            <a:r>
              <a:rPr lang="en-US" sz="2000" b="1" dirty="0">
                <a:latin typeface="+mn-lt"/>
              </a:rPr>
              <a:t>PyAnsys!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5AE119-E164-92CD-BFC9-4B93AE4BC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2" y="2763021"/>
            <a:ext cx="2429214" cy="6287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2F2890-AC77-F21B-89CA-727C6FE69F43}"/>
              </a:ext>
            </a:extLst>
          </p:cNvPr>
          <p:cNvSpPr txBox="1"/>
          <p:nvPr/>
        </p:nvSpPr>
        <p:spPr>
          <a:xfrm>
            <a:off x="3505200" y="2686016"/>
            <a:ext cx="5181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PyAnsys is a collection of open-source Python packages that provide Python interfaces to Ansys simulation products.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FB5181-DABD-4DF7-84CC-CB3E524CE75E}"/>
              </a:ext>
            </a:extLst>
          </p:cNvPr>
          <p:cNvSpPr txBox="1"/>
          <p:nvPr/>
        </p:nvSpPr>
        <p:spPr>
          <a:xfrm>
            <a:off x="0" y="651944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+mn-lt"/>
              </a:rPr>
              <a:t>docs.pyansys.com</a:t>
            </a:r>
          </a:p>
          <a:p>
            <a:r>
              <a:rPr lang="en-US" sz="800" dirty="0">
                <a:latin typeface="+mn-lt"/>
              </a:rPr>
              <a:t>github.com/</a:t>
            </a:r>
            <a:r>
              <a:rPr lang="en-US" sz="800" dirty="0" err="1">
                <a:latin typeface="+mn-lt"/>
              </a:rPr>
              <a:t>ansys</a:t>
            </a:r>
            <a:endParaRPr lang="en-US" sz="800" dirty="0"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860E50-70C6-3879-C8B9-F415645EB2D9}"/>
              </a:ext>
            </a:extLst>
          </p:cNvPr>
          <p:cNvSpPr txBox="1"/>
          <p:nvPr/>
        </p:nvSpPr>
        <p:spPr>
          <a:xfrm>
            <a:off x="533400" y="4156744"/>
            <a:ext cx="5181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Advantages of PyAnsys</a:t>
            </a:r>
          </a:p>
          <a:p>
            <a:pPr marL="746125" indent="-285750">
              <a:buFont typeface="Arial" panose="020B0604020202020204" pitchFamily="34" charset="0"/>
              <a:buChar char="•"/>
            </a:pPr>
            <a:r>
              <a:rPr lang="en-US" dirty="0"/>
              <a:t>Automated and reproduceable</a:t>
            </a:r>
          </a:p>
          <a:p>
            <a:pPr marL="746125" indent="-285750">
              <a:buFont typeface="Arial" panose="020B0604020202020204" pitchFamily="34" charset="0"/>
              <a:buChar char="•"/>
            </a:pPr>
            <a:r>
              <a:rPr lang="en-US" dirty="0"/>
              <a:t>Always for easy parametric studies</a:t>
            </a:r>
          </a:p>
          <a:p>
            <a:pPr marL="746125" indent="-285750">
              <a:buFont typeface="Arial" panose="020B0604020202020204" pitchFamily="34" charset="0"/>
              <a:buChar char="•"/>
            </a:pPr>
            <a:r>
              <a:rPr lang="en-US" dirty="0"/>
              <a:t>Testable and Maintainable</a:t>
            </a:r>
          </a:p>
          <a:p>
            <a:pPr marL="746125" indent="-285750">
              <a:buFont typeface="Arial" panose="020B0604020202020204" pitchFamily="34" charset="0"/>
              <a:buChar char="•"/>
            </a:pPr>
            <a:r>
              <a:rPr lang="en-US" dirty="0"/>
              <a:t>Rich post processing capabilities</a:t>
            </a:r>
          </a:p>
        </p:txBody>
      </p:sp>
    </p:spTree>
    <p:extLst>
      <p:ext uri="{BB962C8B-B14F-4D97-AF65-F5344CB8AC3E}">
        <p14:creationId xmlns:p14="http://schemas.microsoft.com/office/powerpoint/2010/main" val="113433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529F0D3-E703-EC58-1AB3-F6446A46DCE7}"/>
              </a:ext>
            </a:extLst>
          </p:cNvPr>
          <p:cNvSpPr/>
          <p:nvPr/>
        </p:nvSpPr>
        <p:spPr>
          <a:xfrm>
            <a:off x="4603359" y="1371600"/>
            <a:ext cx="4267200" cy="4572000"/>
          </a:xfrm>
          <a:prstGeom prst="roundRect">
            <a:avLst>
              <a:gd name="adj" fmla="val 8274"/>
            </a:avLst>
          </a:prstGeom>
          <a:gradFill flip="none" rotWithShape="1">
            <a:gsLst>
              <a:gs pos="50000">
                <a:srgbClr val="213C47"/>
              </a:gs>
              <a:gs pos="0">
                <a:srgbClr val="274351"/>
              </a:gs>
              <a:gs pos="100000">
                <a:srgbClr val="1C353D"/>
              </a:gs>
            </a:gsLst>
            <a:lin ang="16200000" scaled="0"/>
            <a:tileRect/>
          </a:gradFill>
          <a:ln>
            <a:solidFill>
              <a:srgbClr val="F6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B51F0BA-BE2A-4530-C3A0-B433E02C3250}"/>
              </a:ext>
            </a:extLst>
          </p:cNvPr>
          <p:cNvSpPr/>
          <p:nvPr/>
        </p:nvSpPr>
        <p:spPr>
          <a:xfrm>
            <a:off x="140377" y="1371600"/>
            <a:ext cx="4267200" cy="4572000"/>
          </a:xfrm>
          <a:prstGeom prst="roundRect">
            <a:avLst>
              <a:gd name="adj" fmla="val 8274"/>
            </a:avLst>
          </a:prstGeom>
          <a:gradFill flip="none" rotWithShape="1">
            <a:gsLst>
              <a:gs pos="70000">
                <a:srgbClr val="2A2B39"/>
              </a:gs>
              <a:gs pos="30000">
                <a:srgbClr val="2A2B3A"/>
              </a:gs>
              <a:gs pos="0">
                <a:srgbClr val="2F3243"/>
              </a:gs>
              <a:gs pos="100000">
                <a:srgbClr val="242330"/>
              </a:gs>
            </a:gsLst>
            <a:path path="rect">
              <a:fillToRect l="100000" t="100000"/>
            </a:path>
            <a:tileRect r="-100000" b="-100000"/>
          </a:gradFill>
          <a:ln>
            <a:solidFill>
              <a:srgbClr val="F643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PyAnsys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9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EC8B6C-7F53-0D76-D9CB-2D71A4E7D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41" y="1604769"/>
            <a:ext cx="3924873" cy="4105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BFA33D-4E23-EB85-1562-A628FE2AC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199" y="1692492"/>
            <a:ext cx="3799560" cy="36806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654014-80FF-8919-B577-3E040F4CDF23}"/>
              </a:ext>
            </a:extLst>
          </p:cNvPr>
          <p:cNvSpPr txBox="1"/>
          <p:nvPr/>
        </p:nvSpPr>
        <p:spPr>
          <a:xfrm>
            <a:off x="311540" y="666199"/>
            <a:ext cx="8451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Here we can see a simple comparison of the two methods.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0E2BF0-2C80-0217-35E4-C1EE489955C0}"/>
              </a:ext>
            </a:extLst>
          </p:cNvPr>
          <p:cNvSpPr txBox="1"/>
          <p:nvPr/>
        </p:nvSpPr>
        <p:spPr>
          <a:xfrm>
            <a:off x="0" y="6519446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+mn-lt"/>
              </a:rPr>
              <a:t>docs.pyansys.com</a:t>
            </a:r>
          </a:p>
          <a:p>
            <a:r>
              <a:rPr lang="en-US" sz="800" dirty="0">
                <a:latin typeface="+mn-lt"/>
              </a:rPr>
              <a:t>github.com/</a:t>
            </a:r>
            <a:r>
              <a:rPr lang="en-US" sz="800" dirty="0" err="1">
                <a:latin typeface="+mn-lt"/>
              </a:rPr>
              <a:t>ansys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0677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Current Progress and Workflow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10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334401" y="762000"/>
            <a:ext cx="771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+mn-lt"/>
              </a:rPr>
              <a:t>FEM Characterization and Simulation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65D13-B7C0-6414-182A-D25D3CE1CAC3}"/>
              </a:ext>
            </a:extLst>
          </p:cNvPr>
          <p:cNvSpPr txBox="1"/>
          <p:nvPr/>
        </p:nvSpPr>
        <p:spPr>
          <a:xfrm>
            <a:off x="334401" y="1211053"/>
            <a:ext cx="771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first step was characterization of the R2R rollers for FEM, followed by the simulation process.</a:t>
            </a:r>
          </a:p>
        </p:txBody>
      </p:sp>
      <p:pic>
        <p:nvPicPr>
          <p:cNvPr id="41" name="Picture 40" descr="A blue and black squares&#10;&#10;AI-generated content may be incorrect.">
            <a:extLst>
              <a:ext uri="{FF2B5EF4-FFF2-40B4-BE49-F238E27FC236}">
                <a16:creationId xmlns:a16="http://schemas.microsoft.com/office/drawing/2014/main" id="{76489EFA-EE28-0172-CE0B-14078E356C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" y="2354588"/>
            <a:ext cx="8982466" cy="126303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DC2526B-4D64-25C9-4FFA-1FA5F101CC38}"/>
              </a:ext>
            </a:extLst>
          </p:cNvPr>
          <p:cNvSpPr txBox="1"/>
          <p:nvPr/>
        </p:nvSpPr>
        <p:spPr>
          <a:xfrm>
            <a:off x="154683" y="3653157"/>
            <a:ext cx="8834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Step 1:</a:t>
            </a:r>
            <a:r>
              <a:rPr lang="en-US" sz="2000" dirty="0">
                <a:latin typeface="+mn-lt"/>
              </a:rPr>
              <a:t> The characterization was done using the physical machine and manuals:</a:t>
            </a:r>
          </a:p>
        </p:txBody>
      </p:sp>
      <p:pic>
        <p:nvPicPr>
          <p:cNvPr id="45" name="Picture 44" descr="A machine with a black cylinder&#10;&#10;AI-generated content may be incorrect.">
            <a:extLst>
              <a:ext uri="{FF2B5EF4-FFF2-40B4-BE49-F238E27FC236}">
                <a16:creationId xmlns:a16="http://schemas.microsoft.com/office/drawing/2014/main" id="{EF8898CF-3187-13A4-B4F7-F3BF1B0EDB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76"/>
          <a:stretch/>
        </p:blipFill>
        <p:spPr>
          <a:xfrm>
            <a:off x="741944" y="4362830"/>
            <a:ext cx="2951044" cy="18486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E269601-C3F8-4708-77F8-54DCD518D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4154299"/>
            <a:ext cx="3124200" cy="20536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A66DD11-B077-E19B-6EC8-A443F5A402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7740" y="5546386"/>
            <a:ext cx="4217198" cy="912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72B4D3B-8E84-543D-F44C-5D9182DFACDE}"/>
              </a:ext>
            </a:extLst>
          </p:cNvPr>
          <p:cNvSpPr txBox="1"/>
          <p:nvPr/>
        </p:nvSpPr>
        <p:spPr>
          <a:xfrm>
            <a:off x="6934200" y="5005450"/>
            <a:ext cx="138597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/>
              <a:t>Machine manuals detailing physical parameters</a:t>
            </a:r>
          </a:p>
        </p:txBody>
      </p:sp>
    </p:spTree>
    <p:extLst>
      <p:ext uri="{BB962C8B-B14F-4D97-AF65-F5344CB8AC3E}">
        <p14:creationId xmlns:p14="http://schemas.microsoft.com/office/powerpoint/2010/main" val="412496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Current Progress and Workflow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11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6C6974-9919-8451-167C-97091E270B4D}"/>
              </a:ext>
            </a:extLst>
          </p:cNvPr>
          <p:cNvSpPr txBox="1"/>
          <p:nvPr/>
        </p:nvSpPr>
        <p:spPr>
          <a:xfrm>
            <a:off x="334400" y="2225944"/>
            <a:ext cx="6523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Step 2:</a:t>
            </a:r>
            <a:r>
              <a:rPr lang="en-US" sz="2000" dirty="0">
                <a:latin typeface="+mn-lt"/>
              </a:rPr>
              <a:t> We set up the parametric process in PyAnsys, through the use of python scripts.</a:t>
            </a:r>
            <a:endParaRPr lang="en-US" sz="2000" b="1" dirty="0">
              <a:latin typeface="+mn-lt"/>
            </a:endParaRPr>
          </a:p>
        </p:txBody>
      </p:sp>
      <p:pic>
        <p:nvPicPr>
          <p:cNvPr id="6" name="Picture 5" descr="A blue and black squares&#10;&#10;AI-generated content may be incorrect.">
            <a:extLst>
              <a:ext uri="{FF2B5EF4-FFF2-40B4-BE49-F238E27FC236}">
                <a16:creationId xmlns:a16="http://schemas.microsoft.com/office/drawing/2014/main" id="{0C71FFAB-C9A1-7972-A6D5-E55E120D59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" y="762000"/>
            <a:ext cx="8982466" cy="1263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35E643-83F1-309E-6B39-CDC3DF107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8788" y="2133600"/>
            <a:ext cx="1942711" cy="1447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77FF95-EBFF-672B-41AA-922ADC838BD0}"/>
              </a:ext>
            </a:extLst>
          </p:cNvPr>
          <p:cNvSpPr txBox="1"/>
          <p:nvPr/>
        </p:nvSpPr>
        <p:spPr>
          <a:xfrm>
            <a:off x="274135" y="3611880"/>
            <a:ext cx="80316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Step 3, 4 and 5:</a:t>
            </a:r>
            <a:r>
              <a:rPr lang="en-US" sz="2000" dirty="0">
                <a:latin typeface="+mn-lt"/>
              </a:rPr>
              <a:t> The PyAnsys scripts then call the Ansys solver and perform the </a:t>
            </a:r>
            <a:r>
              <a:rPr lang="en-US" sz="2000" i="1" dirty="0">
                <a:latin typeface="+mn-lt"/>
              </a:rPr>
              <a:t>Modeling</a:t>
            </a:r>
            <a:r>
              <a:rPr lang="en-US" sz="2000" dirty="0">
                <a:latin typeface="+mn-lt"/>
              </a:rPr>
              <a:t>, </a:t>
            </a:r>
            <a:r>
              <a:rPr lang="en-US" sz="2000" i="1" dirty="0">
                <a:latin typeface="+mn-lt"/>
              </a:rPr>
              <a:t>Physics Implementation</a:t>
            </a:r>
            <a:r>
              <a:rPr lang="en-US" sz="2000" dirty="0">
                <a:latin typeface="+mn-lt"/>
              </a:rPr>
              <a:t>, and </a:t>
            </a:r>
            <a:r>
              <a:rPr lang="en-US" sz="2000" i="1" dirty="0">
                <a:latin typeface="+mn-lt"/>
              </a:rPr>
              <a:t>Solve</a:t>
            </a:r>
            <a:r>
              <a:rPr lang="en-US" sz="2000" dirty="0">
                <a:latin typeface="+mn-lt"/>
              </a:rPr>
              <a:t> steps.</a:t>
            </a:r>
            <a:endParaRPr lang="en-US" sz="2000" b="1" dirty="0">
              <a:latin typeface="+mn-lt"/>
            </a:endParaRPr>
          </a:p>
        </p:txBody>
      </p:sp>
      <p:pic>
        <p:nvPicPr>
          <p:cNvPr id="4098" name="Picture 2" descr="Full size">
            <a:extLst>
              <a:ext uri="{FF2B5EF4-FFF2-40B4-BE49-F238E27FC236}">
                <a16:creationId xmlns:a16="http://schemas.microsoft.com/office/drawing/2014/main" id="{8C54C6B0-F5E4-75E0-D461-FDA075825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967" y="4419600"/>
            <a:ext cx="3429000" cy="192881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ull size">
            <a:extLst>
              <a:ext uri="{FF2B5EF4-FFF2-40B4-BE49-F238E27FC236}">
                <a16:creationId xmlns:a16="http://schemas.microsoft.com/office/drawing/2014/main" id="{EF3FD213-C307-D1EA-2878-9A122D116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315071"/>
            <a:ext cx="3769751" cy="212048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AD26D5A-BFD7-62DA-ABE4-88F19E7B45B7}"/>
              </a:ext>
            </a:extLst>
          </p:cNvPr>
          <p:cNvCxnSpPr>
            <a:cxnSpLocks/>
          </p:cNvCxnSpPr>
          <p:nvPr/>
        </p:nvCxnSpPr>
        <p:spPr>
          <a:xfrm>
            <a:off x="5257800" y="4876800"/>
            <a:ext cx="0" cy="228600"/>
          </a:xfrm>
          <a:prstGeom prst="straightConnector1">
            <a:avLst/>
          </a:prstGeom>
          <a:ln>
            <a:solidFill>
              <a:srgbClr val="53BA9D"/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670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Current Progress and Workflow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12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6C6974-9919-8451-167C-97091E270B4D}"/>
              </a:ext>
            </a:extLst>
          </p:cNvPr>
          <p:cNvSpPr txBox="1"/>
          <p:nvPr/>
        </p:nvSpPr>
        <p:spPr>
          <a:xfrm>
            <a:off x="334400" y="2225944"/>
            <a:ext cx="835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Step 6:</a:t>
            </a:r>
            <a:r>
              <a:rPr lang="en-US" sz="2000" dirty="0">
                <a:latin typeface="+mn-lt"/>
              </a:rPr>
              <a:t> The post-processing script gives us renders of the desired variables, along with required graphs and values.</a:t>
            </a:r>
            <a:endParaRPr lang="en-US" sz="2000" b="1" dirty="0">
              <a:latin typeface="+mn-lt"/>
            </a:endParaRPr>
          </a:p>
        </p:txBody>
      </p:sp>
      <p:pic>
        <p:nvPicPr>
          <p:cNvPr id="6" name="Picture 5" descr="A blue and black squares&#10;&#10;AI-generated content may be incorrect.">
            <a:extLst>
              <a:ext uri="{FF2B5EF4-FFF2-40B4-BE49-F238E27FC236}">
                <a16:creationId xmlns:a16="http://schemas.microsoft.com/office/drawing/2014/main" id="{0C71FFAB-C9A1-7972-A6D5-E55E120D59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7" y="762000"/>
            <a:ext cx="8982466" cy="1263030"/>
          </a:xfrm>
          <a:prstGeom prst="rect">
            <a:avLst/>
          </a:prstGeom>
        </p:spPr>
      </p:pic>
      <p:pic>
        <p:nvPicPr>
          <p:cNvPr id="7172" name="Picture 4" descr="Full size">
            <a:extLst>
              <a:ext uri="{FF2B5EF4-FFF2-40B4-BE49-F238E27FC236}">
                <a16:creationId xmlns:a16="http://schemas.microsoft.com/office/drawing/2014/main" id="{F521A9FE-A45F-7981-C12D-C889EAC9D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048000"/>
            <a:ext cx="4038600" cy="240422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ull size">
            <a:extLst>
              <a:ext uri="{FF2B5EF4-FFF2-40B4-BE49-F238E27FC236}">
                <a16:creationId xmlns:a16="http://schemas.microsoft.com/office/drawing/2014/main" id="{AC8290AD-45F5-26B8-871E-75713DFE6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55621"/>
            <a:ext cx="4267200" cy="24003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249A1B-BEB0-18D6-3C11-074CF175B138}"/>
              </a:ext>
            </a:extLst>
          </p:cNvPr>
          <p:cNvSpPr txBox="1"/>
          <p:nvPr/>
        </p:nvSpPr>
        <p:spPr>
          <a:xfrm>
            <a:off x="334400" y="5677075"/>
            <a:ext cx="835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Iteration:</a:t>
            </a:r>
            <a:r>
              <a:rPr lang="en-US" sz="2000" dirty="0">
                <a:latin typeface="+mn-lt"/>
              </a:rPr>
              <a:t> The code then moves on to the next set of parameters. </a:t>
            </a:r>
            <a:endParaRPr lang="en-US" sz="2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9518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 dirty="0"/>
              <a:t>Conclusions and Future Plan</a:t>
            </a:r>
            <a:endParaRPr spc="-1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7"/>
          </p:nvPr>
        </p:nvSpPr>
        <p:spPr>
          <a:xfrm>
            <a:off x="5181600" y="6609807"/>
            <a:ext cx="3924873" cy="184666"/>
          </a:xfrm>
        </p:spPr>
        <p:txBody>
          <a:bodyPr/>
          <a:lstStyle/>
          <a:p>
            <a:pPr marL="3303904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lang="en-US" spc="-50" smtClean="0"/>
              <a:t>13</a:t>
            </a:fld>
            <a:r>
              <a:rPr lang="en-US" spc="-50" dirty="0"/>
              <a:t> of 11</a:t>
            </a:r>
          </a:p>
        </p:txBody>
      </p:sp>
      <p:pic>
        <p:nvPicPr>
          <p:cNvPr id="5" name="Picture 4" descr="A blue and red logo&#10;&#10;AI-generated content may be incorrect.">
            <a:extLst>
              <a:ext uri="{FF2B5EF4-FFF2-40B4-BE49-F238E27FC236}">
                <a16:creationId xmlns:a16="http://schemas.microsoft.com/office/drawing/2014/main" id="{C0F089F8-38A5-65C8-BC32-7309A247F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128016"/>
            <a:ext cx="444532" cy="30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95D2C2-BDF0-9D9B-8305-864984F7924C}"/>
              </a:ext>
            </a:extLst>
          </p:cNvPr>
          <p:cNvSpPr txBox="1"/>
          <p:nvPr/>
        </p:nvSpPr>
        <p:spPr>
          <a:xfrm>
            <a:off x="533400" y="762000"/>
            <a:ext cx="7718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Till now</a:t>
            </a:r>
          </a:p>
          <a:p>
            <a:pPr marL="9144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FEM Characterization.</a:t>
            </a:r>
          </a:p>
          <a:p>
            <a:pPr marL="914400" indent="-34290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+mn-lt"/>
              </a:rPr>
              <a:t>Initial FEM Simulation.</a:t>
            </a:r>
          </a:p>
          <a:p>
            <a:pPr marL="1374775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The first simulation to validate results and check for inconsistencies.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4D800F-B628-197A-5A8A-0BAFDB5AFC7D}"/>
              </a:ext>
            </a:extLst>
          </p:cNvPr>
          <p:cNvSpPr txBox="1"/>
          <p:nvPr/>
        </p:nvSpPr>
        <p:spPr>
          <a:xfrm>
            <a:off x="533400" y="2286000"/>
            <a:ext cx="7718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1" dirty="0">
                <a:latin typeface="+mn-lt"/>
              </a:rPr>
              <a:t>Future Plan</a:t>
            </a:r>
          </a:p>
          <a:p>
            <a:pPr marL="9144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Implementation of the FEM-NN</a:t>
            </a:r>
          </a:p>
          <a:p>
            <a:pPr marL="13716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Complete FEM and NN integration.</a:t>
            </a:r>
          </a:p>
          <a:p>
            <a:pPr marL="13716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Validate against different test case models.</a:t>
            </a:r>
          </a:p>
          <a:p>
            <a:pPr marL="9144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Digital Twin Integration</a:t>
            </a:r>
          </a:p>
          <a:p>
            <a:pPr marL="13716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Integrate into automatic optimization control.</a:t>
            </a:r>
          </a:p>
          <a:p>
            <a:pPr marL="1371600" lvl="1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Explore natural language control.</a:t>
            </a:r>
          </a:p>
        </p:txBody>
      </p:sp>
    </p:spTree>
    <p:extLst>
      <p:ext uri="{BB962C8B-B14F-4D97-AF65-F5344CB8AC3E}">
        <p14:creationId xmlns:p14="http://schemas.microsoft.com/office/powerpoint/2010/main" val="417546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439" y="6623992"/>
            <a:ext cx="2206625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</a:pP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Algorithmic</a:t>
            </a:r>
            <a:r>
              <a:rPr sz="1200" b="1" spc="80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7F8FA9"/>
                </a:solidFill>
                <a:latin typeface="Calibri"/>
                <a:cs typeface="Calibri"/>
              </a:rPr>
              <a:t>Intelligence</a:t>
            </a:r>
            <a:r>
              <a:rPr sz="1200" b="1" spc="-5" dirty="0">
                <a:solidFill>
                  <a:srgbClr val="7F8FA9"/>
                </a:solidFill>
                <a:latin typeface="Calibri"/>
                <a:cs typeface="Calibri"/>
              </a:rPr>
              <a:t> </a:t>
            </a:r>
            <a:r>
              <a:rPr sz="1200" b="1" spc="-25" dirty="0">
                <a:solidFill>
                  <a:srgbClr val="7F8FA9"/>
                </a:solidFill>
                <a:latin typeface="Calibri"/>
                <a:cs typeface="Calibri"/>
              </a:rPr>
              <a:t>Laboratory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642100"/>
            <a:ext cx="2552700" cy="215900"/>
          </a:xfrm>
          <a:custGeom>
            <a:avLst/>
            <a:gdLst/>
            <a:ahLst/>
            <a:cxnLst/>
            <a:rect l="l" t="t" r="r" b="b"/>
            <a:pathLst>
              <a:path w="2552700" h="215900">
                <a:moveTo>
                  <a:pt x="2552700" y="0"/>
                </a:moveTo>
                <a:lnTo>
                  <a:pt x="0" y="0"/>
                </a:lnTo>
                <a:lnTo>
                  <a:pt x="0" y="215900"/>
                </a:lnTo>
                <a:lnTo>
                  <a:pt x="2552700" y="215900"/>
                </a:lnTo>
                <a:lnTo>
                  <a:pt x="2552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84150" y="412750"/>
            <a:ext cx="8785225" cy="0"/>
          </a:xfrm>
          <a:custGeom>
            <a:avLst/>
            <a:gdLst/>
            <a:ahLst/>
            <a:cxnLst/>
            <a:rect l="l" t="t" r="r" b="b"/>
            <a:pathLst>
              <a:path w="8785225">
                <a:moveTo>
                  <a:pt x="0" y="0"/>
                </a:moveTo>
                <a:lnTo>
                  <a:pt x="8784976" y="1"/>
                </a:lnTo>
              </a:path>
            </a:pathLst>
          </a:custGeom>
          <a:ln w="12700">
            <a:solidFill>
              <a:srgbClr val="44546A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77672" y="2814223"/>
            <a:ext cx="6788657" cy="52264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R="5080" algn="ctr">
              <a:lnSpc>
                <a:spcPts val="3500"/>
              </a:lnSpc>
              <a:spcBef>
                <a:spcPts val="500"/>
              </a:spcBef>
            </a:pPr>
            <a:r>
              <a:rPr lang="en-US" sz="3600" dirty="0">
                <a:solidFill>
                  <a:srgbClr val="0070C0"/>
                </a:solidFill>
              </a:rPr>
              <a:t>Thank you!</a:t>
            </a:r>
            <a:endParaRPr sz="3600" dirty="0">
              <a:solidFill>
                <a:srgbClr val="0070C0"/>
              </a:solidFill>
            </a:endParaRPr>
          </a:p>
        </p:txBody>
      </p:sp>
      <p:pic>
        <p:nvPicPr>
          <p:cNvPr id="9" name="Picture 8" descr="A blue and red logo&#10;&#10;AI-generated content may be incorrect.">
            <a:extLst>
              <a:ext uri="{FF2B5EF4-FFF2-40B4-BE49-F238E27FC236}">
                <a16:creationId xmlns:a16="http://schemas.microsoft.com/office/drawing/2014/main" id="{AC170A6F-8C65-A98B-0A1D-C5F9ECD759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20" y="45720"/>
            <a:ext cx="444532" cy="308324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58D49150-89F1-0A09-F72E-25841EBDC9E4}"/>
              </a:ext>
            </a:extLst>
          </p:cNvPr>
          <p:cNvSpPr txBox="1">
            <a:spLocks/>
          </p:cNvSpPr>
          <p:nvPr/>
        </p:nvSpPr>
        <p:spPr>
          <a:xfrm>
            <a:off x="1177672" y="3336867"/>
            <a:ext cx="6788657" cy="48199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>
            <a:lvl1pPr>
              <a:defRPr sz="2000" b="1" i="0">
                <a:solidFill>
                  <a:srgbClr val="3E5893"/>
                </a:solidFill>
                <a:latin typeface="Calibri"/>
                <a:ea typeface="+mj-ea"/>
                <a:cs typeface="Calibri"/>
              </a:defRPr>
            </a:lvl1pPr>
          </a:lstStyle>
          <a:p>
            <a:pPr marR="5080" algn="ctr">
              <a:lnSpc>
                <a:spcPts val="3500"/>
              </a:lnSpc>
              <a:spcBef>
                <a:spcPts val="500"/>
              </a:spcBef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Questions?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68036E-919B-D93C-8CF7-3D131E99DD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48" y="97738"/>
            <a:ext cx="444532" cy="2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31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4868</TotalTime>
  <Words>1402</Words>
  <Application>Microsoft Office PowerPoint</Application>
  <PresentationFormat>On-screen Show (4:3)</PresentationFormat>
  <Paragraphs>174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Inter</vt:lpstr>
      <vt:lpstr>JetBrains Mono</vt:lpstr>
      <vt:lpstr>pplxSerif</vt:lpstr>
      <vt:lpstr>Aptos</vt:lpstr>
      <vt:lpstr>Arial</vt:lpstr>
      <vt:lpstr>Calibri</vt:lpstr>
      <vt:lpstr>Consolas</vt:lpstr>
      <vt:lpstr>Wingdings</vt:lpstr>
      <vt:lpstr>Office Theme</vt:lpstr>
      <vt:lpstr>FEM Based Neural Networks</vt:lpstr>
      <vt:lpstr>Table of Contents</vt:lpstr>
      <vt:lpstr>What is FEM?</vt:lpstr>
      <vt:lpstr>Why do we need FEM with Neural Networks?</vt:lpstr>
      <vt:lpstr>Literature Review</vt:lpstr>
      <vt:lpstr>Literature Review</vt:lpstr>
      <vt:lpstr>Research Proposal</vt:lpstr>
      <vt:lpstr>Performing FEM - PyAnsys</vt:lpstr>
      <vt:lpstr>PyAnsys</vt:lpstr>
      <vt:lpstr>Current Progress and Workflow</vt:lpstr>
      <vt:lpstr>Current Progress and Workflow</vt:lpstr>
      <vt:lpstr>Current Progress and Workflow</vt:lpstr>
      <vt:lpstr>Conclusions and Future Plan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Neural Networks:</dc:title>
  <dc:creator>user</dc:creator>
  <cp:lastModifiedBy>user</cp:lastModifiedBy>
  <cp:revision>64</cp:revision>
  <dcterms:created xsi:type="dcterms:W3CDTF">2026-03-13T13:05:02Z</dcterms:created>
  <dcterms:modified xsi:type="dcterms:W3CDTF">2026-04-22T10:15:47Z</dcterms:modified>
</cp:coreProperties>
</file>