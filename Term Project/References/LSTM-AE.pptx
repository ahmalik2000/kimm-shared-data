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2" r:id="rId6"/>
    <p:sldId id="263" r:id="rId7"/>
    <p:sldId id="265" r:id="rId8"/>
    <p:sldId id="266" r:id="rId9"/>
    <p:sldId id="267" r:id="rId10"/>
    <p:sldId id="268" r:id="rId11"/>
    <p:sldId id="261" r:id="rId12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BAB8"/>
    <a:srgbClr val="28359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320" autoAdjust="0"/>
  </p:normalViewPr>
  <p:slideViewPr>
    <p:cSldViewPr>
      <p:cViewPr varScale="1">
        <p:scale>
          <a:sx n="129" d="100"/>
          <a:sy n="129" d="100"/>
        </p:scale>
        <p:origin x="264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59" d="100"/>
          <a:sy n="159" d="100"/>
        </p:scale>
        <p:origin x="2988" y="1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5F4370-6AA5-43E0-978B-C9FBE533C06B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4D7167-44B4-449E-8CFC-91B1CBD209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392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91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355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4630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autoencoder has two main parts:</a:t>
            </a:r>
          </a:p>
          <a:p>
            <a:r>
              <a:rPr lang="en-US" b="1" dirty="0"/>
              <a:t>1. Encoder (function G)</a:t>
            </a:r>
          </a:p>
          <a:p>
            <a:r>
              <a:rPr lang="en-US" dirty="0"/>
              <a:t>Takes input YYY </a:t>
            </a:r>
          </a:p>
          <a:p>
            <a:r>
              <a:rPr lang="en-US" dirty="0"/>
              <a:t>Compresses it into a smaller representation (called the </a:t>
            </a:r>
            <a:r>
              <a:rPr lang="en-US" b="1" dirty="0"/>
              <a:t>latent vector</a:t>
            </a:r>
            <a:r>
              <a:rPr lang="en-US" dirty="0"/>
              <a:t> or </a:t>
            </a:r>
            <a:r>
              <a:rPr lang="en-US" b="1" dirty="0"/>
              <a:t>bottleneck</a:t>
            </a:r>
            <a:r>
              <a:rPr lang="en-US" dirty="0"/>
              <a:t>) </a:t>
            </a:r>
          </a:p>
          <a:p>
            <a:r>
              <a:rPr lang="en-US" b="1" dirty="0"/>
              <a:t>2. Decoder (function H)</a:t>
            </a:r>
          </a:p>
          <a:p>
            <a:r>
              <a:rPr lang="en-US" dirty="0"/>
              <a:t>Takes the compressed representation </a:t>
            </a:r>
          </a:p>
          <a:p>
            <a:r>
              <a:rPr lang="en-US" dirty="0"/>
              <a:t>Reconstructs the original input Y′Y'Y′</a:t>
            </a:r>
          </a:p>
          <a:p>
            <a:endParaRPr lang="en-US" dirty="0"/>
          </a:p>
          <a:p>
            <a:r>
              <a:rPr lang="en-US" b="1" dirty="0"/>
              <a:t>Flow step-by-step</a:t>
            </a:r>
          </a:p>
          <a:p>
            <a:r>
              <a:rPr lang="en-US" dirty="0"/>
              <a:t>Input data YYY goes into the network </a:t>
            </a:r>
          </a:p>
          <a:p>
            <a:r>
              <a:rPr lang="en-US" dirty="0"/>
              <a:t>Encoder compresses it → latent representation TTT </a:t>
            </a:r>
          </a:p>
          <a:p>
            <a:r>
              <a:rPr lang="en-US" dirty="0"/>
              <a:t>Decoder expands it → reconstructed output Y′Y'Y′ </a:t>
            </a:r>
          </a:p>
          <a:p>
            <a:r>
              <a:rPr lang="en-US" dirty="0"/>
              <a:t>The network compares YYY and Y′Y'Y′ using a cost function (often </a:t>
            </a:r>
            <a:r>
              <a:rPr lang="en-US" b="1" dirty="0"/>
              <a:t>MSE</a:t>
            </a:r>
            <a:r>
              <a:rPr lang="en-US" dirty="0"/>
              <a:t>) </a:t>
            </a:r>
          </a:p>
          <a:p>
            <a:r>
              <a:rPr lang="en-US" dirty="0"/>
              <a:t>It updates weights using Backpropagation and Gradient Descent</a:t>
            </a:r>
          </a:p>
          <a:p>
            <a:endParaRPr lang="en-US" dirty="0"/>
          </a:p>
          <a:p>
            <a:r>
              <a:rPr lang="en-US" b="1" dirty="0"/>
              <a:t>What the bottleneck does</a:t>
            </a:r>
          </a:p>
          <a:p>
            <a:r>
              <a:rPr lang="en-US" dirty="0"/>
              <a:t>The </a:t>
            </a:r>
            <a:r>
              <a:rPr lang="en-US" b="1" dirty="0"/>
              <a:t>bottleneck layer</a:t>
            </a:r>
            <a:r>
              <a:rPr lang="en-US" dirty="0"/>
              <a:t> forces the network to:</a:t>
            </a:r>
          </a:p>
          <a:p>
            <a:r>
              <a:rPr lang="en-US" dirty="0"/>
              <a:t>Remove noise </a:t>
            </a:r>
          </a:p>
          <a:p>
            <a:r>
              <a:rPr lang="en-US" dirty="0"/>
              <a:t>Keep only important patterns </a:t>
            </a:r>
          </a:p>
          <a:p>
            <a:r>
              <a:rPr lang="en-US" dirty="0"/>
              <a:t>Learn meaningful features automatically</a:t>
            </a:r>
          </a:p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771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12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C7C7C7"/>
                </a:solidFill>
                <a:effectLst/>
                <a:latin typeface="Google Sans Text"/>
              </a:rPr>
              <a:t>Input Gate (</a:t>
            </a:r>
            <a:r>
              <a:rPr lang="en-US" b="0" i="1" dirty="0">
                <a:solidFill>
                  <a:srgbClr val="C7C7C7"/>
                </a:solidFill>
                <a:effectLst/>
                <a:latin typeface="KaTeX_Math"/>
              </a:rPr>
              <a:t>IG</a:t>
            </a:r>
            <a:r>
              <a:rPr lang="en-US" b="1" i="0" dirty="0">
                <a:solidFill>
                  <a:srgbClr val="C7C7C7"/>
                </a:solidFill>
                <a:effectLst/>
                <a:latin typeface="Google Sans Text"/>
              </a:rPr>
              <a:t>):</a:t>
            </a:r>
            <a:r>
              <a:rPr lang="en-US" b="0" i="0" dirty="0">
                <a:solidFill>
                  <a:srgbClr val="C7C7C7"/>
                </a:solidFill>
                <a:effectLst/>
                <a:latin typeface="Google Sans Text"/>
              </a:rPr>
              <a:t> Controls the extent to which new information enters the cell state, protecting the memory from perturbation by irrelevant inputs.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C7C7C7"/>
                </a:solidFill>
                <a:effectLst/>
                <a:latin typeface="Google Sans Text"/>
              </a:rPr>
              <a:t>Forget Gate (</a:t>
            </a:r>
            <a:r>
              <a:rPr lang="en-US" b="0" i="1" dirty="0">
                <a:solidFill>
                  <a:srgbClr val="C7C7C7"/>
                </a:solidFill>
                <a:effectLst/>
                <a:latin typeface="KaTeX_Math"/>
              </a:rPr>
              <a:t>FG</a:t>
            </a:r>
            <a:r>
              <a:rPr lang="en-US" b="1" i="0" dirty="0">
                <a:solidFill>
                  <a:srgbClr val="C7C7C7"/>
                </a:solidFill>
                <a:effectLst/>
                <a:latin typeface="Google Sans Text"/>
              </a:rPr>
              <a:t>):</a:t>
            </a:r>
            <a:r>
              <a:rPr lang="en-US" b="0" i="0" dirty="0">
                <a:solidFill>
                  <a:srgbClr val="C7C7C7"/>
                </a:solidFill>
                <a:effectLst/>
                <a:latin typeface="Google Sans Text"/>
              </a:rPr>
              <a:t> An adaptive unit that enables a cell to </a:t>
            </a:r>
            <a:r>
              <a:rPr lang="en-US" b="1" i="0" dirty="0">
                <a:solidFill>
                  <a:srgbClr val="C7C7C7"/>
                </a:solidFill>
                <a:effectLst/>
                <a:latin typeface="Google Sans Text"/>
              </a:rPr>
              <a:t>reset its internal state</a:t>
            </a:r>
            <a:r>
              <a:rPr lang="en-US" b="0" i="0" dirty="0">
                <a:solidFill>
                  <a:srgbClr val="C7C7C7"/>
                </a:solidFill>
                <a:effectLst/>
                <a:latin typeface="Google Sans Text"/>
              </a:rPr>
              <a:t> when the stored information becomes out of date or useless, releasing resources for new information.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C7C7C7"/>
                </a:solidFill>
                <a:effectLst/>
                <a:latin typeface="Google Sans Text"/>
              </a:rPr>
              <a:t>Output Gate (</a:t>
            </a:r>
            <a:r>
              <a:rPr lang="en-US" b="0" i="1" dirty="0">
                <a:solidFill>
                  <a:srgbClr val="C7C7C7"/>
                </a:solidFill>
                <a:effectLst/>
                <a:latin typeface="KaTeX_Math"/>
              </a:rPr>
              <a:t>OG</a:t>
            </a:r>
            <a:r>
              <a:rPr lang="en-US" b="1" i="0" dirty="0">
                <a:solidFill>
                  <a:srgbClr val="C7C7C7"/>
                </a:solidFill>
                <a:effectLst/>
                <a:latin typeface="Google Sans Text"/>
              </a:rPr>
              <a:t>):</a:t>
            </a:r>
            <a:r>
              <a:rPr lang="en-US" b="0" i="0" dirty="0">
                <a:solidFill>
                  <a:srgbClr val="C7C7C7"/>
                </a:solidFill>
                <a:effectLst/>
                <a:latin typeface="Google Sans Text"/>
              </a:rPr>
              <a:t> Regulates the flow of the cell state to the rest of the network, protecting other units from being perturbed by currently irrelevant memory contents</a:t>
            </a:r>
          </a:p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271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558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C7C7C7"/>
                </a:solidFill>
                <a:effectLst/>
                <a:latin typeface="Google Sans Text"/>
              </a:rPr>
              <a:t>The Encoder:</a:t>
            </a:r>
            <a:r>
              <a:rPr lang="en-US" b="0" i="0" dirty="0">
                <a:solidFill>
                  <a:srgbClr val="C7C7C7"/>
                </a:solidFill>
                <a:effectLst/>
                <a:latin typeface="Google Sans Text"/>
              </a:rPr>
              <a:t> This component takes an input time series sequence </a:t>
            </a:r>
            <a:r>
              <a:rPr lang="en-US" b="0" i="1" dirty="0">
                <a:solidFill>
                  <a:srgbClr val="C7C7C7"/>
                </a:solidFill>
                <a:effectLst/>
                <a:latin typeface="KaTeX_Math"/>
              </a:rPr>
              <a:t>X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={</a:t>
            </a:r>
            <a:r>
              <a:rPr lang="en-US" b="0" i="1" dirty="0">
                <a:solidFill>
                  <a:srgbClr val="C7C7C7"/>
                </a:solidFill>
                <a:effectLst/>
                <a:latin typeface="KaTeX_Math"/>
              </a:rPr>
              <a:t>x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(1),</a:t>
            </a:r>
            <a:r>
              <a:rPr lang="en-US" b="0" i="1" dirty="0">
                <a:solidFill>
                  <a:srgbClr val="C7C7C7"/>
                </a:solidFill>
                <a:effectLst/>
                <a:latin typeface="KaTeX_Math"/>
              </a:rPr>
              <a:t>x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(2),…,</a:t>
            </a:r>
            <a:r>
              <a:rPr lang="en-US" b="0" i="1" dirty="0">
                <a:solidFill>
                  <a:srgbClr val="C7C7C7"/>
                </a:solidFill>
                <a:effectLst/>
                <a:latin typeface="KaTeX_Math"/>
              </a:rPr>
              <a:t>x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(</a:t>
            </a:r>
            <a:r>
              <a:rPr lang="en-US" b="0" i="1" dirty="0">
                <a:solidFill>
                  <a:srgbClr val="C7C7C7"/>
                </a:solidFill>
                <a:effectLst/>
                <a:latin typeface="KaTeX_Math"/>
              </a:rPr>
              <a:t>L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)}</a:t>
            </a:r>
            <a:r>
              <a:rPr lang="en-US" b="0" i="0" dirty="0">
                <a:solidFill>
                  <a:srgbClr val="C7C7C7"/>
                </a:solidFill>
                <a:effectLst/>
                <a:latin typeface="Google Sans Text"/>
              </a:rPr>
              <a:t> and maps it to a </a:t>
            </a:r>
            <a:r>
              <a:rPr lang="en-US" b="1" i="0" dirty="0">
                <a:solidFill>
                  <a:srgbClr val="C7C7C7"/>
                </a:solidFill>
                <a:effectLst/>
                <a:latin typeface="Google Sans Text"/>
              </a:rPr>
              <a:t>fixed-length vector representation</a:t>
            </a:r>
            <a:r>
              <a:rPr lang="en-US" b="0" i="0" dirty="0">
                <a:solidFill>
                  <a:srgbClr val="C7C7C7"/>
                </a:solidFill>
                <a:effectLst/>
                <a:latin typeface="Google Sans Text"/>
              </a:rPr>
              <a:t>. As the encoder processes each time step, it updates its hidden state </a:t>
            </a:r>
            <a:r>
              <a:rPr lang="en-US" b="0" i="1" dirty="0" err="1">
                <a:solidFill>
                  <a:srgbClr val="C7C7C7"/>
                </a:solidFill>
                <a:effectLst/>
                <a:latin typeface="KaTeX_Math"/>
              </a:rPr>
              <a:t>hE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(</a:t>
            </a:r>
            <a:r>
              <a:rPr lang="en-US" b="0" i="1" dirty="0" err="1">
                <a:solidFill>
                  <a:srgbClr val="C7C7C7"/>
                </a:solidFill>
                <a:effectLst/>
                <a:latin typeface="KaTeX_Math"/>
              </a:rPr>
              <a:t>i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)​</a:t>
            </a:r>
            <a:r>
              <a:rPr lang="en-US" b="0" i="0" dirty="0">
                <a:solidFill>
                  <a:srgbClr val="C7C7C7"/>
                </a:solidFill>
                <a:effectLst/>
                <a:latin typeface="Google Sans Text"/>
              </a:rPr>
              <a:t>. The final hidden state of the encoder, </a:t>
            </a:r>
            <a:r>
              <a:rPr lang="en-US" b="0" i="1" dirty="0" err="1">
                <a:solidFill>
                  <a:srgbClr val="C7C7C7"/>
                </a:solidFill>
                <a:effectLst/>
                <a:latin typeface="KaTeX_Math"/>
              </a:rPr>
              <a:t>hE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(</a:t>
            </a:r>
            <a:r>
              <a:rPr lang="en-US" b="0" i="1" dirty="0">
                <a:solidFill>
                  <a:srgbClr val="C7C7C7"/>
                </a:solidFill>
                <a:effectLst/>
                <a:latin typeface="KaTeX_Math"/>
              </a:rPr>
              <a:t>L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)​</a:t>
            </a:r>
            <a:r>
              <a:rPr lang="en-US" b="0" i="0" dirty="0">
                <a:solidFill>
                  <a:srgbClr val="C7C7C7"/>
                </a:solidFill>
                <a:effectLst/>
                <a:latin typeface="Google Sans Text"/>
              </a:rPr>
              <a:t>, encapsulates the "essence" or "code" of the entire input sequence.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C7C7C7"/>
                </a:solidFill>
                <a:effectLst/>
                <a:latin typeface="Google Sans Text"/>
              </a:rPr>
              <a:t>The Decoder:</a:t>
            </a:r>
            <a:r>
              <a:rPr lang="en-US" b="0" i="0" dirty="0">
                <a:solidFill>
                  <a:srgbClr val="C7C7C7"/>
                </a:solidFill>
                <a:effectLst/>
                <a:latin typeface="Google Sans Text"/>
              </a:rPr>
              <a:t> The decoder uses the fixed-length vector from the encoder as its initial hidden state (</a:t>
            </a:r>
            <a:r>
              <a:rPr lang="en-US" b="0" i="1" dirty="0" err="1">
                <a:solidFill>
                  <a:srgbClr val="C7C7C7"/>
                </a:solidFill>
                <a:effectLst/>
                <a:latin typeface="KaTeX_Math"/>
              </a:rPr>
              <a:t>hD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(</a:t>
            </a:r>
            <a:r>
              <a:rPr lang="en-US" b="0" i="1" dirty="0">
                <a:solidFill>
                  <a:srgbClr val="C7C7C7"/>
                </a:solidFill>
                <a:effectLst/>
                <a:latin typeface="KaTeX_Math"/>
              </a:rPr>
              <a:t>L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)​=</a:t>
            </a:r>
            <a:r>
              <a:rPr lang="en-US" b="0" i="1" dirty="0" err="1">
                <a:solidFill>
                  <a:srgbClr val="C7C7C7"/>
                </a:solidFill>
                <a:effectLst/>
                <a:latin typeface="KaTeX_Math"/>
              </a:rPr>
              <a:t>hE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(</a:t>
            </a:r>
            <a:r>
              <a:rPr lang="en-US" b="0" i="1" dirty="0">
                <a:solidFill>
                  <a:srgbClr val="C7C7C7"/>
                </a:solidFill>
                <a:effectLst/>
                <a:latin typeface="KaTeX_Math"/>
              </a:rPr>
              <a:t>L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)​</a:t>
            </a:r>
            <a:r>
              <a:rPr lang="en-US" b="0" i="0" dirty="0">
                <a:solidFill>
                  <a:srgbClr val="C7C7C7"/>
                </a:solidFill>
                <a:effectLst/>
                <a:latin typeface="Google Sans Text"/>
              </a:rPr>
              <a:t>) to produce a </a:t>
            </a:r>
            <a:r>
              <a:rPr lang="en-US" b="1" i="0" dirty="0">
                <a:solidFill>
                  <a:srgbClr val="C7C7C7"/>
                </a:solidFill>
                <a:effectLst/>
                <a:latin typeface="Google Sans Text"/>
              </a:rPr>
              <a:t>reconstruction</a:t>
            </a:r>
            <a:r>
              <a:rPr lang="en-US" b="0" i="0" dirty="0">
                <a:solidFill>
                  <a:srgbClr val="C7C7C7"/>
                </a:solidFill>
                <a:effectLst/>
                <a:latin typeface="Google Sans Text"/>
              </a:rPr>
              <a:t> of the original sequence, </a:t>
            </a:r>
            <a:r>
              <a:rPr lang="en-US" b="0" i="1" dirty="0">
                <a:solidFill>
                  <a:srgbClr val="C7C7C7"/>
                </a:solidFill>
                <a:effectLst/>
                <a:latin typeface="KaTeX_Math"/>
              </a:rPr>
              <a:t>X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′={</a:t>
            </a:r>
            <a:r>
              <a:rPr lang="en-US" b="0" i="1" dirty="0">
                <a:solidFill>
                  <a:srgbClr val="C7C7C7"/>
                </a:solidFill>
                <a:effectLst/>
                <a:latin typeface="KaTeX_Math"/>
              </a:rPr>
              <a:t>x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′(1),</a:t>
            </a:r>
            <a:r>
              <a:rPr lang="en-US" b="0" i="1" dirty="0">
                <a:solidFill>
                  <a:srgbClr val="C7C7C7"/>
                </a:solidFill>
                <a:effectLst/>
                <a:latin typeface="KaTeX_Math"/>
              </a:rPr>
              <a:t>x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′(2),…,</a:t>
            </a:r>
            <a:r>
              <a:rPr lang="en-US" b="0" i="1" dirty="0">
                <a:solidFill>
                  <a:srgbClr val="C7C7C7"/>
                </a:solidFill>
                <a:effectLst/>
                <a:latin typeface="KaTeX_Math"/>
              </a:rPr>
              <a:t>x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′(</a:t>
            </a:r>
            <a:r>
              <a:rPr lang="en-US" b="0" i="1" dirty="0">
                <a:solidFill>
                  <a:srgbClr val="C7C7C7"/>
                </a:solidFill>
                <a:effectLst/>
                <a:latin typeface="KaTeX_Math"/>
              </a:rPr>
              <a:t>L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)}</a:t>
            </a:r>
            <a:r>
              <a:rPr lang="en-US" b="0" i="0" dirty="0">
                <a:solidFill>
                  <a:srgbClr val="C7C7C7"/>
                </a:solidFill>
                <a:effectLst/>
                <a:latin typeface="Google Sans Text"/>
              </a:rPr>
              <a:t>. A linear layer on top of the LSTM decoder is used to predict the actual values of the reconstructed sequence</a:t>
            </a:r>
          </a:p>
          <a:p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C7C7C7"/>
                </a:solidFill>
                <a:effectLst/>
                <a:latin typeface="Google Sans Text"/>
              </a:rPr>
              <a:t>Reverse Reconstruction:</a:t>
            </a:r>
            <a:r>
              <a:rPr lang="en-US" b="0" i="0" dirty="0">
                <a:solidFill>
                  <a:srgbClr val="C7C7C7"/>
                </a:solidFill>
                <a:effectLst/>
                <a:latin typeface="Google Sans Text"/>
              </a:rPr>
              <a:t> The model is often jointly trained to reconstruct the time series in </a:t>
            </a:r>
            <a:r>
              <a:rPr lang="en-US" b="1" i="0" dirty="0">
                <a:solidFill>
                  <a:srgbClr val="C7C7C7"/>
                </a:solidFill>
                <a:effectLst/>
                <a:latin typeface="Google Sans Text"/>
              </a:rPr>
              <a:t>reverse order</a:t>
            </a:r>
            <a:r>
              <a:rPr lang="en-US" b="0" i="0" dirty="0">
                <a:solidFill>
                  <a:srgbClr val="C7C7C7"/>
                </a:solidFill>
                <a:effectLst/>
                <a:latin typeface="Google Sans Text"/>
              </a:rPr>
              <a:t>. For an input 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{</a:t>
            </a:r>
            <a:r>
              <a:rPr lang="en-US" b="0" i="1" dirty="0">
                <a:solidFill>
                  <a:srgbClr val="C7C7C7"/>
                </a:solidFill>
                <a:effectLst/>
                <a:latin typeface="KaTeX_Math"/>
              </a:rPr>
              <a:t>x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(1),</a:t>
            </a:r>
            <a:r>
              <a:rPr lang="en-US" b="0" i="1" dirty="0">
                <a:solidFill>
                  <a:srgbClr val="C7C7C7"/>
                </a:solidFill>
                <a:effectLst/>
                <a:latin typeface="KaTeX_Math"/>
              </a:rPr>
              <a:t>x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(2),</a:t>
            </a:r>
            <a:r>
              <a:rPr lang="en-US" b="0" i="1" dirty="0">
                <a:solidFill>
                  <a:srgbClr val="C7C7C7"/>
                </a:solidFill>
                <a:effectLst/>
                <a:latin typeface="KaTeX_Math"/>
              </a:rPr>
              <a:t>x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(3)}</a:t>
            </a:r>
            <a:r>
              <a:rPr lang="en-US" b="0" i="0" dirty="0">
                <a:solidFill>
                  <a:srgbClr val="C7C7C7"/>
                </a:solidFill>
                <a:effectLst/>
                <a:latin typeface="Google Sans Text"/>
              </a:rPr>
              <a:t>, the target is 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{</a:t>
            </a:r>
            <a:r>
              <a:rPr lang="en-US" b="0" i="1" dirty="0">
                <a:solidFill>
                  <a:srgbClr val="C7C7C7"/>
                </a:solidFill>
                <a:effectLst/>
                <a:latin typeface="KaTeX_Math"/>
              </a:rPr>
              <a:t>x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(3),</a:t>
            </a:r>
            <a:r>
              <a:rPr lang="en-US" b="0" i="1" dirty="0">
                <a:solidFill>
                  <a:srgbClr val="C7C7C7"/>
                </a:solidFill>
                <a:effectLst/>
                <a:latin typeface="KaTeX_Math"/>
              </a:rPr>
              <a:t>x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(2),</a:t>
            </a:r>
            <a:r>
              <a:rPr lang="en-US" b="0" i="1" dirty="0">
                <a:solidFill>
                  <a:srgbClr val="C7C7C7"/>
                </a:solidFill>
                <a:effectLst/>
                <a:latin typeface="KaTeX_Math"/>
              </a:rPr>
              <a:t>x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(1)}</a:t>
            </a:r>
            <a:r>
              <a:rPr lang="en-US" b="0" i="0" dirty="0">
                <a:solidFill>
                  <a:srgbClr val="C7C7C7"/>
                </a:solidFill>
                <a:effectLst/>
                <a:latin typeface="Google Sans Text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C7C7C7"/>
                </a:solidFill>
                <a:effectLst/>
                <a:latin typeface="Google Sans Text"/>
              </a:rPr>
              <a:t>Inference Loop:</a:t>
            </a:r>
            <a:r>
              <a:rPr lang="en-US" b="0" i="0" dirty="0">
                <a:solidFill>
                  <a:srgbClr val="C7C7C7"/>
                </a:solidFill>
                <a:effectLst/>
                <a:latin typeface="Google Sans Text"/>
              </a:rPr>
              <a:t> During inference, the decoder uses its own previous prediction, </a:t>
            </a:r>
            <a:r>
              <a:rPr lang="en-US" b="0" i="1" dirty="0">
                <a:solidFill>
                  <a:srgbClr val="C7C7C7"/>
                </a:solidFill>
                <a:effectLst/>
                <a:latin typeface="KaTeX_Math"/>
              </a:rPr>
              <a:t>x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′(</a:t>
            </a:r>
            <a:r>
              <a:rPr lang="en-US" b="0" i="1" dirty="0" err="1">
                <a:solidFill>
                  <a:srgbClr val="C7C7C7"/>
                </a:solidFill>
                <a:effectLst/>
                <a:latin typeface="KaTeX_Math"/>
              </a:rPr>
              <a:t>i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)</a:t>
            </a:r>
            <a:r>
              <a:rPr lang="en-US" b="0" i="0" dirty="0">
                <a:solidFill>
                  <a:srgbClr val="C7C7C7"/>
                </a:solidFill>
                <a:effectLst/>
                <a:latin typeface="Google Sans Text"/>
              </a:rPr>
              <a:t>, as the input for the next time step to obtain the next hidden state, </a:t>
            </a:r>
            <a:r>
              <a:rPr lang="en-US" b="0" i="1" dirty="0" err="1">
                <a:solidFill>
                  <a:srgbClr val="C7C7C7"/>
                </a:solidFill>
                <a:effectLst/>
                <a:latin typeface="KaTeX_Math"/>
              </a:rPr>
              <a:t>hD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(</a:t>
            </a:r>
            <a:r>
              <a:rPr lang="en-US" b="0" i="1" dirty="0">
                <a:solidFill>
                  <a:srgbClr val="C7C7C7"/>
                </a:solidFill>
                <a:effectLst/>
                <a:latin typeface="KaTeX_Math"/>
              </a:rPr>
              <a:t>i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−1)​</a:t>
            </a:r>
            <a:r>
              <a:rPr lang="en-US" b="0" i="0" dirty="0">
                <a:solidFill>
                  <a:srgbClr val="C7C7C7"/>
                </a:solidFill>
                <a:effectLst/>
                <a:latin typeface="Google Sans Text"/>
              </a:rPr>
              <a:t>, and predict the next value in the sequence, </a:t>
            </a:r>
            <a:r>
              <a:rPr lang="en-US" b="0" i="1" dirty="0">
                <a:solidFill>
                  <a:srgbClr val="C7C7C7"/>
                </a:solidFill>
                <a:effectLst/>
                <a:latin typeface="KaTeX_Math"/>
              </a:rPr>
              <a:t>x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′(</a:t>
            </a:r>
            <a:r>
              <a:rPr lang="en-US" b="0" i="1" dirty="0">
                <a:solidFill>
                  <a:srgbClr val="C7C7C7"/>
                </a:solidFill>
                <a:effectLst/>
                <a:latin typeface="KaTeX_Math"/>
              </a:rPr>
              <a:t>i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−1)</a:t>
            </a:r>
            <a:endParaRPr lang="en-US" b="0" i="0" dirty="0">
              <a:solidFill>
                <a:srgbClr val="C7C7C7"/>
              </a:solidFill>
              <a:effectLst/>
              <a:latin typeface="Google Sans Text"/>
            </a:endParaRPr>
          </a:p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78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does it really work? With an example</a:t>
            </a:r>
          </a:p>
          <a:p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C7C7C7"/>
                </a:solidFill>
                <a:effectLst/>
                <a:latin typeface="Google Sans Text"/>
              </a:rPr>
              <a:t>Training on "Normal" Data:</a:t>
            </a:r>
            <a:r>
              <a:rPr lang="en-US" b="0" i="0" dirty="0">
                <a:solidFill>
                  <a:srgbClr val="C7C7C7"/>
                </a:solidFill>
                <a:effectLst/>
                <a:latin typeface="Google Sans Text"/>
              </a:rPr>
              <a:t> The network is trained exclusively on non-anomalous (normal) sequences. It learns to minimize the </a:t>
            </a:r>
            <a:r>
              <a:rPr lang="en-US" b="1" i="0" dirty="0">
                <a:solidFill>
                  <a:srgbClr val="C7C7C7"/>
                </a:solidFill>
                <a:effectLst/>
                <a:latin typeface="Google Sans Text"/>
              </a:rPr>
              <a:t>reconstruction error</a:t>
            </a:r>
            <a:r>
              <a:rPr lang="en-US" b="0" i="0" dirty="0">
                <a:solidFill>
                  <a:srgbClr val="C7C7C7"/>
                </a:solidFill>
                <a:effectLst/>
                <a:latin typeface="Google Sans Text"/>
              </a:rPr>
              <a:t>, which is the difference between the input sequence and its reconstructed version (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∣</a:t>
            </a:r>
            <a:r>
              <a:rPr lang="en-US" b="0" i="1" dirty="0">
                <a:solidFill>
                  <a:srgbClr val="C7C7C7"/>
                </a:solidFill>
                <a:effectLst/>
                <a:latin typeface="KaTeX_Math"/>
              </a:rPr>
              <a:t>x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(</a:t>
            </a:r>
            <a:r>
              <a:rPr lang="en-US" b="0" i="1" dirty="0" err="1">
                <a:solidFill>
                  <a:srgbClr val="C7C7C7"/>
                </a:solidFill>
                <a:effectLst/>
                <a:latin typeface="KaTeX_Math"/>
              </a:rPr>
              <a:t>i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)−</a:t>
            </a:r>
            <a:r>
              <a:rPr lang="en-US" b="0" i="1" dirty="0">
                <a:solidFill>
                  <a:srgbClr val="C7C7C7"/>
                </a:solidFill>
                <a:effectLst/>
                <a:latin typeface="KaTeX_Math"/>
              </a:rPr>
              <a:t>x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′(</a:t>
            </a:r>
            <a:r>
              <a:rPr lang="en-US" b="0" i="1" dirty="0" err="1">
                <a:solidFill>
                  <a:srgbClr val="C7C7C7"/>
                </a:solidFill>
                <a:effectLst/>
                <a:latin typeface="KaTeX_Math"/>
              </a:rPr>
              <a:t>i</a:t>
            </a:r>
            <a:r>
              <a:rPr lang="en-US" b="0" i="0" dirty="0">
                <a:solidFill>
                  <a:srgbClr val="C7C7C7"/>
                </a:solidFill>
                <a:effectLst/>
                <a:latin typeface="KaTeX_Main"/>
              </a:rPr>
              <a:t>)∣</a:t>
            </a:r>
            <a:r>
              <a:rPr lang="en-US" b="0" i="0" dirty="0">
                <a:solidFill>
                  <a:srgbClr val="C7C7C7"/>
                </a:solidFill>
                <a:effectLst/>
                <a:latin typeface="Google Sans Text"/>
              </a:rPr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C7C7C7"/>
                </a:solidFill>
                <a:effectLst/>
                <a:latin typeface="Google Sans Text"/>
              </a:rPr>
              <a:t>Identifying Anomalies:</a:t>
            </a:r>
            <a:r>
              <a:rPr lang="en-US" b="0" i="0" dirty="0">
                <a:solidFill>
                  <a:srgbClr val="C7C7C7"/>
                </a:solidFill>
                <a:effectLst/>
                <a:latin typeface="Google Sans Text"/>
              </a:rPr>
              <a:t> Because the model has only seen normal patterns, it becomes highly effective at reconstructing them. When presented with an </a:t>
            </a:r>
            <a:r>
              <a:rPr lang="en-US" b="1" i="0" dirty="0">
                <a:solidFill>
                  <a:srgbClr val="C7C7C7"/>
                </a:solidFill>
                <a:effectLst/>
                <a:latin typeface="Google Sans Text"/>
              </a:rPr>
              <a:t>anomalous sequence</a:t>
            </a:r>
            <a:r>
              <a:rPr lang="en-US" b="0" i="0" dirty="0">
                <a:solidFill>
                  <a:srgbClr val="C7C7C7"/>
                </a:solidFill>
                <a:effectLst/>
                <a:latin typeface="Google Sans Text"/>
              </a:rPr>
              <a:t>, the model fails to reconstruct it accurately because the pattern is outside its learned "normal" representation. This results in a significantly </a:t>
            </a:r>
            <a:r>
              <a:rPr lang="en-US" b="1" i="0" dirty="0">
                <a:solidFill>
                  <a:srgbClr val="C7C7C7"/>
                </a:solidFill>
                <a:effectLst/>
                <a:latin typeface="Google Sans Text"/>
              </a:rPr>
              <a:t>higher reconstruction error</a:t>
            </a:r>
            <a:r>
              <a:rPr lang="en-US" b="0" i="0" dirty="0">
                <a:solidFill>
                  <a:srgbClr val="C7C7C7"/>
                </a:solidFill>
                <a:effectLst/>
                <a:latin typeface="Google Sans Text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C7C7C7"/>
                </a:solidFill>
                <a:effectLst/>
                <a:latin typeface="Google Sans Text"/>
              </a:rPr>
              <a:t>Anomaly Scoring:</a:t>
            </a:r>
            <a:r>
              <a:rPr lang="en-US" b="0" i="0" dirty="0">
                <a:solidFill>
                  <a:srgbClr val="C7C7C7"/>
                </a:solidFill>
                <a:effectLst/>
                <a:latin typeface="Google Sans Text"/>
              </a:rPr>
              <a:t> These reconstruction errors are modeled as a </a:t>
            </a:r>
            <a:r>
              <a:rPr lang="en-US" b="1" i="0" dirty="0">
                <a:solidFill>
                  <a:srgbClr val="C7C7C7"/>
                </a:solidFill>
                <a:effectLst/>
                <a:latin typeface="Google Sans Text"/>
              </a:rPr>
              <a:t>multivariate Gaussian distribution</a:t>
            </a:r>
            <a:r>
              <a:rPr lang="en-US" b="0" i="0" dirty="0">
                <a:solidFill>
                  <a:srgbClr val="C7C7C7"/>
                </a:solidFill>
                <a:effectLst/>
                <a:latin typeface="Google Sans Text"/>
              </a:rPr>
              <a:t>. For any new sequence, an </a:t>
            </a:r>
            <a:r>
              <a:rPr lang="en-US" b="1" i="0" dirty="0">
                <a:solidFill>
                  <a:srgbClr val="C7C7C7"/>
                </a:solidFill>
                <a:effectLst/>
                <a:latin typeface="Google Sans Text"/>
              </a:rPr>
              <a:t>anomaly score</a:t>
            </a:r>
            <a:r>
              <a:rPr lang="en-US" b="0" i="0" dirty="0">
                <a:solidFill>
                  <a:srgbClr val="C7C7C7"/>
                </a:solidFill>
                <a:effectLst/>
                <a:latin typeface="Google Sans Text"/>
              </a:rPr>
              <a:t> is calculated based on the likelihood of its error vector occurring under this distribution; higher scores indicate a greater probability of an anomaly</a:t>
            </a:r>
          </a:p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2980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247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34401" y="182802"/>
            <a:ext cx="3925570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739" y="6611292"/>
            <a:ext cx="3807461" cy="369332"/>
          </a:xfrm>
        </p:spPr>
        <p:txBody>
          <a:bodyPr lIns="0" tIns="0" rIns="0" bIns="0"/>
          <a:lstStyle>
            <a:lvl1pPr>
              <a:defRPr sz="1200" b="1" i="0">
                <a:solidFill>
                  <a:srgbClr val="7F8FA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80" dirty="0">
                <a:solidFill>
                  <a:srgbClr val="1F497D"/>
                </a:solidFill>
              </a:rPr>
              <a:t>Advanced Battery Manufacturing Systems</a:t>
            </a:r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pPr marL="3303904">
              <a:spcBef>
                <a:spcPts val="40"/>
              </a:spcBef>
            </a:pPr>
            <a:fld id="{81D60167-4931-47E6-BA6A-407CBD079E47}" type="slidenum">
              <a:rPr lang="en-US" spc="-50" smtClean="0"/>
              <a:pPr marL="3303904">
                <a:spcBef>
                  <a:spcPts val="40"/>
                </a:spcBef>
              </a:pPr>
              <a:t>‹#›</a:t>
            </a:fld>
            <a:r>
              <a:rPr lang="en-US" spc="-50" dirty="0"/>
              <a:t> of max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739" y="6611292"/>
            <a:ext cx="3502661" cy="369332"/>
          </a:xfrm>
        </p:spPr>
        <p:txBody>
          <a:bodyPr lIns="0" tIns="0" rIns="0" bIns="0"/>
          <a:lstStyle>
            <a:lvl1pPr>
              <a:defRPr sz="1200" b="1" i="0">
                <a:solidFill>
                  <a:srgbClr val="7F8FA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80" dirty="0">
                <a:solidFill>
                  <a:srgbClr val="1F497D"/>
                </a:solidFill>
              </a:rPr>
              <a:t>Advanced Battery Manufacturing Systems</a:t>
            </a:r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pPr marL="3303904">
              <a:spcBef>
                <a:spcPts val="40"/>
              </a:spcBef>
            </a:pPr>
            <a:fld id="{81D60167-4931-47E6-BA6A-407CBD079E47}" type="slidenum">
              <a:rPr lang="en-US" spc="-50" smtClean="0"/>
              <a:pPr marL="3303904">
                <a:spcBef>
                  <a:spcPts val="40"/>
                </a:spcBef>
              </a:pPr>
              <a:t>‹#›</a:t>
            </a:fld>
            <a:r>
              <a:rPr lang="en-US" spc="-50" dirty="0"/>
              <a:t> of max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7F8FA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Algorithmic</a:t>
            </a:r>
            <a:r>
              <a:rPr spc="80" dirty="0"/>
              <a:t> </a:t>
            </a:r>
            <a:r>
              <a:rPr spc="-10" dirty="0"/>
              <a:t>Intelligence</a:t>
            </a:r>
            <a:r>
              <a:rPr spc="-5" dirty="0"/>
              <a:t> </a:t>
            </a:r>
            <a:r>
              <a:rPr spc="-10" dirty="0"/>
              <a:t>Laboratory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pPr marL="3303904">
              <a:spcBef>
                <a:spcPts val="40"/>
              </a:spcBef>
            </a:pPr>
            <a:fld id="{81D60167-4931-47E6-BA6A-407CBD079E47}" type="slidenum">
              <a:rPr lang="en-US" spc="-50" smtClean="0"/>
              <a:pPr marL="3303904">
                <a:spcBef>
                  <a:spcPts val="40"/>
                </a:spcBef>
              </a:pPr>
              <a:t>‹#›</a:t>
            </a:fld>
            <a:r>
              <a:rPr lang="en-US" spc="-50" dirty="0"/>
              <a:t> of max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7F8FA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Algorithmic</a:t>
            </a:r>
            <a:r>
              <a:rPr spc="80" dirty="0"/>
              <a:t> </a:t>
            </a:r>
            <a:r>
              <a:rPr spc="-10" dirty="0"/>
              <a:t>Intelligence</a:t>
            </a:r>
            <a:r>
              <a:rPr spc="-5" dirty="0"/>
              <a:t> </a:t>
            </a:r>
            <a:r>
              <a:rPr spc="-10" dirty="0"/>
              <a:t>Laboratory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pPr marL="3303904">
              <a:spcBef>
                <a:spcPts val="40"/>
              </a:spcBef>
            </a:pPr>
            <a:fld id="{81D60167-4931-47E6-BA6A-407CBD079E47}" type="slidenum">
              <a:rPr lang="en-US" spc="-50" smtClean="0"/>
              <a:pPr marL="3303904">
                <a:spcBef>
                  <a:spcPts val="40"/>
                </a:spcBef>
              </a:pPr>
              <a:t>‹#›</a:t>
            </a:fld>
            <a:r>
              <a:rPr lang="en-US" spc="-50" dirty="0"/>
              <a:t> of max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7F8FA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Algorithmic</a:t>
            </a:r>
            <a:r>
              <a:rPr spc="80" dirty="0"/>
              <a:t> </a:t>
            </a:r>
            <a:r>
              <a:rPr spc="-10" dirty="0"/>
              <a:t>Intelligence</a:t>
            </a:r>
            <a:r>
              <a:rPr spc="-5" dirty="0"/>
              <a:t> </a:t>
            </a:r>
            <a:r>
              <a:rPr spc="-10" dirty="0"/>
              <a:t>Laboratory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pPr marL="3303904">
              <a:spcBef>
                <a:spcPts val="40"/>
              </a:spcBef>
            </a:pPr>
            <a:fld id="{81D60167-4931-47E6-BA6A-407CBD079E47}" type="slidenum">
              <a:rPr lang="en-US" spc="-50" smtClean="0"/>
              <a:pPr marL="3303904">
                <a:spcBef>
                  <a:spcPts val="40"/>
                </a:spcBef>
              </a:pPr>
              <a:t>‹#›</a:t>
            </a:fld>
            <a:r>
              <a:rPr lang="en-US" spc="-50" dirty="0"/>
              <a:t> of max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54000" y="546100"/>
            <a:ext cx="8641080" cy="0"/>
          </a:xfrm>
          <a:custGeom>
            <a:avLst/>
            <a:gdLst/>
            <a:ahLst/>
            <a:cxnLst/>
            <a:rect l="l" t="t" r="r" b="b"/>
            <a:pathLst>
              <a:path w="8641080">
                <a:moveTo>
                  <a:pt x="0" y="0"/>
                </a:moveTo>
                <a:lnTo>
                  <a:pt x="8640960" y="1"/>
                </a:lnTo>
              </a:path>
            </a:pathLst>
          </a:custGeom>
          <a:ln w="25400">
            <a:solidFill>
              <a:srgbClr val="3E5893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4401" y="182802"/>
            <a:ext cx="5744210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0259" y="3189624"/>
            <a:ext cx="8611235" cy="2312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739" y="6611292"/>
            <a:ext cx="3426461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7F8FA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80" dirty="0">
                <a:solidFill>
                  <a:srgbClr val="1F497D"/>
                </a:solidFill>
              </a:rPr>
              <a:t>Advanced Battery Manufacturing Systems</a:t>
            </a:r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pPr marL="3303904">
              <a:spcBef>
                <a:spcPts val="40"/>
              </a:spcBef>
            </a:pPr>
            <a:fld id="{81D60167-4931-47E6-BA6A-407CBD079E47}" type="slidenum">
              <a:rPr lang="en-US" spc="-50" smtClean="0"/>
              <a:pPr marL="3303904">
                <a:spcBef>
                  <a:spcPts val="40"/>
                </a:spcBef>
              </a:pPr>
              <a:t>‹#›</a:t>
            </a:fld>
            <a:r>
              <a:rPr lang="en-US" spc="-50" dirty="0"/>
              <a:t> of max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39" y="6623992"/>
            <a:ext cx="2206625" cy="186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85"/>
              </a:lnSpc>
            </a:pPr>
            <a:r>
              <a:rPr sz="1200" b="1" spc="-10" dirty="0">
                <a:solidFill>
                  <a:srgbClr val="7F8FA9"/>
                </a:solidFill>
                <a:latin typeface="Calibri"/>
                <a:cs typeface="Calibri"/>
              </a:rPr>
              <a:t>Algorithmic</a:t>
            </a:r>
            <a:r>
              <a:rPr sz="1200" b="1" spc="80" dirty="0">
                <a:solidFill>
                  <a:srgbClr val="7F8FA9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7F8FA9"/>
                </a:solidFill>
                <a:latin typeface="Calibri"/>
                <a:cs typeface="Calibri"/>
              </a:rPr>
              <a:t>Intelligence</a:t>
            </a:r>
            <a:r>
              <a:rPr sz="1200" b="1" spc="-5" dirty="0">
                <a:solidFill>
                  <a:srgbClr val="7F8FA9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7F8FA9"/>
                </a:solidFill>
                <a:latin typeface="Calibri"/>
                <a:cs typeface="Calibri"/>
              </a:rPr>
              <a:t>Laboratory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642100"/>
            <a:ext cx="2552700" cy="215900"/>
          </a:xfrm>
          <a:custGeom>
            <a:avLst/>
            <a:gdLst/>
            <a:ahLst/>
            <a:cxnLst/>
            <a:rect l="l" t="t" r="r" b="b"/>
            <a:pathLst>
              <a:path w="2552700" h="215900">
                <a:moveTo>
                  <a:pt x="2552700" y="0"/>
                </a:moveTo>
                <a:lnTo>
                  <a:pt x="0" y="0"/>
                </a:lnTo>
                <a:lnTo>
                  <a:pt x="0" y="215900"/>
                </a:lnTo>
                <a:lnTo>
                  <a:pt x="2552700" y="215900"/>
                </a:lnTo>
                <a:lnTo>
                  <a:pt x="25527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240666" y="100114"/>
            <a:ext cx="4255133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spc="80" dirty="0">
                <a:solidFill>
                  <a:srgbClr val="1F497D"/>
                </a:solidFill>
                <a:latin typeface="Calibri"/>
                <a:cs typeface="Calibri"/>
              </a:rPr>
              <a:t>Advanced Battery Manufacturing Systems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4150" y="412750"/>
            <a:ext cx="8785225" cy="0"/>
          </a:xfrm>
          <a:custGeom>
            <a:avLst/>
            <a:gdLst/>
            <a:ahLst/>
            <a:cxnLst/>
            <a:rect l="l" t="t" r="r" b="b"/>
            <a:pathLst>
              <a:path w="8785225">
                <a:moveTo>
                  <a:pt x="0" y="0"/>
                </a:moveTo>
                <a:lnTo>
                  <a:pt x="8784976" y="1"/>
                </a:lnTo>
              </a:path>
            </a:pathLst>
          </a:custGeom>
          <a:ln w="12700">
            <a:solidFill>
              <a:srgbClr val="44546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1676401" y="3025921"/>
            <a:ext cx="5791199" cy="8407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8765" marR="5080" indent="-1536700" algn="ctr">
              <a:lnSpc>
                <a:spcPct val="125000"/>
              </a:lnSpc>
              <a:spcBef>
                <a:spcPts val="100"/>
              </a:spcBef>
            </a:pPr>
            <a:r>
              <a:rPr lang="en-US" sz="2200" b="1" dirty="0">
                <a:solidFill>
                  <a:srgbClr val="0070C0"/>
                </a:solidFill>
                <a:latin typeface="Calibri"/>
                <a:cs typeface="Calibri"/>
              </a:rPr>
              <a:t>Course</a:t>
            </a:r>
            <a:r>
              <a:rPr sz="2200" b="1" dirty="0">
                <a:solidFill>
                  <a:srgbClr val="0070C0"/>
                </a:solidFill>
                <a:latin typeface="Calibri"/>
                <a:cs typeface="Calibri"/>
              </a:rPr>
              <a:t>:</a:t>
            </a:r>
            <a:r>
              <a:rPr sz="2200" b="1" spc="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lang="en-US" sz="2200" b="1" spc="15" dirty="0">
                <a:solidFill>
                  <a:srgbClr val="0070C0"/>
                </a:solidFill>
                <a:latin typeface="Calibri"/>
                <a:cs typeface="Calibri"/>
              </a:rPr>
              <a:t>Introduction to Printed Electronics</a:t>
            </a:r>
          </a:p>
          <a:p>
            <a:pPr marL="1548765" marR="5080" indent="-1536700" algn="ctr">
              <a:lnSpc>
                <a:spcPct val="125000"/>
              </a:lnSpc>
              <a:spcBef>
                <a:spcPts val="100"/>
              </a:spcBef>
            </a:pPr>
            <a:r>
              <a:rPr lang="en-US" sz="2200" b="1" spc="15" dirty="0">
                <a:solidFill>
                  <a:srgbClr val="0070C0"/>
                </a:solidFill>
                <a:latin typeface="Calibri"/>
                <a:cs typeface="Calibri"/>
              </a:rPr>
              <a:t>AI-Algorithms for Manufacturing Systems</a:t>
            </a:r>
            <a:r>
              <a:rPr sz="2200" b="1" spc="-1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endParaRPr sz="2200" dirty="0">
              <a:solidFill>
                <a:srgbClr val="0070C0"/>
              </a:solidFill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77672" y="1676400"/>
            <a:ext cx="6788657" cy="512961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308100" marR="5080" indent="-1295400" algn="l">
              <a:lnSpc>
                <a:spcPts val="3500"/>
              </a:lnSpc>
              <a:spcBef>
                <a:spcPts val="500"/>
              </a:spcBef>
            </a:pPr>
            <a:r>
              <a:rPr lang="en-US" sz="3200" dirty="0"/>
              <a:t>Anomaly Detection of Time Series Data:</a:t>
            </a:r>
            <a:endParaRPr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C560F8-93A0-EA4C-1629-792E6FEA8E22}"/>
              </a:ext>
            </a:extLst>
          </p:cNvPr>
          <p:cNvSpPr txBox="1"/>
          <p:nvPr/>
        </p:nvSpPr>
        <p:spPr>
          <a:xfrm>
            <a:off x="2859214" y="2134415"/>
            <a:ext cx="34255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spc="-10" dirty="0">
                <a:solidFill>
                  <a:srgbClr val="44546A"/>
                </a:solidFill>
                <a:latin typeface="+mn-lt"/>
              </a:rPr>
              <a:t>LSTM-Autoencoder</a:t>
            </a:r>
            <a:endParaRPr lang="en-US" sz="3200" b="1" dirty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2700" y="4495800"/>
            <a:ext cx="7718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+mn-lt"/>
              </a:rPr>
              <a:t>Presenter: </a:t>
            </a:r>
            <a:r>
              <a:rPr lang="en-US" sz="2000" b="1" dirty="0">
                <a:latin typeface="+mn-lt"/>
              </a:rPr>
              <a:t>Muhammad Abdullah Hassan Malik</a:t>
            </a:r>
          </a:p>
          <a:p>
            <a:pPr algn="ctr"/>
            <a:endParaRPr lang="en-US" sz="2000" b="1" dirty="0">
              <a:latin typeface="+mn-lt"/>
            </a:endParaRPr>
          </a:p>
          <a:p>
            <a:pPr algn="ctr"/>
            <a:r>
              <a:rPr lang="en-US" sz="2000" dirty="0">
                <a:latin typeface="+mn-lt"/>
              </a:rPr>
              <a:t>Department of Advanced Battery Manufacturing Systems</a:t>
            </a:r>
          </a:p>
          <a:p>
            <a:pPr algn="ctr"/>
            <a:r>
              <a:rPr lang="en-US" sz="2000" dirty="0">
                <a:latin typeface="+mn-lt"/>
              </a:rPr>
              <a:t>Korea Institute of Machinery and Materials (KIMM) </a:t>
            </a:r>
          </a:p>
          <a:p>
            <a:pPr algn="ctr"/>
            <a:r>
              <a:rPr lang="en-US" sz="2000" dirty="0">
                <a:latin typeface="+mn-lt"/>
              </a:rPr>
              <a:t>University of Science and Technology (UST)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Table of Contents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30258" y="1066800"/>
            <a:ext cx="7442141" cy="23247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 indent="274638">
              <a:lnSpc>
                <a:spcPct val="150000"/>
              </a:lnSpc>
              <a:spcBef>
                <a:spcPts val="100"/>
              </a:spcBef>
              <a:buFont typeface="Arial MT"/>
              <a:buChar char="•"/>
            </a:pPr>
            <a:r>
              <a:rPr lang="en-US" sz="2000" dirty="0">
                <a:latin typeface="Calibri"/>
                <a:cs typeface="Calibri"/>
              </a:rPr>
              <a:t>Anomaly Detection</a:t>
            </a:r>
          </a:p>
          <a:p>
            <a:pPr marL="114300" indent="274638">
              <a:lnSpc>
                <a:spcPct val="150000"/>
              </a:lnSpc>
              <a:spcBef>
                <a:spcPts val="100"/>
              </a:spcBef>
              <a:buFont typeface="Arial MT"/>
              <a:buChar char="•"/>
            </a:pPr>
            <a:r>
              <a:rPr lang="en-US" sz="2000" dirty="0">
                <a:latin typeface="Calibri"/>
                <a:cs typeface="Calibri"/>
              </a:rPr>
              <a:t>Autoencoders – Intro and Working Principle</a:t>
            </a:r>
          </a:p>
          <a:p>
            <a:pPr marL="114300" indent="274638">
              <a:lnSpc>
                <a:spcPct val="150000"/>
              </a:lnSpc>
              <a:spcBef>
                <a:spcPts val="100"/>
              </a:spcBef>
              <a:buFont typeface="Arial MT"/>
              <a:buChar char="•"/>
            </a:pPr>
            <a:r>
              <a:rPr lang="en-US" sz="2000" dirty="0">
                <a:latin typeface="Calibri"/>
                <a:cs typeface="Calibri"/>
              </a:rPr>
              <a:t>Long Short-Term Memory – Intro and Working Principle</a:t>
            </a:r>
          </a:p>
          <a:p>
            <a:pPr marL="114300" indent="274638">
              <a:lnSpc>
                <a:spcPct val="150000"/>
              </a:lnSpc>
              <a:spcBef>
                <a:spcPts val="100"/>
              </a:spcBef>
              <a:buFont typeface="Arial MT"/>
              <a:buChar char="•"/>
            </a:pPr>
            <a:r>
              <a:rPr lang="en-US" sz="2000" dirty="0">
                <a:latin typeface="Calibri"/>
                <a:cs typeface="Calibri"/>
              </a:rPr>
              <a:t>LSTM-AE – How do they come together for anomaly detection?</a:t>
            </a:r>
          </a:p>
          <a:p>
            <a:pPr marL="114300" indent="274638">
              <a:lnSpc>
                <a:spcPct val="150000"/>
              </a:lnSpc>
              <a:spcBef>
                <a:spcPts val="100"/>
              </a:spcBef>
              <a:buFont typeface="Arial MT"/>
              <a:buChar char="•"/>
            </a:pPr>
            <a:r>
              <a:rPr lang="en-US" sz="2000" dirty="0">
                <a:latin typeface="Calibri"/>
                <a:cs typeface="Calibri"/>
              </a:rPr>
              <a:t>Examples</a:t>
            </a:r>
          </a:p>
        </p:txBody>
      </p:sp>
      <p:sp>
        <p:nvSpPr>
          <p:cNvPr id="62" name="object 62"/>
          <p:cNvSpPr txBox="1">
            <a:spLocks noGrp="1"/>
          </p:cNvSpPr>
          <p:nvPr>
            <p:ph type="ftr" sz="quarter" idx="5"/>
          </p:nvPr>
        </p:nvSpPr>
        <p:spPr>
          <a:xfrm>
            <a:off x="78739" y="6611292"/>
            <a:ext cx="3197861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80" dirty="0">
                <a:solidFill>
                  <a:srgbClr val="1F497D"/>
                </a:solidFill>
              </a:rPr>
              <a:t>Advanced Battery Manufacturing Systems</a:t>
            </a:r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2</a:t>
            </a:fld>
            <a:r>
              <a:rPr lang="en-US" spc="-50" dirty="0"/>
              <a:t>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Anomaly and Anomaly Detection</a:t>
            </a:r>
            <a:endParaRPr spc="-10" dirty="0"/>
          </a:p>
        </p:txBody>
      </p:sp>
      <p:sp>
        <p:nvSpPr>
          <p:cNvPr id="62" name="object 62"/>
          <p:cNvSpPr txBox="1">
            <a:spLocks noGrp="1"/>
          </p:cNvSpPr>
          <p:nvPr>
            <p:ph type="ftr" sz="quarter" idx="5"/>
          </p:nvPr>
        </p:nvSpPr>
        <p:spPr>
          <a:xfrm>
            <a:off x="78739" y="6611292"/>
            <a:ext cx="3197861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80" dirty="0">
                <a:solidFill>
                  <a:srgbClr val="1F497D"/>
                </a:solidFill>
              </a:rPr>
              <a:t>Advanced Battery Manufacturing Systems</a:t>
            </a:r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3</a:t>
            </a:fld>
            <a:r>
              <a:rPr lang="en-US" spc="-50" dirty="0"/>
              <a:t> of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401" y="850872"/>
            <a:ext cx="3856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An anomaly is defined as any 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irregularity or abnormality </a:t>
            </a:r>
            <a:r>
              <a:rPr lang="en-US" dirty="0">
                <a:latin typeface="+mn-lt"/>
              </a:rPr>
              <a:t>in the data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4191000" y="762002"/>
            <a:ext cx="4724400" cy="1230874"/>
            <a:chOff x="1828800" y="2816024"/>
            <a:chExt cx="5649113" cy="1740174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28800" y="2816024"/>
              <a:ext cx="5649113" cy="1438476"/>
            </a:xfrm>
            <a:prstGeom prst="rect">
              <a:avLst/>
            </a:prstGeom>
          </p:spPr>
        </p:pic>
        <p:sp>
          <p:nvSpPr>
            <p:cNvPr id="10" name="타원 9"/>
            <p:cNvSpPr/>
            <p:nvPr/>
          </p:nvSpPr>
          <p:spPr>
            <a:xfrm>
              <a:off x="3739101" y="3267421"/>
              <a:ext cx="914255" cy="914255"/>
            </a:xfrm>
            <a:prstGeom prst="ellipse">
              <a:avLst/>
            </a:prstGeom>
            <a:noFill/>
            <a:ln>
              <a:solidFill>
                <a:srgbClr val="283599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6" name="그룹 15"/>
            <p:cNvGrpSpPr/>
            <p:nvPr/>
          </p:nvGrpSpPr>
          <p:grpSpPr>
            <a:xfrm>
              <a:off x="4519466" y="4047786"/>
              <a:ext cx="1119334" cy="448014"/>
              <a:chOff x="4519466" y="4047786"/>
              <a:chExt cx="1119334" cy="448014"/>
            </a:xfrm>
          </p:grpSpPr>
          <p:cxnSp>
            <p:nvCxnSpPr>
              <p:cNvPr id="12" name="직선 연결선 11"/>
              <p:cNvCxnSpPr>
                <a:stCxn id="10" idx="5"/>
              </p:cNvCxnSpPr>
              <p:nvPr/>
            </p:nvCxnSpPr>
            <p:spPr>
              <a:xfrm>
                <a:off x="4519466" y="4047786"/>
                <a:ext cx="433534" cy="448014"/>
              </a:xfrm>
              <a:prstGeom prst="line">
                <a:avLst/>
              </a:prstGeom>
              <a:ln>
                <a:solidFill>
                  <a:srgbClr val="2835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직선 연결선 13"/>
              <p:cNvCxnSpPr/>
              <p:nvPr/>
            </p:nvCxnSpPr>
            <p:spPr>
              <a:xfrm>
                <a:off x="4953000" y="4495800"/>
                <a:ext cx="685800" cy="0"/>
              </a:xfrm>
              <a:prstGeom prst="line">
                <a:avLst/>
              </a:prstGeom>
              <a:ln>
                <a:solidFill>
                  <a:srgbClr val="2835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/>
            <p:cNvSpPr txBox="1"/>
            <p:nvPr/>
          </p:nvSpPr>
          <p:spPr>
            <a:xfrm>
              <a:off x="4884931" y="4164585"/>
              <a:ext cx="952917" cy="3916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Anomaly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334401" y="2105352"/>
            <a:ext cx="4847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For any system anomalies in data can point to failures, inefficiencies or abrupt changes.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801" y="3036666"/>
            <a:ext cx="7336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Examples can include: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Vibration anomalies in motor data, pointing to broken bearings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Anomalies in ECG data, pointing to heart problems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Valve actuation timing, pointing to power problems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10481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All theses issues can result in potentially major issues, which is why </a:t>
            </a:r>
            <a:r>
              <a:rPr lang="en-US" b="1" dirty="0">
                <a:solidFill>
                  <a:srgbClr val="00B050"/>
                </a:solidFill>
                <a:latin typeface="+mn-lt"/>
              </a:rPr>
              <a:t>anomaly detection</a:t>
            </a:r>
            <a:r>
              <a:rPr lang="en-US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dirty="0">
                <a:latin typeface="+mn-lt"/>
              </a:rPr>
              <a:t>is important!</a:t>
            </a:r>
            <a:endParaRPr lang="en-US" b="1" dirty="0">
              <a:latin typeface="+mn-lt"/>
            </a:endParaRPr>
          </a:p>
        </p:txBody>
      </p:sp>
      <p:pic>
        <p:nvPicPr>
          <p:cNvPr id="1030" name="Picture 6" descr="Data Insights Icon with Magnifying Glass – Royalty-Free Vector | VectorStock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34"/>
          <a:stretch/>
        </p:blipFill>
        <p:spPr bwMode="auto">
          <a:xfrm>
            <a:off x="5943600" y="4521700"/>
            <a:ext cx="1825625" cy="180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267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Autoencoders - Introduction</a:t>
            </a:r>
            <a:endParaRPr spc="-10" dirty="0"/>
          </a:p>
        </p:txBody>
      </p:sp>
      <p:sp>
        <p:nvSpPr>
          <p:cNvPr id="62" name="object 62"/>
          <p:cNvSpPr txBox="1">
            <a:spLocks noGrp="1"/>
          </p:cNvSpPr>
          <p:nvPr>
            <p:ph type="ftr" sz="quarter" idx="5"/>
          </p:nvPr>
        </p:nvSpPr>
        <p:spPr>
          <a:xfrm>
            <a:off x="78739" y="6611292"/>
            <a:ext cx="3197861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80" dirty="0">
                <a:solidFill>
                  <a:srgbClr val="1F497D"/>
                </a:solidFill>
              </a:rPr>
              <a:t>Advanced Battery Manufacturing Systems</a:t>
            </a:r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4</a:t>
            </a:fld>
            <a:r>
              <a:rPr lang="en-US" spc="-50" dirty="0"/>
              <a:t> of 11</a:t>
            </a:r>
          </a:p>
        </p:txBody>
      </p:sp>
      <p:pic>
        <p:nvPicPr>
          <p:cNvPr id="2052" name="Picture 4" descr="File:Autoencoder schema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791735"/>
            <a:ext cx="3044825" cy="2769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34401" y="791735"/>
            <a:ext cx="4770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</a:t>
            </a:r>
            <a:r>
              <a:rPr lang="en-US" i="1" dirty="0"/>
              <a:t>autoencoder </a:t>
            </a:r>
            <a:r>
              <a:rPr lang="en-US" dirty="0"/>
              <a:t>is a neural network trained to copy its input.</a:t>
            </a:r>
            <a:endParaRPr lang="en-US" i="1" dirty="0"/>
          </a:p>
        </p:txBody>
      </p:sp>
      <p:sp>
        <p:nvSpPr>
          <p:cNvPr id="22" name="TextBox 21"/>
          <p:cNvSpPr txBox="1"/>
          <p:nvPr/>
        </p:nvSpPr>
        <p:spPr>
          <a:xfrm>
            <a:off x="357261" y="1532591"/>
            <a:ext cx="4770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Two parts:</a:t>
            </a:r>
          </a:p>
          <a:p>
            <a:pPr marL="517525" indent="-288925">
              <a:buFont typeface="+mj-lt"/>
              <a:buAutoNum type="arabicPeriod"/>
            </a:pPr>
            <a:r>
              <a:rPr lang="en-US" i="1" dirty="0"/>
              <a:t>Encoder</a:t>
            </a:r>
            <a:r>
              <a:rPr lang="en-US" dirty="0"/>
              <a:t>, that codes the input,</a:t>
            </a:r>
          </a:p>
          <a:p>
            <a:pPr marL="517525" indent="-288925">
              <a:buFont typeface="+mj-lt"/>
              <a:buAutoNum type="arabicPeriod"/>
            </a:pPr>
            <a:r>
              <a:rPr lang="en-US" i="1" dirty="0"/>
              <a:t>Decoder</a:t>
            </a:r>
            <a:r>
              <a:rPr lang="en-US" dirty="0"/>
              <a:t>, that reconstructs the input from the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361" y="2915427"/>
            <a:ext cx="4770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Perfect autoencoder would act as an identity, </a:t>
            </a:r>
          </a:p>
          <a:p>
            <a:r>
              <a:rPr lang="en-US" i="1" dirty="0"/>
              <a:t> X = X’</a:t>
            </a:r>
          </a:p>
          <a:p>
            <a:r>
              <a:rPr lang="en-US" dirty="0"/>
              <a:t>However, this is </a:t>
            </a:r>
            <a:r>
              <a:rPr lang="en-US" b="1" i="1" dirty="0"/>
              <a:t>useless!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70457"/>
            <a:ext cx="838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Autoencoders are constrained to copy approximately, through different methods: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US" dirty="0"/>
              <a:t>Dimension reduction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US" dirty="0"/>
              <a:t>Noise introduction in input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US" dirty="0"/>
              <a:t>Penalties in the loss function</a:t>
            </a:r>
          </a:p>
        </p:txBody>
      </p:sp>
    </p:spTree>
    <p:extLst>
      <p:ext uri="{BB962C8B-B14F-4D97-AF65-F5344CB8AC3E}">
        <p14:creationId xmlns:p14="http://schemas.microsoft.com/office/powerpoint/2010/main" val="3124069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Autoencoders – Working Principle</a:t>
            </a:r>
            <a:endParaRPr spc="-1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5</a:t>
            </a:fld>
            <a:r>
              <a:rPr lang="en-US" spc="-50" dirty="0"/>
              <a:t> of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402" y="696865"/>
            <a:ext cx="48471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Autoencoders can be classified as a type of feedforward network, composed of 3 layers:</a:t>
            </a:r>
          </a:p>
          <a:p>
            <a:pPr marL="685800" indent="-342900">
              <a:buFont typeface="+mj-lt"/>
              <a:buAutoNum type="arabicPeriod"/>
            </a:pPr>
            <a:r>
              <a:rPr lang="en-US" dirty="0"/>
              <a:t>Input Layer</a:t>
            </a:r>
          </a:p>
          <a:p>
            <a:pPr marL="685800" indent="-342900">
              <a:buFont typeface="+mj-lt"/>
              <a:buAutoNum type="arabicPeriod"/>
            </a:pPr>
            <a:r>
              <a:rPr lang="en-US" dirty="0"/>
              <a:t>(Multiple) Hidden Layer </a:t>
            </a:r>
          </a:p>
          <a:p>
            <a:pPr marL="685800" indent="-342900">
              <a:buFont typeface="+mj-lt"/>
              <a:buAutoNum type="arabicPeriod"/>
            </a:pPr>
            <a:r>
              <a:rPr lang="en-US" dirty="0"/>
              <a:t>Output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401" y="2283586"/>
            <a:ext cx="45423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hidden layers contain activation functions that act to code and decode the input. Common functions are:</a:t>
            </a:r>
          </a:p>
          <a:p>
            <a:pPr marL="685800" indent="-342900">
              <a:buFont typeface="Arial" panose="020B0604020202020204" pitchFamily="34" charset="0"/>
              <a:buChar char="•"/>
            </a:pPr>
            <a:r>
              <a:rPr lang="en-US" dirty="0"/>
              <a:t>Sigmoid</a:t>
            </a:r>
          </a:p>
          <a:p>
            <a:pPr marL="685800" indent="-342900">
              <a:buFont typeface="Arial" panose="020B0604020202020204" pitchFamily="34" charset="0"/>
              <a:buChar char="•"/>
            </a:pPr>
            <a:r>
              <a:rPr lang="en-US" dirty="0"/>
              <a:t>ReLU</a:t>
            </a:r>
          </a:p>
          <a:p>
            <a:pPr marL="685800" indent="-342900">
              <a:buFont typeface="Arial" panose="020B0604020202020204" pitchFamily="34" charset="0"/>
              <a:buChar char="•"/>
            </a:pPr>
            <a:r>
              <a:rPr lang="en-US" dirty="0"/>
              <a:t>Linear</a:t>
            </a:r>
          </a:p>
        </p:txBody>
      </p:sp>
      <p:sp>
        <p:nvSpPr>
          <p:cNvPr id="26" name="object 62"/>
          <p:cNvSpPr txBox="1">
            <a:spLocks noGrp="1"/>
          </p:cNvSpPr>
          <p:nvPr>
            <p:ph type="ftr" sz="quarter" idx="5"/>
          </p:nvPr>
        </p:nvSpPr>
        <p:spPr>
          <a:xfrm>
            <a:off x="78739" y="6611292"/>
            <a:ext cx="3197861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80" dirty="0">
                <a:solidFill>
                  <a:srgbClr val="1F497D"/>
                </a:solidFill>
              </a:rPr>
              <a:t>Advanced Battery Manufacturing Systems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19161" y="5104683"/>
            <a:ext cx="4405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Autoencoder loss is most popularly measured through mean squared error:</a:t>
            </a: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37" r="16842"/>
          <a:stretch/>
        </p:blipFill>
        <p:spPr>
          <a:xfrm>
            <a:off x="4651830" y="990600"/>
            <a:ext cx="4492170" cy="411408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34401" y="4061855"/>
            <a:ext cx="4542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summary,</a:t>
            </a: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669" y="4478903"/>
            <a:ext cx="1472504" cy="439352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121" y="5751014"/>
            <a:ext cx="2133600" cy="72928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953000" y="5395580"/>
            <a:ext cx="365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autoencoder performs backpropagation to update weights.</a:t>
            </a:r>
          </a:p>
        </p:txBody>
      </p:sp>
    </p:spTree>
    <p:extLst>
      <p:ext uri="{BB962C8B-B14F-4D97-AF65-F5344CB8AC3E}">
        <p14:creationId xmlns:p14="http://schemas.microsoft.com/office/powerpoint/2010/main" val="3150418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LSTM - Introduction</a:t>
            </a:r>
            <a:endParaRPr spc="-10" dirty="0"/>
          </a:p>
        </p:txBody>
      </p:sp>
      <p:sp>
        <p:nvSpPr>
          <p:cNvPr id="62" name="object 62"/>
          <p:cNvSpPr txBox="1">
            <a:spLocks noGrp="1"/>
          </p:cNvSpPr>
          <p:nvPr>
            <p:ph type="ftr" sz="quarter" idx="5"/>
          </p:nvPr>
        </p:nvSpPr>
        <p:spPr>
          <a:xfrm>
            <a:off x="78739" y="6611292"/>
            <a:ext cx="3197861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80" dirty="0">
                <a:solidFill>
                  <a:srgbClr val="1F497D"/>
                </a:solidFill>
              </a:rPr>
              <a:t>Advanced Battery Manufacturing Systems</a:t>
            </a:r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6</a:t>
            </a:fld>
            <a:r>
              <a:rPr lang="en-US" spc="-50" dirty="0"/>
              <a:t> of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401" y="762000"/>
            <a:ext cx="4770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i="1" dirty="0"/>
              <a:t>LSTM</a:t>
            </a:r>
            <a:r>
              <a:rPr lang="en-US" dirty="0"/>
              <a:t> </a:t>
            </a:r>
            <a:r>
              <a:rPr lang="en-US" i="1" dirty="0"/>
              <a:t>(Long Short-Term Memory) </a:t>
            </a:r>
            <a:r>
              <a:rPr lang="en-US" dirty="0"/>
              <a:t>is a type of recurrent neural network (RNN).</a:t>
            </a:r>
            <a:r>
              <a:rPr lang="en-US" i="1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28D03-F1BD-1625-782F-4A2FE658A7A4}"/>
              </a:ext>
            </a:extLst>
          </p:cNvPr>
          <p:cNvSpPr txBox="1"/>
          <p:nvPr/>
        </p:nvSpPr>
        <p:spPr>
          <a:xfrm>
            <a:off x="5934443" y="1374877"/>
            <a:ext cx="28509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07BAB8"/>
                </a:solidFill>
              </a:rPr>
              <a:t>RNNs are networks that utilize data from previous neurons to capture sequential dependencies!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E6FF27-2836-6DF4-DACC-AC1097EBD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581" y="2113541"/>
            <a:ext cx="2058717" cy="20807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8E1C8C-8685-EC59-27FE-51388D736E86}"/>
              </a:ext>
            </a:extLst>
          </p:cNvPr>
          <p:cNvSpPr txBox="1"/>
          <p:nvPr/>
        </p:nvSpPr>
        <p:spPr>
          <a:xfrm>
            <a:off x="334400" y="1532259"/>
            <a:ext cx="515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LSTM was created to solve the </a:t>
            </a:r>
            <a:r>
              <a:rPr lang="en-US" i="1" dirty="0"/>
              <a:t>vanishing gradient </a:t>
            </a:r>
            <a:r>
              <a:rPr lang="en-US" dirty="0"/>
              <a:t>problem: where when propagation occurs, the weights become very small due to consecutive multiplications. This results in the gradient </a:t>
            </a:r>
            <a:r>
              <a:rPr lang="en-US" i="1" dirty="0"/>
              <a:t>vanishing, </a:t>
            </a:r>
            <a:r>
              <a:rPr lang="en-US" dirty="0"/>
              <a:t>and the model slowing or halting.</a:t>
            </a:r>
            <a:endParaRPr lang="en-US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699739-5262-A09A-35D3-8458BA315AE0}"/>
              </a:ext>
            </a:extLst>
          </p:cNvPr>
          <p:cNvSpPr txBox="1"/>
          <p:nvPr/>
        </p:nvSpPr>
        <p:spPr>
          <a:xfrm>
            <a:off x="334400" y="3292161"/>
            <a:ext cx="47709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Hence, the LSTM is best suited to tasks where the next data will depend on previous data. As examples:</a:t>
            </a:r>
          </a:p>
          <a:p>
            <a:pPr marL="803275" indent="-285750">
              <a:buFont typeface="Arial" panose="020B0604020202020204" pitchFamily="34" charset="0"/>
              <a:buChar char="•"/>
            </a:pPr>
            <a:r>
              <a:rPr lang="en-US" dirty="0"/>
              <a:t>Time series data</a:t>
            </a:r>
          </a:p>
          <a:p>
            <a:pPr marL="803275" indent="-285750">
              <a:buFont typeface="Arial" panose="020B0604020202020204" pitchFamily="34" charset="0"/>
              <a:buChar char="•"/>
            </a:pPr>
            <a:r>
              <a:rPr lang="en-US" dirty="0"/>
              <a:t>Natural Language Processing</a:t>
            </a:r>
          </a:p>
          <a:p>
            <a:pPr marL="803275" indent="-285750">
              <a:buFont typeface="Arial" panose="020B0604020202020204" pitchFamily="34" charset="0"/>
              <a:buChar char="•"/>
            </a:pPr>
            <a:r>
              <a:rPr lang="en-US" dirty="0"/>
              <a:t>Speech recognition</a:t>
            </a:r>
          </a:p>
          <a:p>
            <a:pPr marL="803275" indent="-285750">
              <a:buFont typeface="Arial" panose="020B0604020202020204" pitchFamily="34" charset="0"/>
              <a:buChar char="•"/>
            </a:pPr>
            <a:r>
              <a:rPr lang="en-US" dirty="0"/>
              <a:t>Healthcare</a:t>
            </a:r>
          </a:p>
          <a:p>
            <a:pPr marL="803275" indent="-285750">
              <a:buFont typeface="Arial" panose="020B0604020202020204" pitchFamily="34" charset="0"/>
              <a:buChar char="•"/>
            </a:pPr>
            <a:r>
              <a:rPr lang="en-US" dirty="0"/>
              <a:t>Energy forecasting</a:t>
            </a:r>
          </a:p>
        </p:txBody>
      </p:sp>
    </p:spTree>
    <p:extLst>
      <p:ext uri="{BB962C8B-B14F-4D97-AF65-F5344CB8AC3E}">
        <p14:creationId xmlns:p14="http://schemas.microsoft.com/office/powerpoint/2010/main" val="2803015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LSTM – Working Principle</a:t>
            </a:r>
            <a:endParaRPr spc="-10" dirty="0"/>
          </a:p>
        </p:txBody>
      </p:sp>
      <p:sp>
        <p:nvSpPr>
          <p:cNvPr id="62" name="object 62"/>
          <p:cNvSpPr txBox="1">
            <a:spLocks noGrp="1"/>
          </p:cNvSpPr>
          <p:nvPr>
            <p:ph type="ftr" sz="quarter" idx="5"/>
          </p:nvPr>
        </p:nvSpPr>
        <p:spPr>
          <a:xfrm>
            <a:off x="78739" y="6611292"/>
            <a:ext cx="3197861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80" dirty="0">
                <a:solidFill>
                  <a:srgbClr val="1F497D"/>
                </a:solidFill>
              </a:rPr>
              <a:t>Advanced Battery Manufacturing Systems</a:t>
            </a:r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7</a:t>
            </a:fld>
            <a:r>
              <a:rPr lang="en-US" spc="-50" dirty="0"/>
              <a:t> of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401" y="914400"/>
            <a:ext cx="29421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LSTM is based on a cell with 3 gates:</a:t>
            </a:r>
          </a:p>
          <a:p>
            <a:pPr marL="803275" indent="-285750">
              <a:buFont typeface="Arial" panose="020B0604020202020204" pitchFamily="34" charset="0"/>
              <a:buChar char="•"/>
            </a:pPr>
            <a:r>
              <a:rPr lang="en-US" dirty="0"/>
              <a:t>Forget gate</a:t>
            </a:r>
          </a:p>
          <a:p>
            <a:pPr marL="803275" indent="-285750">
              <a:buFont typeface="Arial" panose="020B0604020202020204" pitchFamily="34" charset="0"/>
              <a:buChar char="•"/>
            </a:pPr>
            <a:r>
              <a:rPr lang="en-US" dirty="0"/>
              <a:t>Input gate</a:t>
            </a:r>
          </a:p>
          <a:p>
            <a:pPr marL="803275" indent="-285750">
              <a:buFont typeface="Arial" panose="020B0604020202020204" pitchFamily="34" charset="0"/>
              <a:buChar char="•"/>
            </a:pPr>
            <a:r>
              <a:rPr lang="en-US" dirty="0"/>
              <a:t>Output gate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BA8450-FEE2-0C2D-DF45-7512C496BF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0223" y="809105"/>
            <a:ext cx="5744209" cy="186025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D60D66-7638-DF24-56D4-0BF8286A1087}"/>
              </a:ext>
            </a:extLst>
          </p:cNvPr>
          <p:cNvSpPr txBox="1"/>
          <p:nvPr/>
        </p:nvSpPr>
        <p:spPr>
          <a:xfrm>
            <a:off x="334401" y="2988945"/>
            <a:ext cx="82761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forget gate takes information from the last step hidden state and new input state and adds to the cell state.</a:t>
            </a:r>
          </a:p>
          <a:p>
            <a:r>
              <a:rPr lang="en-US" dirty="0"/>
              <a:t>The input gate takes the same information as the forget gate and updates the cell state.</a:t>
            </a:r>
            <a:endParaRPr lang="en-US" i="1" dirty="0"/>
          </a:p>
          <a:p>
            <a:r>
              <a:rPr lang="en-US" dirty="0"/>
              <a:t>The output gate takes the current cell and input state, and the last hidden state, and creates the current hidden state.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56EA48-44BD-7BB2-DA02-F64AEA6C3ECE}"/>
              </a:ext>
            </a:extLst>
          </p:cNvPr>
          <p:cNvSpPr txBox="1"/>
          <p:nvPr/>
        </p:nvSpPr>
        <p:spPr>
          <a:xfrm>
            <a:off x="334401" y="4848566"/>
            <a:ext cx="8276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So, simply put,</a:t>
            </a:r>
          </a:p>
          <a:p>
            <a:pPr marL="803275" indent="-285750">
              <a:buFont typeface="Arial" panose="020B0604020202020204" pitchFamily="34" charset="0"/>
              <a:buChar char="•"/>
            </a:pPr>
            <a:r>
              <a:rPr lang="en-US" dirty="0"/>
              <a:t>The forget gate decides </a:t>
            </a:r>
            <a:r>
              <a:rPr lang="en-US" i="1" dirty="0"/>
              <a:t>how much to forget.</a:t>
            </a:r>
          </a:p>
          <a:p>
            <a:pPr marL="803275" indent="-285750">
              <a:buFont typeface="Arial" panose="020B0604020202020204" pitchFamily="34" charset="0"/>
              <a:buChar char="•"/>
            </a:pPr>
            <a:r>
              <a:rPr lang="en-US" dirty="0"/>
              <a:t>The input gate decides </a:t>
            </a:r>
            <a:r>
              <a:rPr lang="en-US" i="1" dirty="0"/>
              <a:t>how much to learn.</a:t>
            </a:r>
          </a:p>
          <a:p>
            <a:pPr marL="803275" indent="-285750">
              <a:buFont typeface="Arial" panose="020B0604020202020204" pitchFamily="34" charset="0"/>
              <a:buChar char="•"/>
            </a:pPr>
            <a:r>
              <a:rPr lang="en-US" dirty="0"/>
              <a:t>The output gate decides </a:t>
            </a:r>
            <a:r>
              <a:rPr lang="en-US" i="1" dirty="0"/>
              <a:t>how much to remember.</a:t>
            </a:r>
          </a:p>
        </p:txBody>
      </p:sp>
    </p:spTree>
    <p:extLst>
      <p:ext uri="{BB962C8B-B14F-4D97-AF65-F5344CB8AC3E}">
        <p14:creationId xmlns:p14="http://schemas.microsoft.com/office/powerpoint/2010/main" val="846993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LSTM – Working Principle</a:t>
            </a:r>
            <a:endParaRPr spc="-10" dirty="0"/>
          </a:p>
        </p:txBody>
      </p:sp>
      <p:sp>
        <p:nvSpPr>
          <p:cNvPr id="62" name="object 62"/>
          <p:cNvSpPr txBox="1">
            <a:spLocks noGrp="1"/>
          </p:cNvSpPr>
          <p:nvPr>
            <p:ph type="ftr" sz="quarter" idx="5"/>
          </p:nvPr>
        </p:nvSpPr>
        <p:spPr>
          <a:xfrm>
            <a:off x="78739" y="6611292"/>
            <a:ext cx="3197861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80" dirty="0">
                <a:solidFill>
                  <a:srgbClr val="1F497D"/>
                </a:solidFill>
              </a:rPr>
              <a:t>Advanced Battery Manufacturing Systems</a:t>
            </a:r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8</a:t>
            </a:fld>
            <a:r>
              <a:rPr lang="en-US" spc="-50" dirty="0"/>
              <a:t> of 11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BA8450-FEE2-0C2D-DF45-7512C496BF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95800" y="809105"/>
            <a:ext cx="4262358" cy="26960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7CD638-D412-8632-E336-6987F2852AB1}"/>
              </a:ext>
            </a:extLst>
          </p:cNvPr>
          <p:cNvSpPr txBox="1"/>
          <p:nvPr/>
        </p:nvSpPr>
        <p:spPr>
          <a:xfrm>
            <a:off x="334401" y="914400"/>
            <a:ext cx="370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Hence in mathematical terms:</a:t>
            </a:r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1FC6677-54CF-FFCC-3D05-580210FE32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06" y="1390070"/>
            <a:ext cx="3144588" cy="20240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E226064-2165-8A0A-476C-A7F4EEC4E4FB}"/>
              </a:ext>
            </a:extLst>
          </p:cNvPr>
          <p:cNvSpPr txBox="1"/>
          <p:nvPr/>
        </p:nvSpPr>
        <p:spPr>
          <a:xfrm>
            <a:off x="360121" y="3742008"/>
            <a:ext cx="42623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LSTMs are trained through </a:t>
            </a:r>
            <a:r>
              <a:rPr lang="en-US" i="1" dirty="0"/>
              <a:t>backpropagation through time,</a:t>
            </a:r>
            <a:r>
              <a:rPr lang="en-US" dirty="0"/>
              <a:t> where backpropagation occurs through all timesteps.</a:t>
            </a:r>
            <a:endParaRPr lang="en-US" i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183A1F2-B3A5-B872-B1E3-E06EDB786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21" y="4942337"/>
            <a:ext cx="38100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1806ED8-DB55-C339-FEE3-0724B063E0C6}"/>
              </a:ext>
            </a:extLst>
          </p:cNvPr>
          <p:cNvSpPr txBox="1"/>
          <p:nvPr/>
        </p:nvSpPr>
        <p:spPr>
          <a:xfrm>
            <a:off x="5029200" y="3733204"/>
            <a:ext cx="396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loss function can be varied according to the nature of the problem the LSTM is being used to solve.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519786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LSTM-AE – Together for Anomaly Detection</a:t>
            </a:r>
            <a:endParaRPr spc="-10" dirty="0"/>
          </a:p>
        </p:txBody>
      </p:sp>
      <p:sp>
        <p:nvSpPr>
          <p:cNvPr id="62" name="object 62"/>
          <p:cNvSpPr txBox="1">
            <a:spLocks noGrp="1"/>
          </p:cNvSpPr>
          <p:nvPr>
            <p:ph type="ftr" sz="quarter" idx="5"/>
          </p:nvPr>
        </p:nvSpPr>
        <p:spPr>
          <a:xfrm>
            <a:off x="78739" y="6611292"/>
            <a:ext cx="3197861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80" dirty="0">
                <a:solidFill>
                  <a:srgbClr val="1F497D"/>
                </a:solidFill>
              </a:rPr>
              <a:t>Advanced Battery Manufacturing Systems</a:t>
            </a:r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9</a:t>
            </a:fld>
            <a:r>
              <a:rPr lang="en-US" spc="-50" dirty="0"/>
              <a:t> of 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7CD638-D412-8632-E336-6987F2852AB1}"/>
              </a:ext>
            </a:extLst>
          </p:cNvPr>
          <p:cNvSpPr txBox="1"/>
          <p:nvPr/>
        </p:nvSpPr>
        <p:spPr>
          <a:xfrm>
            <a:off x="334401" y="914400"/>
            <a:ext cx="4770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Most time series data is dependent on its history. To capture that dependency, we can use the power of LSTM combined with the detection capabilities of AE.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2587DF2-DA8F-1970-2590-3F65D9EF5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7784" y="1099066"/>
            <a:ext cx="3556411" cy="2406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89475E-0F0D-9D6E-F0C0-71DA4DC9ECD4}"/>
              </a:ext>
            </a:extLst>
          </p:cNvPr>
          <p:cNvSpPr txBox="1"/>
          <p:nvPr/>
        </p:nvSpPr>
        <p:spPr>
          <a:xfrm>
            <a:off x="334401" y="2582039"/>
            <a:ext cx="4770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model uses LSTMs as both encoder and decoder. The encoder learns the time series data, and creates a fixed vector representation.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6B2A4A-BD70-3902-F6B0-6AC47D960AEA}"/>
              </a:ext>
            </a:extLst>
          </p:cNvPr>
          <p:cNvSpPr txBox="1"/>
          <p:nvPr/>
        </p:nvSpPr>
        <p:spPr>
          <a:xfrm>
            <a:off x="334401" y="3901346"/>
            <a:ext cx="4770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decoder uses the vector to reconstruct the original signal, often using its own previous prediction to guide itself.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C0F4C0A-AF89-D086-6D01-1182A67CCC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943" y="3581400"/>
            <a:ext cx="124091" cy="1940058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083D13F-EA63-4840-08B3-43D3701E71C6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7125988" y="2958618"/>
            <a:ext cx="1" cy="6227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BB33C46-A7BB-E97F-110B-30C178F0390A}"/>
              </a:ext>
            </a:extLst>
          </p:cNvPr>
          <p:cNvSpPr txBox="1"/>
          <p:nvPr/>
        </p:nvSpPr>
        <p:spPr>
          <a:xfrm>
            <a:off x="7144036" y="36576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Compressed Feature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B7DE29-A6B9-BB18-D035-9339D6378A84}"/>
              </a:ext>
            </a:extLst>
          </p:cNvPr>
          <p:cNvSpPr txBox="1"/>
          <p:nvPr/>
        </p:nvSpPr>
        <p:spPr>
          <a:xfrm>
            <a:off x="304800" y="5059793"/>
            <a:ext cx="4770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reconstruction error is compared, and anomalies are marked based on a predefined threshold.</a:t>
            </a:r>
          </a:p>
        </p:txBody>
      </p:sp>
    </p:spTree>
    <p:extLst>
      <p:ext uri="{BB962C8B-B14F-4D97-AF65-F5344CB8AC3E}">
        <p14:creationId xmlns:p14="http://schemas.microsoft.com/office/powerpoint/2010/main" val="3944939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LSTM-AE – Together for Anomaly Detection</a:t>
            </a:r>
            <a:endParaRPr spc="-10" dirty="0"/>
          </a:p>
        </p:txBody>
      </p:sp>
      <p:sp>
        <p:nvSpPr>
          <p:cNvPr id="62" name="object 62"/>
          <p:cNvSpPr txBox="1">
            <a:spLocks noGrp="1"/>
          </p:cNvSpPr>
          <p:nvPr>
            <p:ph type="ftr" sz="quarter" idx="5"/>
          </p:nvPr>
        </p:nvSpPr>
        <p:spPr>
          <a:xfrm>
            <a:off x="78739" y="6611292"/>
            <a:ext cx="3197861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80" dirty="0">
                <a:solidFill>
                  <a:srgbClr val="1F497D"/>
                </a:solidFill>
              </a:rPr>
              <a:t>Advanced Battery Manufacturing Systems</a:t>
            </a:r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10</a:t>
            </a:fld>
            <a:r>
              <a:rPr lang="en-US" spc="-50" dirty="0"/>
              <a:t> of 11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6B8BA97-20A6-757A-A2A6-AFD3ED659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4193446"/>
            <a:ext cx="6781800" cy="17100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B3FEFF6-46C0-8FDE-065D-23485852489D}"/>
              </a:ext>
            </a:extLst>
          </p:cNvPr>
          <p:cNvSpPr txBox="1"/>
          <p:nvPr/>
        </p:nvSpPr>
        <p:spPr>
          <a:xfrm>
            <a:off x="1181100" y="5996930"/>
            <a:ext cx="65532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 sample from Malhotra 2016 - </a:t>
            </a:r>
            <a:r>
              <a:rPr lang="en-US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LSTM-based Encoder-Decoder for Multi-sensor Anomaly Detection.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FCAED4-05C9-8086-6D58-C641234FD0EA}"/>
              </a:ext>
            </a:extLst>
          </p:cNvPr>
          <p:cNvSpPr/>
          <p:nvPr/>
        </p:nvSpPr>
        <p:spPr>
          <a:xfrm>
            <a:off x="1104900" y="3931209"/>
            <a:ext cx="3429000" cy="201483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US" sz="1400" dirty="0">
                <a:solidFill>
                  <a:srgbClr val="00B050"/>
                </a:solidFill>
              </a:rPr>
              <a:t>Training Set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B327FD-092E-44BA-5754-7AA61CEAC6FE}"/>
              </a:ext>
            </a:extLst>
          </p:cNvPr>
          <p:cNvSpPr/>
          <p:nvPr/>
        </p:nvSpPr>
        <p:spPr>
          <a:xfrm>
            <a:off x="4593373" y="3931209"/>
            <a:ext cx="3429000" cy="20148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US" sz="1400" dirty="0">
                <a:solidFill>
                  <a:srgbClr val="FF0000"/>
                </a:solidFill>
              </a:rPr>
              <a:t>Test Set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CBF7B4-061D-975C-6ADC-D1486C0EB461}"/>
              </a:ext>
            </a:extLst>
          </p:cNvPr>
          <p:cNvSpPr txBox="1"/>
          <p:nvPr/>
        </p:nvSpPr>
        <p:spPr>
          <a:xfrm>
            <a:off x="334401" y="804563"/>
            <a:ext cx="7818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LSTM-AE needs to be trained on exclusively normal data. This allows it to learn the essence of the data.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0541AB-C527-6D4E-6325-F4FA4B059E60}"/>
              </a:ext>
            </a:extLst>
          </p:cNvPr>
          <p:cNvSpPr txBox="1"/>
          <p:nvPr/>
        </p:nvSpPr>
        <p:spPr>
          <a:xfrm>
            <a:off x="334401" y="1510887"/>
            <a:ext cx="7818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it reconstructs data, it will fail to reconstruct abnormal data because it only knows how to reconstruct a normal pattern.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845C9C-4D3A-4803-02A7-51D2738209E0}"/>
              </a:ext>
            </a:extLst>
          </p:cNvPr>
          <p:cNvSpPr txBox="1"/>
          <p:nvPr/>
        </p:nvSpPr>
        <p:spPr>
          <a:xfrm>
            <a:off x="334401" y="2280812"/>
            <a:ext cx="7818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Hence, we can use the difference between the data and the reconstructions to classify anomalies. Recall that the difference is the reconstruction error:</a:t>
            </a:r>
          </a:p>
        </p:txBody>
      </p:sp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B38FDDB-F81A-B9D1-A3A9-5EE706685B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6028" y="2978649"/>
            <a:ext cx="855744" cy="55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957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References</a:t>
            </a:r>
            <a:endParaRPr spc="-10" dirty="0"/>
          </a:p>
        </p:txBody>
      </p:sp>
      <p:sp>
        <p:nvSpPr>
          <p:cNvPr id="62" name="object 62"/>
          <p:cNvSpPr txBox="1">
            <a:spLocks noGrp="1"/>
          </p:cNvSpPr>
          <p:nvPr>
            <p:ph type="ftr" sz="quarter" idx="5"/>
          </p:nvPr>
        </p:nvSpPr>
        <p:spPr>
          <a:xfrm>
            <a:off x="78739" y="6611292"/>
            <a:ext cx="3197861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80" dirty="0">
                <a:solidFill>
                  <a:srgbClr val="1F497D"/>
                </a:solidFill>
              </a:rPr>
              <a:t>Advanced Battery Manufacturing Systems</a:t>
            </a:r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11</a:t>
            </a:fld>
            <a:r>
              <a:rPr lang="en-US" spc="-50" dirty="0"/>
              <a:t> of 11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52400" y="685800"/>
            <a:ext cx="8686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925" indent="-168275">
              <a:buFont typeface="Arial" panose="020B0604020202020204" pitchFamily="34" charset="0"/>
              <a:buChar char="•"/>
            </a:pPr>
            <a:r>
              <a:rPr lang="en-US" altLang="en-US" sz="1400" dirty="0"/>
              <a:t>Goodfellow, I., Bengio, Y., &amp; Courville, A. (2016). Deep Learning, Chapter 10: Sequence Modeling: Recurrent And Recursive Nets. MIT Press.</a:t>
            </a:r>
          </a:p>
          <a:p>
            <a:pPr marL="288925" indent="-168275">
              <a:buFont typeface="Arial" panose="020B0604020202020204" pitchFamily="34" charset="0"/>
              <a:buChar char="•"/>
            </a:pPr>
            <a:r>
              <a:rPr lang="en-US" altLang="en-US" sz="1400" dirty="0"/>
              <a:t>Goodfellow, I., Bengio, Y., &amp; Courville, A. (2016). Deep Learning, Chapter 14: Autoencoders. MIT Press.</a:t>
            </a:r>
          </a:p>
          <a:p>
            <a:pPr marL="288925" indent="-168275">
              <a:buFont typeface="Arial" panose="020B0604020202020204" pitchFamily="34" charset="0"/>
              <a:buChar char="•"/>
            </a:pPr>
            <a:r>
              <a:rPr lang="en-US" altLang="en-US" sz="1400" dirty="0"/>
              <a:t>Gers, F. A., Schmidhuber, J., &amp; Cummins, F. (1999). "Learning to Forget: Continual Prediction with LSTM." Artificial Neural Networks, 7 - 10 September 1999, Conference Publication No. 470.</a:t>
            </a:r>
          </a:p>
          <a:p>
            <a:pPr marL="288925" indent="-168275">
              <a:buFont typeface="Arial" panose="020B0604020202020204" pitchFamily="34" charset="0"/>
              <a:buChar char="•"/>
            </a:pPr>
            <a:r>
              <a:rPr lang="en-US" altLang="en-US" sz="1400" dirty="0"/>
              <a:t>Hochreiter, S., &amp; Schmidhuber, J. (1997). "Long Short-Term Memory." Neural Computation, 9(8), 1735–1780.</a:t>
            </a:r>
          </a:p>
          <a:p>
            <a:pPr marL="288925" indent="-168275">
              <a:buFont typeface="Arial" panose="020B0604020202020204" pitchFamily="34" charset="0"/>
              <a:buChar char="•"/>
            </a:pPr>
            <a:r>
              <a:rPr lang="en-US" altLang="en-US" sz="1400" dirty="0"/>
              <a:t>Kramer, M. A. (1992). "Autoassociative Neural Networks." Computers &amp; Chemical Engineering, Vol. 16, No. 4, pp. 313-328 (Manuscript received Jan 1991).</a:t>
            </a:r>
          </a:p>
          <a:p>
            <a:pPr marL="288925" indent="-168275">
              <a:buFont typeface="Arial" panose="020B0604020202020204" pitchFamily="34" charset="0"/>
              <a:buChar char="•"/>
            </a:pPr>
            <a:r>
              <a:rPr lang="en-US" altLang="en-US" sz="1400" dirty="0"/>
              <a:t>Malhotra, P., Vig, L., Shroff, G., &amp; Agarwal, P. (2015). "Long Short Term Memory Networks for Anomaly Detection in Time Series." ESANN 2015 proceedings, European Symposium on Artificial Neural Networks, Computational Intelligence and Machine Learning.</a:t>
            </a:r>
          </a:p>
          <a:p>
            <a:pPr marL="288925" indent="-168275">
              <a:buFont typeface="Arial" panose="020B0604020202020204" pitchFamily="34" charset="0"/>
              <a:buChar char="•"/>
            </a:pPr>
            <a:r>
              <a:rPr lang="en-US" altLang="en-US" sz="1400" dirty="0"/>
              <a:t>Malhotra, P., Ramakrishnan, A., Anand, G., Vig, L., Agarwal, P., &amp; Shroff, G. (2016). "LSTM-based Encoder-Decoder for Multi-sensor Anomaly Detection." ICML 2016 Anomaly Detection Workshop.</a:t>
            </a:r>
          </a:p>
          <a:p>
            <a:pPr marL="288925" indent="-168275">
              <a:buFont typeface="Arial" panose="020B0604020202020204" pitchFamily="34" charset="0"/>
              <a:buChar char="•"/>
            </a:pPr>
            <a:r>
              <a:rPr lang="en-US" altLang="en-US" sz="1400" dirty="0"/>
              <a:t>Sakurada, M., &amp; Yairi, T. (2014). "Anomaly Detection Using Autoencoders with Nonlinear Dimensionality Reduction." MLSDA '14: Proceedings of the MLSDA 2014 2nd Workshop on Machine Learning for Sensory Data Analysis.</a:t>
            </a:r>
          </a:p>
          <a:p>
            <a:pPr marL="288925" indent="-168275">
              <a:buFont typeface="Arial" panose="020B0604020202020204" pitchFamily="34" charset="0"/>
              <a:buChar char="•"/>
            </a:pPr>
            <a:r>
              <a:rPr lang="en-US" altLang="en-US" sz="1400" dirty="0"/>
              <a:t>Zhou, C., &amp; Paffenroth, R. C. (2017). "Anomaly Detection with Robust Deep Autoencoders." KDD '17: Proceedings of the 23rd ACM SIGKDD International Conference on Knowledge Discovery and Data Mining</a:t>
            </a:r>
          </a:p>
          <a:p>
            <a:pPr marL="288925" indent="-168275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222222"/>
                </a:solidFill>
                <a:effectLst/>
                <a:latin typeface="Helvetica Neue"/>
              </a:rPr>
              <a:t>Lee, Y., Park, C., Kim, N., Ahn, J., &amp; Jeong, J. (2024). LSTM-Autoencoder Based Anomaly Detection Using Vibration Data of Wind Turbines. 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Helvetica Neue"/>
              </a:rPr>
              <a:t>Sensors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Helvetica Neue"/>
              </a:rPr>
              <a:t>, 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Helvetica Neue"/>
              </a:rPr>
              <a:t>24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Helvetica Neue"/>
              </a:rPr>
              <a:t>(9), 2833. </a:t>
            </a:r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14976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2856</TotalTime>
  <Words>1868</Words>
  <Application>Microsoft Office PowerPoint</Application>
  <PresentationFormat>On-screen Show (4:3)</PresentationFormat>
  <Paragraphs>163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 MT</vt:lpstr>
      <vt:lpstr>Google Sans Text</vt:lpstr>
      <vt:lpstr>Helvetica Neue</vt:lpstr>
      <vt:lpstr>KaTeX_Main</vt:lpstr>
      <vt:lpstr>KaTeX_Math</vt:lpstr>
      <vt:lpstr>Aptos</vt:lpstr>
      <vt:lpstr>Arial</vt:lpstr>
      <vt:lpstr>Calibri</vt:lpstr>
      <vt:lpstr>Office Theme</vt:lpstr>
      <vt:lpstr>Anomaly Detection of Time Series Data:</vt:lpstr>
      <vt:lpstr>Table of Contents</vt:lpstr>
      <vt:lpstr>Anomaly and Anomaly Detection</vt:lpstr>
      <vt:lpstr>Autoencoders - Introduction</vt:lpstr>
      <vt:lpstr>Autoencoders – Working Principle</vt:lpstr>
      <vt:lpstr>LSTM - Introduction</vt:lpstr>
      <vt:lpstr>LSTM – Working Principle</vt:lpstr>
      <vt:lpstr>LSTM – Working Principle</vt:lpstr>
      <vt:lpstr>LSTM-AE – Together for Anomaly Detection</vt:lpstr>
      <vt:lpstr>LSTM-AE – Together for Anomaly Detection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Neural Networks:</dc:title>
  <cp:lastModifiedBy>user</cp:lastModifiedBy>
  <cp:revision>47</cp:revision>
  <dcterms:created xsi:type="dcterms:W3CDTF">2026-03-13T13:05:02Z</dcterms:created>
  <dcterms:modified xsi:type="dcterms:W3CDTF">2026-04-08T00:09:23Z</dcterms:modified>
</cp:coreProperties>
</file>