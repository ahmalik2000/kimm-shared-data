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67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7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210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F0217-9BC0-4857-8106-3A0149648FBC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5D7F9-1E30-4644-8938-31FF33288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7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720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4D7167-44B4-449E-8CFC-91B1CBD2090B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88463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827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686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212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475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717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12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819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657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764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81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4401" y="182802"/>
            <a:ext cx="392557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1292"/>
            <a:ext cx="3807461" cy="369332"/>
          </a:xfrm>
        </p:spPr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  <p:extLst>
      <p:ext uri="{BB962C8B-B14F-4D97-AF65-F5344CB8AC3E}">
        <p14:creationId xmlns:p14="http://schemas.microsoft.com/office/powerpoint/2010/main" val="70197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1292"/>
            <a:ext cx="3502661" cy="369332"/>
          </a:xfrm>
        </p:spPr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  <p:extLst>
      <p:ext uri="{BB962C8B-B14F-4D97-AF65-F5344CB8AC3E}">
        <p14:creationId xmlns:p14="http://schemas.microsoft.com/office/powerpoint/2010/main" val="4273513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Algorithmic</a:t>
            </a:r>
            <a:r>
              <a:rPr spc="80" dirty="0"/>
              <a:t> </a:t>
            </a:r>
            <a:r>
              <a:rPr spc="-10" dirty="0"/>
              <a:t>Intelligence</a:t>
            </a:r>
            <a:r>
              <a:rPr spc="-5" dirty="0"/>
              <a:t> </a:t>
            </a:r>
            <a:r>
              <a:rPr spc="-10" dirty="0"/>
              <a:t>Laboratory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  <p:extLst>
      <p:ext uri="{BB962C8B-B14F-4D97-AF65-F5344CB8AC3E}">
        <p14:creationId xmlns:p14="http://schemas.microsoft.com/office/powerpoint/2010/main" val="1511410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Algorithmic</a:t>
            </a:r>
            <a:r>
              <a:rPr spc="80" dirty="0"/>
              <a:t> </a:t>
            </a:r>
            <a:r>
              <a:rPr spc="-10" dirty="0"/>
              <a:t>Intelligence</a:t>
            </a:r>
            <a:r>
              <a:rPr spc="-5" dirty="0"/>
              <a:t> </a:t>
            </a:r>
            <a:r>
              <a:rPr spc="-10" dirty="0"/>
              <a:t>Laboratory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  <p:extLst>
      <p:ext uri="{BB962C8B-B14F-4D97-AF65-F5344CB8AC3E}">
        <p14:creationId xmlns:p14="http://schemas.microsoft.com/office/powerpoint/2010/main" val="2102462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Algorithmic</a:t>
            </a:r>
            <a:r>
              <a:rPr spc="80" dirty="0"/>
              <a:t> </a:t>
            </a:r>
            <a:r>
              <a:rPr spc="-10" dirty="0"/>
              <a:t>Intelligence</a:t>
            </a:r>
            <a:r>
              <a:rPr spc="-5" dirty="0"/>
              <a:t> </a:t>
            </a:r>
            <a:r>
              <a:rPr spc="-10" dirty="0"/>
              <a:t>Laboratory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  <p:extLst>
      <p:ext uri="{BB962C8B-B14F-4D97-AF65-F5344CB8AC3E}">
        <p14:creationId xmlns:p14="http://schemas.microsoft.com/office/powerpoint/2010/main" val="3850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4000" y="546100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0960" y="1"/>
                </a:lnTo>
              </a:path>
            </a:pathLst>
          </a:custGeom>
          <a:ln w="25400">
            <a:solidFill>
              <a:srgbClr val="3E589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4401" y="182802"/>
            <a:ext cx="574421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0259" y="3189624"/>
            <a:ext cx="8611235" cy="2312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1292"/>
            <a:ext cx="3426461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  <p:extLst>
      <p:ext uri="{BB962C8B-B14F-4D97-AF65-F5344CB8AC3E}">
        <p14:creationId xmlns:p14="http://schemas.microsoft.com/office/powerpoint/2010/main" val="2209654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39" y="6623992"/>
            <a:ext cx="2206625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200" b="1" spc="-10" dirty="0">
                <a:solidFill>
                  <a:srgbClr val="7F8FA9"/>
                </a:solidFill>
                <a:latin typeface="Calibri"/>
                <a:cs typeface="Calibri"/>
              </a:rPr>
              <a:t>Algorithmic</a:t>
            </a:r>
            <a:r>
              <a:rPr sz="1200" b="1" spc="80" dirty="0">
                <a:solidFill>
                  <a:srgbClr val="7F8FA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7F8FA9"/>
                </a:solidFill>
                <a:latin typeface="Calibri"/>
                <a:cs typeface="Calibri"/>
              </a:rPr>
              <a:t>Intelligence</a:t>
            </a:r>
            <a:r>
              <a:rPr sz="1200" b="1" spc="-5" dirty="0">
                <a:solidFill>
                  <a:srgbClr val="7F8FA9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7F8FA9"/>
                </a:solidFill>
                <a:latin typeface="Calibri"/>
                <a:cs typeface="Calibri"/>
              </a:rPr>
              <a:t>Laboratory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642100"/>
            <a:ext cx="2552700" cy="215900"/>
          </a:xfrm>
          <a:custGeom>
            <a:avLst/>
            <a:gdLst/>
            <a:ahLst/>
            <a:cxnLst/>
            <a:rect l="l" t="t" r="r" b="b"/>
            <a:pathLst>
              <a:path w="2552700" h="215900">
                <a:moveTo>
                  <a:pt x="2552700" y="0"/>
                </a:moveTo>
                <a:lnTo>
                  <a:pt x="0" y="0"/>
                </a:lnTo>
                <a:lnTo>
                  <a:pt x="0" y="215900"/>
                </a:lnTo>
                <a:lnTo>
                  <a:pt x="2552700" y="215900"/>
                </a:lnTo>
                <a:lnTo>
                  <a:pt x="2552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84150" y="412750"/>
            <a:ext cx="8785225" cy="0"/>
          </a:xfrm>
          <a:custGeom>
            <a:avLst/>
            <a:gdLst/>
            <a:ahLst/>
            <a:cxnLst/>
            <a:rect l="l" t="t" r="r" b="b"/>
            <a:pathLst>
              <a:path w="8785225">
                <a:moveTo>
                  <a:pt x="0" y="0"/>
                </a:moveTo>
                <a:lnTo>
                  <a:pt x="8784976" y="1"/>
                </a:lnTo>
              </a:path>
            </a:pathLst>
          </a:custGeom>
          <a:ln w="12700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7672" y="1821485"/>
            <a:ext cx="6788657" cy="97148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R="5080" algn="ctr">
              <a:lnSpc>
                <a:spcPts val="3500"/>
              </a:lnSpc>
              <a:spcBef>
                <a:spcPts val="500"/>
              </a:spcBef>
            </a:pPr>
            <a:r>
              <a:rPr lang="en-US" sz="3600" dirty="0">
                <a:solidFill>
                  <a:srgbClr val="0070C0"/>
                </a:solidFill>
              </a:rPr>
              <a:t>LSTM vs Transformer Encoder for AG News Text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700" y="4495800"/>
            <a:ext cx="771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Team:</a:t>
            </a:r>
          </a:p>
          <a:p>
            <a:pPr algn="ctr"/>
            <a:r>
              <a:rPr lang="en-US" sz="2000" dirty="0">
                <a:latin typeface="+mn-lt"/>
              </a:rPr>
              <a:t>Malik Muhammad Abdullah Hassan - 02621070 </a:t>
            </a:r>
          </a:p>
          <a:p>
            <a:pPr algn="ctr"/>
            <a:r>
              <a:rPr lang="en-US" sz="2000" dirty="0">
                <a:latin typeface="+mn-lt"/>
              </a:rPr>
              <a:t>Syed Muhammad Shabih Ahmad – 02623026 </a:t>
            </a:r>
          </a:p>
          <a:p>
            <a:pPr algn="ctr"/>
            <a:r>
              <a:rPr lang="en-US" sz="2000" dirty="0">
                <a:latin typeface="+mn-lt"/>
              </a:rPr>
              <a:t>Zain Shabbir – 02623024 </a:t>
            </a:r>
          </a:p>
        </p:txBody>
      </p:sp>
      <p:pic>
        <p:nvPicPr>
          <p:cNvPr id="9" name="Picture 8" descr="A blue and red logo&#10;&#10;AI-generated content may be incorrect.">
            <a:extLst>
              <a:ext uri="{FF2B5EF4-FFF2-40B4-BE49-F238E27FC236}">
                <a16:creationId xmlns:a16="http://schemas.microsoft.com/office/drawing/2014/main" id="{AC170A6F-8C65-A98B-0A1D-C5F9ECD759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0" y="45720"/>
            <a:ext cx="444532" cy="308324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58D49150-89F1-0A09-F72E-25841EBDC9E4}"/>
              </a:ext>
            </a:extLst>
          </p:cNvPr>
          <p:cNvSpPr txBox="1">
            <a:spLocks/>
          </p:cNvSpPr>
          <p:nvPr/>
        </p:nvSpPr>
        <p:spPr>
          <a:xfrm>
            <a:off x="1177672" y="3824609"/>
            <a:ext cx="6788657" cy="481991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>
            <a:lvl1pPr>
              <a:defRPr sz="2000" b="1" i="0">
                <a:solidFill>
                  <a:srgbClr val="3E5893"/>
                </a:solidFill>
                <a:latin typeface="Calibri"/>
                <a:ea typeface="+mj-ea"/>
                <a:cs typeface="Calibri"/>
              </a:defRPr>
            </a:lvl1pPr>
          </a:lstStyle>
          <a:p>
            <a:pPr marR="5080" algn="ctr">
              <a:lnSpc>
                <a:spcPts val="3500"/>
              </a:lnSpc>
              <a:spcBef>
                <a:spcPts val="500"/>
              </a:spcBef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Introduction to Deep Learning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68036E-919B-D93C-8CF7-3D131E99DD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48" y="97738"/>
            <a:ext cx="444532" cy="204288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8A5EB360-3319-4A8C-DDE3-2BE62CDDFC4B}"/>
              </a:ext>
            </a:extLst>
          </p:cNvPr>
          <p:cNvSpPr txBox="1">
            <a:spLocks/>
          </p:cNvSpPr>
          <p:nvPr/>
        </p:nvSpPr>
        <p:spPr>
          <a:xfrm>
            <a:off x="1177672" y="2781344"/>
            <a:ext cx="6788657" cy="37189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>
            <a:lvl1pPr>
              <a:defRPr sz="2000" b="1" i="0">
                <a:solidFill>
                  <a:srgbClr val="3E5893"/>
                </a:solidFill>
                <a:latin typeface="Calibri"/>
                <a:ea typeface="+mj-ea"/>
                <a:cs typeface="Calibri"/>
              </a:defRPr>
            </a:lvl1pPr>
          </a:lstStyle>
          <a:p>
            <a:pPr marR="5080" algn="ctr">
              <a:spcBef>
                <a:spcPts val="500"/>
              </a:spcBef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Term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Table of Contents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 marR="0" lvl="0" indent="0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srgbClr val="3E5893"/>
                </a:solidFill>
                <a:effectLst/>
                <a:uLnTx/>
                <a:uFillTx/>
                <a:latin typeface="Calibri"/>
                <a:cs typeface="Calibri"/>
              </a:rPr>
              <a:pPr marL="3303904" marR="0" lvl="0" indent="0" defTabSz="914400" eaLnBrk="1" fontAlgn="auto" latinLnBrk="0" hangingPunct="1">
                <a:lnSpc>
                  <a:spcPct val="100000"/>
                </a:lnSpc>
                <a:spcBef>
                  <a:spcPts val="4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en-US" sz="1200" b="0" i="0" u="none" strike="noStrike" kern="0" cap="none" spc="-50" normalizeH="0" baseline="0" noProof="0" dirty="0">
                <a:ln>
                  <a:noFill/>
                </a:ln>
                <a:solidFill>
                  <a:srgbClr val="3E5893"/>
                </a:solidFill>
                <a:effectLst/>
                <a:uLnTx/>
                <a:uFillTx/>
                <a:latin typeface="Calibri"/>
                <a:cs typeface="Calibri"/>
              </a:rPr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Introduction and Motivation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Dataset and Preprocessing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Model Development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Main Comparison Results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Ablation Study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Failure Analysis</a:t>
            </a:r>
          </a:p>
          <a:p>
            <a:pPr marL="342900" marR="0" lvl="0" indent="-34290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124069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77186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Introduction and Motivation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</a:t>
            </a:fld>
            <a:r>
              <a:rPr lang="en-US" spc="-50" dirty="0"/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632701"/>
            <a:ext cx="7718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+mn-lt"/>
              </a:rPr>
              <a:t>Why compare LSTMs and Transformer Encoder?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Both models are common sequence classifiers, but they process text differently.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LSTM carries information recurrently through hidden states.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Transformer Encoder uses self-attention to connect tokens directly.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goal is to compare behavior, not only final accuracy.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0B95B7-1931-871D-1FFB-5B2ACFFAA0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73657" y="3153163"/>
            <a:ext cx="2079802" cy="272378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9A77E42-FE39-83CA-E9B3-0F6297B1B96B}"/>
              </a:ext>
            </a:extLst>
          </p:cNvPr>
          <p:cNvSpPr/>
          <p:nvPr/>
        </p:nvSpPr>
        <p:spPr>
          <a:xfrm>
            <a:off x="241268" y="3086100"/>
            <a:ext cx="4381532" cy="2885984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228ECB-6732-FD86-1518-C4DEB3BFF5D7}"/>
              </a:ext>
            </a:extLst>
          </p:cNvPr>
          <p:cNvSpPr/>
          <p:nvPr/>
        </p:nvSpPr>
        <p:spPr>
          <a:xfrm>
            <a:off x="4946650" y="3086100"/>
            <a:ext cx="3733816" cy="2885984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1424FE-2C02-9831-E092-91827A2D5386}"/>
              </a:ext>
            </a:extLst>
          </p:cNvPr>
          <p:cNvGrpSpPr/>
          <p:nvPr/>
        </p:nvGrpSpPr>
        <p:grpSpPr>
          <a:xfrm>
            <a:off x="463534" y="3429000"/>
            <a:ext cx="3999929" cy="2185160"/>
            <a:chOff x="463534" y="3429000"/>
            <a:chExt cx="3999929" cy="21851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A98B699-4B7D-0006-B12C-E11148821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01" r="23119"/>
            <a:stretch/>
          </p:blipFill>
          <p:spPr>
            <a:xfrm>
              <a:off x="463534" y="3429000"/>
              <a:ext cx="3999929" cy="2185160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8ED022E-F456-2984-5D27-690597BF8D3E}"/>
                </a:ext>
              </a:extLst>
            </p:cNvPr>
            <p:cNvSpPr/>
            <p:nvPr/>
          </p:nvSpPr>
          <p:spPr>
            <a:xfrm>
              <a:off x="3130550" y="3429000"/>
              <a:ext cx="622300" cy="133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8888D06-5C8E-A19C-FCBD-52BB8AF2FE9D}"/>
              </a:ext>
            </a:extLst>
          </p:cNvPr>
          <p:cNvSpPr txBox="1"/>
          <p:nvPr/>
        </p:nvSpPr>
        <p:spPr>
          <a:xfrm>
            <a:off x="1628759" y="5972084"/>
            <a:ext cx="160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LSTM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8143A0-A69E-42B0-B6BC-DBAC493B88D7}"/>
              </a:ext>
            </a:extLst>
          </p:cNvPr>
          <p:cNvSpPr txBox="1"/>
          <p:nvPr/>
        </p:nvSpPr>
        <p:spPr>
          <a:xfrm>
            <a:off x="5722937" y="5972084"/>
            <a:ext cx="218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Transformer Encoder</a:t>
            </a:r>
          </a:p>
        </p:txBody>
      </p:sp>
    </p:spTree>
    <p:extLst>
      <p:ext uri="{BB962C8B-B14F-4D97-AF65-F5344CB8AC3E}">
        <p14:creationId xmlns:p14="http://schemas.microsoft.com/office/powerpoint/2010/main" val="1485988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77186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Dataset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4</a:t>
            </a:fld>
            <a:r>
              <a:rPr lang="en-US" spc="-50" dirty="0"/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AG News is a news topic classification dataset.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Each example is a short text item, and the label is one of four classes:</a:t>
            </a:r>
            <a:endParaRPr lang="en-US" sz="2000" dirty="0"/>
          </a:p>
          <a:p>
            <a:pPr marL="796925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World</a:t>
            </a:r>
          </a:p>
          <a:p>
            <a:pPr marL="796925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Sports</a:t>
            </a:r>
          </a:p>
          <a:p>
            <a:pPr marL="796925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Business</a:t>
            </a:r>
          </a:p>
          <a:p>
            <a:pPr marL="796925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Sci/Tech</a:t>
            </a:r>
            <a:endParaRPr lang="en-US" sz="2000" dirty="0">
              <a:latin typeface="+mn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We sourced the dataset from Hugging Face exclusively.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97A6D2-3B65-A111-2ECF-1DA50E1E5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986329"/>
              </p:ext>
            </p:extLst>
          </p:nvPr>
        </p:nvGraphicFramePr>
        <p:xfrm>
          <a:off x="334400" y="3423701"/>
          <a:ext cx="8568331" cy="18999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84772">
                  <a:extLst>
                    <a:ext uri="{9D8B030D-6E8A-4147-A177-3AD203B41FA5}">
                      <a16:colId xmlns:a16="http://schemas.microsoft.com/office/drawing/2014/main" val="726605133"/>
                    </a:ext>
                  </a:extLst>
                </a:gridCol>
                <a:gridCol w="2636409">
                  <a:extLst>
                    <a:ext uri="{9D8B030D-6E8A-4147-A177-3AD203B41FA5}">
                      <a16:colId xmlns:a16="http://schemas.microsoft.com/office/drawing/2014/main" val="1445224429"/>
                    </a:ext>
                  </a:extLst>
                </a:gridCol>
                <a:gridCol w="1194622">
                  <a:extLst>
                    <a:ext uri="{9D8B030D-6E8A-4147-A177-3AD203B41FA5}">
                      <a16:colId xmlns:a16="http://schemas.microsoft.com/office/drawing/2014/main" val="733193648"/>
                    </a:ext>
                  </a:extLst>
                </a:gridCol>
                <a:gridCol w="3652528">
                  <a:extLst>
                    <a:ext uri="{9D8B030D-6E8A-4147-A177-3AD203B41FA5}">
                      <a16:colId xmlns:a16="http://schemas.microsoft.com/office/drawing/2014/main" val="3474835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089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90% of official training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Model fitting and train-only vocabulary construction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771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10% of official training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Model selection, ablation comparison, and 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106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Official test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7,600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Final evaluation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06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97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77186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Preprocessing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5</a:t>
            </a:fld>
            <a:r>
              <a:rPr lang="en-US" spc="-50" dirty="0"/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+mn-lt"/>
              </a:rPr>
              <a:t>Both models receive text after the same preprocessing pipeline: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Raw text is lowercased and tokenized with a regular expression tokenizer.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 vocabulary is built from training text only.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vocabulary is capped at 20,000 entries.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Two reserved tokens are used:</a:t>
            </a:r>
          </a:p>
          <a:p>
            <a:pPr marL="796925" indent="-342900" algn="l">
              <a:buFont typeface="Arial" panose="020B0604020202020204" pitchFamily="34" charset="0"/>
              <a:buChar char="•"/>
            </a:pPr>
            <a:r>
              <a:rPr lang="en-US" sz="2000" i="1" dirty="0">
                <a:latin typeface="+mn-lt"/>
              </a:rPr>
              <a:t>&lt;pad&gt;</a:t>
            </a:r>
            <a:r>
              <a:rPr lang="en-US" sz="2000" dirty="0">
                <a:latin typeface="+mn-lt"/>
              </a:rPr>
              <a:t> at index 0.</a:t>
            </a:r>
          </a:p>
          <a:p>
            <a:pPr marL="796925" indent="-342900" algn="l">
              <a:buFont typeface="Arial" panose="020B0604020202020204" pitchFamily="34" charset="0"/>
              <a:buChar char="•"/>
            </a:pPr>
            <a:r>
              <a:rPr lang="en-US" sz="2000" i="1" dirty="0">
                <a:latin typeface="+mn-lt"/>
              </a:rPr>
              <a:t>&lt;</a:t>
            </a:r>
            <a:r>
              <a:rPr lang="en-US" sz="2000" i="1" dirty="0" err="1">
                <a:latin typeface="+mn-lt"/>
              </a:rPr>
              <a:t>unk</a:t>
            </a:r>
            <a:r>
              <a:rPr lang="en-US" sz="2000" i="1" dirty="0">
                <a:latin typeface="+mn-lt"/>
              </a:rPr>
              <a:t>&gt; </a:t>
            </a:r>
            <a:r>
              <a:rPr lang="en-US" sz="2000" dirty="0">
                <a:latin typeface="+mn-lt"/>
              </a:rPr>
              <a:t>at index 1.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Tokens are converted to integer IDs.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Sequences are truncated or padded to a fixed maximum length.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An attention mask marks real tokens as 1 and padding positions as 0.</a:t>
            </a:r>
          </a:p>
        </p:txBody>
      </p:sp>
    </p:spTree>
    <p:extLst>
      <p:ext uri="{BB962C8B-B14F-4D97-AF65-F5344CB8AC3E}">
        <p14:creationId xmlns:p14="http://schemas.microsoft.com/office/powerpoint/2010/main" val="261101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77186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Model Development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6</a:t>
            </a:fld>
            <a:r>
              <a:rPr lang="en-US" spc="-50" dirty="0"/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657311"/>
            <a:ext cx="7718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LSTM: embedding layer, one-layer bidirectional LSTM, masked mean pooling, dropout, classifier.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Transformer Encoder: embeddings, learned positional encoding, two encoder layers, four heads, classifier.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Trainable parameters: LSTM 2.83M; Transformer Encoder 2.97M.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Both models are trained from scratch.</a:t>
            </a:r>
          </a:p>
        </p:txBody>
      </p:sp>
      <p:sp>
        <p:nvSpPr>
          <p:cNvPr id="3" name="Rectangle 2"/>
          <p:cNvSpPr/>
          <p:nvPr/>
        </p:nvSpPr>
        <p:spPr>
          <a:xfrm>
            <a:off x="1703963" y="2703573"/>
            <a:ext cx="2349229" cy="1150643"/>
          </a:xfrm>
          <a:prstGeom prst="rect">
            <a:avLst/>
          </a:prstGeom>
          <a:solidFill>
            <a:srgbClr val="F2F4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74B5"/>
                </a:solidFill>
              </a:defRPr>
            </a:pPr>
            <a:r>
              <a:rPr sz="3200" dirty="0"/>
              <a:t>2.83M</a:t>
            </a:r>
          </a:p>
          <a:p>
            <a:pPr algn="ctr">
              <a:defRPr sz="1100">
                <a:solidFill>
                  <a:srgbClr val="464646"/>
                </a:solidFill>
              </a:defRPr>
            </a:pPr>
            <a:r>
              <a:rPr sz="1400" dirty="0"/>
              <a:t>LSTM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90808" y="2703572"/>
            <a:ext cx="2349229" cy="1150643"/>
          </a:xfrm>
          <a:prstGeom prst="rect">
            <a:avLst/>
          </a:prstGeom>
          <a:solidFill>
            <a:srgbClr val="F2F4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74B5"/>
                </a:solidFill>
              </a:defRPr>
            </a:pPr>
            <a:r>
              <a:rPr sz="3200" dirty="0"/>
              <a:t>2.97M</a:t>
            </a:r>
          </a:p>
          <a:p>
            <a:pPr algn="ctr">
              <a:defRPr sz="1100">
                <a:solidFill>
                  <a:srgbClr val="464646"/>
                </a:solidFill>
              </a:defRPr>
            </a:pPr>
            <a:r>
              <a:rPr sz="1400" dirty="0"/>
              <a:t>Transformer parameters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887A2-A36B-65F8-E2BC-B02890474222}"/>
              </a:ext>
            </a:extLst>
          </p:cNvPr>
          <p:cNvSpPr txBox="1"/>
          <p:nvPr/>
        </p:nvSpPr>
        <p:spPr>
          <a:xfrm>
            <a:off x="533400" y="4088001"/>
            <a:ext cx="771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Important Hyperparameters: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D80382-811B-B246-E702-A52F28C4CB3B}"/>
              </a:ext>
            </a:extLst>
          </p:cNvPr>
          <p:cNvSpPr/>
          <p:nvPr/>
        </p:nvSpPr>
        <p:spPr>
          <a:xfrm>
            <a:off x="305613" y="4717999"/>
            <a:ext cx="1899324" cy="930281"/>
          </a:xfrm>
          <a:prstGeom prst="rect">
            <a:avLst/>
          </a:prstGeom>
          <a:solidFill>
            <a:srgbClr val="F2F4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74B5"/>
                </a:solidFill>
              </a:defRPr>
            </a:pPr>
            <a:r>
              <a:rPr lang="en-US" sz="2800" dirty="0"/>
              <a:t>Adam</a:t>
            </a:r>
            <a:endParaRPr sz="3200" dirty="0"/>
          </a:p>
          <a:p>
            <a:pPr algn="ctr">
              <a:defRPr sz="1100">
                <a:solidFill>
                  <a:srgbClr val="464646"/>
                </a:solidFill>
              </a:defRPr>
            </a:pPr>
            <a:r>
              <a:rPr lang="en-US" sz="1400" dirty="0"/>
              <a:t>Optimizer</a:t>
            </a:r>
            <a:endParaRPr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BCDB07F-C4BD-D80B-3C4D-F148551EA6F3}"/>
                  </a:ext>
                </a:extLst>
              </p:cNvPr>
              <p:cNvSpPr/>
              <p:nvPr/>
            </p:nvSpPr>
            <p:spPr>
              <a:xfrm>
                <a:off x="2502441" y="4717999"/>
                <a:ext cx="1899324" cy="930281"/>
              </a:xfrm>
              <a:prstGeom prst="rect">
                <a:avLst/>
              </a:prstGeom>
              <a:solidFill>
                <a:srgbClr val="F2F4F7"/>
              </a:solidFill>
              <a:ln>
                <a:solidFill>
                  <a:srgbClr val="D2D8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2400" b="1">
                    <a:solidFill>
                      <a:srgbClr val="2E74B5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/>
                        <m:t>𝟏</m:t>
                      </m:r>
                      <m:r>
                        <a:rPr lang="en-US" sz="2800" b="1" i="1" dirty="0" smtClean="0"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800" b="1" i="1" dirty="0" smtClean="0"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 smtClean="0"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2800" b="1" i="1" dirty="0" smtClean="0"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  <a:p>
                <a:pPr algn="ctr">
                  <a:defRPr sz="1100">
                    <a:solidFill>
                      <a:srgbClr val="464646"/>
                    </a:solidFill>
                  </a:defRPr>
                </a:pPr>
                <a:r>
                  <a:rPr lang="en-US" sz="1400" dirty="0"/>
                  <a:t>Learning Rate</a:t>
                </a:r>
                <a:endParaRPr sz="1400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BCDB07F-C4BD-D80B-3C4D-F148551EA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441" y="4717999"/>
                <a:ext cx="1899324" cy="930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D2D8E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7F748D-49F5-616A-A570-3F42D5DE87BE}"/>
                  </a:ext>
                </a:extLst>
              </p:cNvPr>
              <p:cNvSpPr/>
              <p:nvPr/>
            </p:nvSpPr>
            <p:spPr>
              <a:xfrm>
                <a:off x="4699269" y="4717999"/>
                <a:ext cx="1377276" cy="930281"/>
              </a:xfrm>
              <a:prstGeom prst="rect">
                <a:avLst/>
              </a:prstGeom>
              <a:solidFill>
                <a:srgbClr val="F2F4F7"/>
              </a:solidFill>
              <a:ln>
                <a:solidFill>
                  <a:srgbClr val="D2D8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2400" b="1">
                    <a:solidFill>
                      <a:srgbClr val="2E74B5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sz="2800" dirty="0"/>
              </a:p>
              <a:p>
                <a:pPr algn="ctr">
                  <a:defRPr sz="1100">
                    <a:solidFill>
                      <a:srgbClr val="464646"/>
                    </a:solidFill>
                  </a:defRPr>
                </a:pPr>
                <a:r>
                  <a:rPr lang="en-US" sz="1400" dirty="0"/>
                  <a:t>Epochs</a:t>
                </a:r>
                <a:endParaRPr sz="1400" dirty="0"/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7F748D-49F5-616A-A570-3F42D5DE87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69" y="4717999"/>
                <a:ext cx="1377276" cy="9302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D2D8E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391D67B3-192A-CC58-2FC8-A5ACBCB76EF1}"/>
              </a:ext>
            </a:extLst>
          </p:cNvPr>
          <p:cNvSpPr/>
          <p:nvPr/>
        </p:nvSpPr>
        <p:spPr>
          <a:xfrm>
            <a:off x="6374049" y="4717999"/>
            <a:ext cx="2393815" cy="930281"/>
          </a:xfrm>
          <a:prstGeom prst="rect">
            <a:avLst/>
          </a:prstGeom>
          <a:solidFill>
            <a:srgbClr val="F2F4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E74B5"/>
                </a:solidFill>
              </a:defRPr>
            </a:pPr>
            <a:r>
              <a:rPr lang="en-US" sz="2400" dirty="0" err="1"/>
              <a:t>CrossEntropyLoss</a:t>
            </a:r>
            <a:endParaRPr lang="en-US" sz="2000" dirty="0"/>
          </a:p>
          <a:p>
            <a:pPr algn="ctr">
              <a:defRPr sz="1100">
                <a:solidFill>
                  <a:srgbClr val="464646"/>
                </a:solidFill>
              </a:defRPr>
            </a:pPr>
            <a:r>
              <a:rPr lang="en-US" sz="1400" dirty="0"/>
              <a:t>Loss Function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035283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80508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Main Results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7</a:t>
            </a:fld>
            <a:r>
              <a:rPr lang="en-US" spc="-50" dirty="0"/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865821"/>
            <a:ext cx="36676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+mn-lt"/>
              </a:rPr>
              <a:t>The Transformer Encoder has the best final test metrics, but the margin is small: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Accuracy lead: 0.0005, or 0.05 percentage points.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Macro F1 lead: about 0.0008.</a:t>
            </a:r>
          </a:p>
          <a:p>
            <a:pPr algn="l"/>
            <a:endParaRPr lang="en-US" dirty="0">
              <a:latin typeface="+mn-lt"/>
            </a:endParaRPr>
          </a:p>
          <a:p>
            <a:pPr algn="l"/>
            <a:r>
              <a:rPr lang="en-US" dirty="0"/>
              <a:t>Both </a:t>
            </a:r>
            <a:r>
              <a:rPr lang="en-US" dirty="0">
                <a:latin typeface="+mn-lt"/>
              </a:rPr>
              <a:t>models perform very similarly. The Transformer Encoder is slightly ahead in this run, but the result is not a decisive architectural win.</a:t>
            </a:r>
          </a:p>
        </p:txBody>
      </p:sp>
      <p:pic>
        <p:nvPicPr>
          <p:cNvPr id="3" name="Picture 2" descr="main_loss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030" y="1143188"/>
            <a:ext cx="4701702" cy="293856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1D24A3-180E-FFA7-72AD-EFEB29F97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649492"/>
              </p:ext>
            </p:extLst>
          </p:nvPr>
        </p:nvGraphicFramePr>
        <p:xfrm>
          <a:off x="1055549" y="4367561"/>
          <a:ext cx="7032901" cy="1804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55692">
                  <a:extLst>
                    <a:ext uri="{9D8B030D-6E8A-4147-A177-3AD203B41FA5}">
                      <a16:colId xmlns:a16="http://schemas.microsoft.com/office/drawing/2014/main" val="394449424"/>
                    </a:ext>
                  </a:extLst>
                </a:gridCol>
                <a:gridCol w="1261661">
                  <a:extLst>
                    <a:ext uri="{9D8B030D-6E8A-4147-A177-3AD203B41FA5}">
                      <a16:colId xmlns:a16="http://schemas.microsoft.com/office/drawing/2014/main" val="2714693200"/>
                    </a:ext>
                  </a:extLst>
                </a:gridCol>
                <a:gridCol w="1115281">
                  <a:extLst>
                    <a:ext uri="{9D8B030D-6E8A-4147-A177-3AD203B41FA5}">
                      <a16:colId xmlns:a16="http://schemas.microsoft.com/office/drawing/2014/main" val="2415911954"/>
                    </a:ext>
                  </a:extLst>
                </a:gridCol>
                <a:gridCol w="1171045">
                  <a:extLst>
                    <a:ext uri="{9D8B030D-6E8A-4147-A177-3AD203B41FA5}">
                      <a16:colId xmlns:a16="http://schemas.microsoft.com/office/drawing/2014/main" val="2221256711"/>
                    </a:ext>
                  </a:extLst>
                </a:gridCol>
                <a:gridCol w="1129222">
                  <a:extLst>
                    <a:ext uri="{9D8B030D-6E8A-4147-A177-3AD203B41FA5}">
                      <a16:colId xmlns:a16="http://schemas.microsoft.com/office/drawing/2014/main" val="3639088646"/>
                    </a:ext>
                  </a:extLst>
                </a:gridCol>
              </a:tblGrid>
              <a:tr h="360904"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effectLst/>
                        </a:rPr>
                        <a:t>Model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Split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Loss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Accuracy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Macro F1</a:t>
                      </a:r>
                    </a:p>
                  </a:txBody>
                  <a:tcPr marL="98812" marR="98812" marT="49406" marB="49406" anchor="ctr"/>
                </a:tc>
                <a:extLst>
                  <a:ext uri="{0D108BD9-81ED-4DB2-BD59-A6C34878D82A}">
                    <a16:rowId xmlns:a16="http://schemas.microsoft.com/office/drawing/2014/main" val="3641856807"/>
                  </a:ext>
                </a:extLst>
              </a:tr>
              <a:tr h="36090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LSTM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Validation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0.3402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0.9113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0.9108</a:t>
                      </a:r>
                    </a:p>
                  </a:txBody>
                  <a:tcPr marL="98812" marR="98812" marT="49406" marB="49406" anchor="ctr"/>
                </a:tc>
                <a:extLst>
                  <a:ext uri="{0D108BD9-81ED-4DB2-BD59-A6C34878D82A}">
                    <a16:rowId xmlns:a16="http://schemas.microsoft.com/office/drawing/2014/main" val="71304165"/>
                  </a:ext>
                </a:extLst>
              </a:tr>
              <a:tr h="36090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Transformer Encoder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Validation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0.3103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0.9118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0.9115</a:t>
                      </a:r>
                    </a:p>
                  </a:txBody>
                  <a:tcPr marL="98812" marR="98812" marT="49406" marB="49406" anchor="ctr"/>
                </a:tc>
                <a:extLst>
                  <a:ext uri="{0D108BD9-81ED-4DB2-BD59-A6C34878D82A}">
                    <a16:rowId xmlns:a16="http://schemas.microsoft.com/office/drawing/2014/main" val="1293993527"/>
                  </a:ext>
                </a:extLst>
              </a:tr>
              <a:tr h="36090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LSTM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Test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0.3459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0.9120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0.9118</a:t>
                      </a:r>
                    </a:p>
                  </a:txBody>
                  <a:tcPr marL="98812" marR="98812" marT="49406" marB="49406" anchor="ctr"/>
                </a:tc>
                <a:extLst>
                  <a:ext uri="{0D108BD9-81ED-4DB2-BD59-A6C34878D82A}">
                    <a16:rowId xmlns:a16="http://schemas.microsoft.com/office/drawing/2014/main" val="3379563365"/>
                  </a:ext>
                </a:extLst>
              </a:tr>
              <a:tr h="36090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Transformer Encoder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Test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>
                          <a:effectLst/>
                        </a:rPr>
                        <a:t>0.3066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0.9125</a:t>
                      </a:r>
                    </a:p>
                  </a:txBody>
                  <a:tcPr marL="98812" marR="98812" marT="49406" marB="4940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0.9126</a:t>
                      </a:r>
                    </a:p>
                  </a:txBody>
                  <a:tcPr marL="98812" marR="98812" marT="49406" marB="49406" anchor="ctr"/>
                </a:tc>
                <a:extLst>
                  <a:ext uri="{0D108BD9-81ED-4DB2-BD59-A6C34878D82A}">
                    <a16:rowId xmlns:a16="http://schemas.microsoft.com/office/drawing/2014/main" val="207185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4922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80508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Main Results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8</a:t>
            </a:fld>
            <a:r>
              <a:rPr lang="en-US" spc="-50" dirty="0"/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Training loss continues to decrease across 6 epochs.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Validation loss rises late in training.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This suggests early stopping or stronger regularization as the logical next improvement.</a:t>
            </a:r>
          </a:p>
        </p:txBody>
      </p:sp>
      <p:pic>
        <p:nvPicPr>
          <p:cNvPr id="3" name="Picture 2" descr="main_loss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910" y="2313054"/>
            <a:ext cx="6018179" cy="376136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9F9A312-1E64-5D16-B534-425A67705275}"/>
              </a:ext>
            </a:extLst>
          </p:cNvPr>
          <p:cNvSpPr/>
          <p:nvPr/>
        </p:nvSpPr>
        <p:spPr>
          <a:xfrm rot="21247958">
            <a:off x="4101842" y="3542371"/>
            <a:ext cx="3344948" cy="811250"/>
          </a:xfrm>
          <a:prstGeom prst="ellipse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66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80508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Main Results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9</a:t>
            </a:fld>
            <a:r>
              <a:rPr lang="en-US" spc="-50" dirty="0"/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399" y="1338618"/>
            <a:ext cx="44925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Sports is the easiest class for both models.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Business and Sci/Tech overlap because many company stories include technology terms.</a:t>
            </a:r>
          </a:p>
          <a:p>
            <a:pPr marL="796925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LSTM: 177 Business examples predicted as Sci/Tech, and 121 Sci/Tech examples predicted as Business.</a:t>
            </a:r>
          </a:p>
          <a:p>
            <a:pPr marL="796925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Transformer Encoder: 200 Business examples predicted as Sci/Tech, and 93 Sci/Tech examples predicted as Business.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pattern is consistent with the selected failure examples.</a:t>
            </a:r>
          </a:p>
        </p:txBody>
      </p:sp>
      <p:pic>
        <p:nvPicPr>
          <p:cNvPr id="7" name="Picture 6" descr="transformer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468" y="577334"/>
            <a:ext cx="3295732" cy="27464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C292DC-CE22-065E-B9D5-45752CF0DD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3323777"/>
            <a:ext cx="3295732" cy="274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92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80508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Ablation Studies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10</a:t>
            </a:fld>
            <a:r>
              <a:rPr lang="en-US" spc="-50" dirty="0"/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+mn-lt"/>
              </a:rPr>
              <a:t>Two Ablation Studies were run:</a:t>
            </a:r>
          </a:p>
          <a:p>
            <a:pPr marL="796925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Variable Training Set Fraction – 25%, 50%, 100%</a:t>
            </a:r>
          </a:p>
          <a:p>
            <a:pPr marL="796925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Variable Sequence Length – 128, 256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D5F2DC-D682-0AE1-4F83-53285FC55F59}"/>
              </a:ext>
            </a:extLst>
          </p:cNvPr>
          <p:cNvSpPr/>
          <p:nvPr/>
        </p:nvSpPr>
        <p:spPr>
          <a:xfrm>
            <a:off x="241268" y="2036260"/>
            <a:ext cx="3993506" cy="433860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DCAD1-428F-6593-D32D-073E4BEF1FFD}"/>
              </a:ext>
            </a:extLst>
          </p:cNvPr>
          <p:cNvSpPr/>
          <p:nvPr/>
        </p:nvSpPr>
        <p:spPr>
          <a:xfrm>
            <a:off x="4909228" y="2036260"/>
            <a:ext cx="3993506" cy="433860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3F98A7-7574-B65F-C31D-9AC1D1F3891C}"/>
              </a:ext>
            </a:extLst>
          </p:cNvPr>
          <p:cNvSpPr txBox="1"/>
          <p:nvPr/>
        </p:nvSpPr>
        <p:spPr>
          <a:xfrm>
            <a:off x="1020651" y="2153055"/>
            <a:ext cx="2434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Training Set Fraction</a:t>
            </a:r>
            <a:endParaRPr lang="en-US" sz="20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4663DA-74CE-DFAD-D0F5-BE44217C5EEB}"/>
              </a:ext>
            </a:extLst>
          </p:cNvPr>
          <p:cNvSpPr txBox="1"/>
          <p:nvPr/>
        </p:nvSpPr>
        <p:spPr>
          <a:xfrm>
            <a:off x="5688609" y="2153055"/>
            <a:ext cx="2434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Sequence Length</a:t>
            </a:r>
            <a:endParaRPr lang="en-US" sz="2000" dirty="0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92E030C-F4B6-DD59-F9EC-20160FE6C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549653"/>
              </p:ext>
            </p:extLst>
          </p:nvPr>
        </p:nvGraphicFramePr>
        <p:xfrm>
          <a:off x="367364" y="2614022"/>
          <a:ext cx="3741313" cy="1034796"/>
        </p:xfrm>
        <a:graphic>
          <a:graphicData uri="http://schemas.openxmlformats.org/drawingml/2006/table">
            <a:tbl>
              <a:tblPr firstRow="1" firstCol="1" bandRow="1"/>
              <a:tblGrid>
                <a:gridCol w="1231576">
                  <a:extLst>
                    <a:ext uri="{9D8B030D-6E8A-4147-A177-3AD203B41FA5}">
                      <a16:colId xmlns:a16="http://schemas.microsoft.com/office/drawing/2014/main" val="3745255075"/>
                    </a:ext>
                  </a:extLst>
                </a:gridCol>
                <a:gridCol w="901430">
                  <a:extLst>
                    <a:ext uri="{9D8B030D-6E8A-4147-A177-3AD203B41FA5}">
                      <a16:colId xmlns:a16="http://schemas.microsoft.com/office/drawing/2014/main" val="313225598"/>
                    </a:ext>
                  </a:extLst>
                </a:gridCol>
                <a:gridCol w="778212">
                  <a:extLst>
                    <a:ext uri="{9D8B030D-6E8A-4147-A177-3AD203B41FA5}">
                      <a16:colId xmlns:a16="http://schemas.microsoft.com/office/drawing/2014/main" val="1921703183"/>
                    </a:ext>
                  </a:extLst>
                </a:gridCol>
                <a:gridCol w="830095">
                  <a:extLst>
                    <a:ext uri="{9D8B030D-6E8A-4147-A177-3AD203B41FA5}">
                      <a16:colId xmlns:a16="http://schemas.microsoft.com/office/drawing/2014/main" val="1254382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Train fraction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Macro F1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4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LSTM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25%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0.8719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0.8713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692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Transformer Encoder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25%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0.8699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0.8696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304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LSTM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50%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0.8944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0.8940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110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Transformer Encoder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50%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0.8901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0.8895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439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LSTM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0.9089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0.9082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590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Transformer Encoder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0.9146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0.9142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01647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4ECE65-6DD3-52F7-5639-4EF4C3010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691822"/>
              </p:ext>
            </p:extLst>
          </p:nvPr>
        </p:nvGraphicFramePr>
        <p:xfrm>
          <a:off x="5045035" y="2761850"/>
          <a:ext cx="3731600" cy="739140"/>
        </p:xfrm>
        <a:graphic>
          <a:graphicData uri="http://schemas.openxmlformats.org/drawingml/2006/table">
            <a:tbl>
              <a:tblPr firstRow="1" firstCol="1" bandRow="1"/>
              <a:tblGrid>
                <a:gridCol w="1154727">
                  <a:extLst>
                    <a:ext uri="{9D8B030D-6E8A-4147-A177-3AD203B41FA5}">
                      <a16:colId xmlns:a16="http://schemas.microsoft.com/office/drawing/2014/main" val="3427439579"/>
                    </a:ext>
                  </a:extLst>
                </a:gridCol>
                <a:gridCol w="874740">
                  <a:extLst>
                    <a:ext uri="{9D8B030D-6E8A-4147-A177-3AD203B41FA5}">
                      <a16:colId xmlns:a16="http://schemas.microsoft.com/office/drawing/2014/main" val="780307965"/>
                    </a:ext>
                  </a:extLst>
                </a:gridCol>
                <a:gridCol w="523733">
                  <a:extLst>
                    <a:ext uri="{9D8B030D-6E8A-4147-A177-3AD203B41FA5}">
                      <a16:colId xmlns:a16="http://schemas.microsoft.com/office/drawing/2014/main" val="2325484379"/>
                    </a:ext>
                  </a:extLst>
                </a:gridCol>
                <a:gridCol w="589200">
                  <a:extLst>
                    <a:ext uri="{9D8B030D-6E8A-4147-A177-3AD203B41FA5}">
                      <a16:colId xmlns:a16="http://schemas.microsoft.com/office/drawing/2014/main" val="2291822479"/>
                    </a:ext>
                  </a:extLst>
                </a:gridCol>
                <a:gridCol w="589200">
                  <a:extLst>
                    <a:ext uri="{9D8B030D-6E8A-4147-A177-3AD203B41FA5}">
                      <a16:colId xmlns:a16="http://schemas.microsoft.com/office/drawing/2014/main" val="28017204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Max length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Loss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Macro F1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828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LSTM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128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0.3402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0.9113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0.9108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951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Transformer Encoder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128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0.3103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0.9118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0.9115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31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LSTM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256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0.3535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0.9065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0.9058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300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Transformer Encoder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256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0.3304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0.9062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0.9059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3897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2189F67-E796-49A4-9CE0-B0C8016EFD0D}"/>
              </a:ext>
            </a:extLst>
          </p:cNvPr>
          <p:cNvSpPr txBox="1"/>
          <p:nvPr/>
        </p:nvSpPr>
        <p:spPr>
          <a:xfrm>
            <a:off x="241268" y="3843990"/>
            <a:ext cx="39935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25% data, LSTM is slightly better.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50% data, LSTM is still better.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100% data, Transformer Encoder is better.</a:t>
            </a:r>
          </a:p>
          <a:p>
            <a:endParaRPr lang="en-US" sz="1600" dirty="0"/>
          </a:p>
          <a:p>
            <a:r>
              <a:rPr lang="en-US" sz="1600" dirty="0"/>
              <a:t>LSTM is more stable in lower-data settings, while the Transformer Encoder benefits more from the full dataset. </a:t>
            </a:r>
          </a:p>
          <a:p>
            <a:r>
              <a:rPr lang="en-US" sz="1600" dirty="0"/>
              <a:t>However, the differences are modest, so the result should be described as a trend rather than universal proof from this result.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F3A766-9F74-8CF2-F430-8EC3BD32B858}"/>
              </a:ext>
            </a:extLst>
          </p:cNvPr>
          <p:cNvSpPr txBox="1"/>
          <p:nvPr/>
        </p:nvSpPr>
        <p:spPr>
          <a:xfrm>
            <a:off x="4909227" y="3843990"/>
            <a:ext cx="39935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/>
            </a:lvl1pPr>
          </a:lstStyle>
          <a:p>
            <a:r>
              <a:rPr lang="en-US" dirty="0"/>
              <a:t>No improvement going from 128 to 256. Both models performed worse at 256 tokens.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Likely, AG News texts are short enough that 128 tokens already capture the useful signal.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Longer sequences increase computation and may introduce noisy or weakly useful tokens.</a:t>
            </a:r>
          </a:p>
        </p:txBody>
      </p:sp>
    </p:spTree>
    <p:extLst>
      <p:ext uri="{BB962C8B-B14F-4D97-AF65-F5344CB8AC3E}">
        <p14:creationId xmlns:p14="http://schemas.microsoft.com/office/powerpoint/2010/main" val="1238071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80508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Failure Analysis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11</a:t>
            </a:fld>
            <a:r>
              <a:rPr lang="en-US" spc="-50" dirty="0"/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E872D6-BE6F-C6BB-1680-FA9F1DFBE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363211"/>
              </p:ext>
            </p:extLst>
          </p:nvPr>
        </p:nvGraphicFramePr>
        <p:xfrm>
          <a:off x="287833" y="674666"/>
          <a:ext cx="8614899" cy="3903920"/>
        </p:xfrm>
        <a:graphic>
          <a:graphicData uri="http://schemas.openxmlformats.org/drawingml/2006/table">
            <a:tbl>
              <a:tblPr firstRow="1" firstCol="1" bandRow="1"/>
              <a:tblGrid>
                <a:gridCol w="374562">
                  <a:extLst>
                    <a:ext uri="{9D8B030D-6E8A-4147-A177-3AD203B41FA5}">
                      <a16:colId xmlns:a16="http://schemas.microsoft.com/office/drawing/2014/main" val="1227718581"/>
                    </a:ext>
                  </a:extLst>
                </a:gridCol>
                <a:gridCol w="2172453">
                  <a:extLst>
                    <a:ext uri="{9D8B030D-6E8A-4147-A177-3AD203B41FA5}">
                      <a16:colId xmlns:a16="http://schemas.microsoft.com/office/drawing/2014/main" val="730428118"/>
                    </a:ext>
                  </a:extLst>
                </a:gridCol>
                <a:gridCol w="898946">
                  <a:extLst>
                    <a:ext uri="{9D8B030D-6E8A-4147-A177-3AD203B41FA5}">
                      <a16:colId xmlns:a16="http://schemas.microsoft.com/office/drawing/2014/main" val="3188494461"/>
                    </a:ext>
                  </a:extLst>
                </a:gridCol>
                <a:gridCol w="1048771">
                  <a:extLst>
                    <a:ext uri="{9D8B030D-6E8A-4147-A177-3AD203B41FA5}">
                      <a16:colId xmlns:a16="http://schemas.microsoft.com/office/drawing/2014/main" val="147341789"/>
                    </a:ext>
                  </a:extLst>
                </a:gridCol>
                <a:gridCol w="1123683">
                  <a:extLst>
                    <a:ext uri="{9D8B030D-6E8A-4147-A177-3AD203B41FA5}">
                      <a16:colId xmlns:a16="http://schemas.microsoft.com/office/drawing/2014/main" val="3823263364"/>
                    </a:ext>
                  </a:extLst>
                </a:gridCol>
                <a:gridCol w="2996484">
                  <a:extLst>
                    <a:ext uri="{9D8B030D-6E8A-4147-A177-3AD203B41FA5}">
                      <a16:colId xmlns:a16="http://schemas.microsoft.com/office/drawing/2014/main" val="3966337809"/>
                    </a:ext>
                  </a:extLst>
                </a:gridCol>
              </a:tblGrid>
              <a:tr h="1657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#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Input excerpt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True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LSTM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Transformer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Likely reason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013392"/>
                  </a:ext>
                </a:extLst>
              </a:tr>
              <a:tr h="519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Live: Olympics day four Richard Faulds and Stephen Parry are going </a:t>
                      </a:r>
                      <a:r>
                        <a:rPr lang="en-US" sz="1200" kern="100" dirty="0" err="1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fo</a:t>
                      </a: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...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World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Sports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Sports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Sports terms dominate the short text even though the dataset section is World.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821302"/>
                  </a:ext>
                </a:extLst>
              </a:tr>
              <a:tr h="519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Intel to delay product aimed for high-definition TVs SAN FRANCISCO --...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Business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Sci/Tech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Sci/Tech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A technology company story overlaps Business and Sci/Tech vocabulary.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914092"/>
                  </a:ext>
                </a:extLst>
              </a:tr>
              <a:tr h="519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Prediction Unit Helps Forecast Wildfires (AP) AP - It's barely dawn w...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Sci/Tech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World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Sci/Tech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Weather prediction language mixes science terms with world-event framing.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451134"/>
                  </a:ext>
                </a:extLst>
              </a:tr>
              <a:tr h="519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Some People Not Eligible to Get in on Google IPO Google has billed it...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Sci/Tech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Business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Sci/Tech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Finance and technology cues conflict; the IPO framing points toward Business.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797075"/>
                  </a:ext>
                </a:extLst>
              </a:tr>
              <a:tr h="519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Teenage T. rex's monster growth Tyrannosaurus rex achieved its massiv...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Sci/Tech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Sci/Tech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Business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Very short science item gives limited context; the Transformer overweighs business-like wording.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97194"/>
                  </a:ext>
                </a:extLst>
              </a:tr>
              <a:tr h="519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6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IBM to hire even more new workers By the end of the year, the computi...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Sci/Tech</a:t>
                      </a:r>
                      <a:endParaRPr lang="en-US" sz="1200" kern="10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Sci/Tech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Business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Company hiring story overlaps labor/business cues and computing-company Sci/Tech label.</a:t>
                      </a:r>
                      <a:endParaRPr lang="en-US" sz="1200" kern="100" dirty="0">
                        <a:effectLst/>
                        <a:latin typeface="Gill Sans MT" panose="020B0502020104020203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6643" marR="4664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1705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9D7CD77-30CD-BE3D-1F55-C49BE014A8D1}"/>
              </a:ext>
            </a:extLst>
          </p:cNvPr>
          <p:cNvSpPr txBox="1"/>
          <p:nvPr/>
        </p:nvSpPr>
        <p:spPr>
          <a:xfrm>
            <a:off x="287832" y="4778588"/>
            <a:ext cx="86148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Surface cues can dominate the true news section. For example, an Olympics-related text labeled World was predicted as Sports by both models.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Business and Sci/Tech overlap heavily when a story discusses a technology company, IPO, chip delay, software company, or computing-related business event.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Short science or technology items can be ambiguous because there is less context for the model to average over.</a:t>
            </a:r>
          </a:p>
        </p:txBody>
      </p:sp>
    </p:spTree>
    <p:extLst>
      <p:ext uri="{BB962C8B-B14F-4D97-AF65-F5344CB8AC3E}">
        <p14:creationId xmlns:p14="http://schemas.microsoft.com/office/powerpoint/2010/main" val="1966007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80508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Conclusion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12</a:t>
            </a:fld>
            <a:r>
              <a:rPr lang="en-US" spc="-50" dirty="0"/>
              <a:t> of 12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9F116D-7940-3A66-90C9-CBE4E1321171}"/>
              </a:ext>
            </a:extLst>
          </p:cNvPr>
          <p:cNvSpPr txBox="1"/>
          <p:nvPr/>
        </p:nvSpPr>
        <p:spPr>
          <a:xfrm>
            <a:off x="334401" y="720991"/>
            <a:ext cx="85112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models reach about 91.2% final test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Transformer Encoder is slightly better on final test accuracy and macro F1.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LSTM is stronger at 25% and 50% training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Transformer Encoder benefits more at 100% training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max sequence length from 128 to 256 hurts validation performance in this run.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error pattern is Business vs Sci/Tech ambiguity.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models show overfitting by the final epoch.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Future work: early stopping, regularization, and class-level error reduction.</a:t>
            </a:r>
          </a:p>
        </p:txBody>
      </p:sp>
    </p:spTree>
    <p:extLst>
      <p:ext uri="{BB962C8B-B14F-4D97-AF65-F5344CB8AC3E}">
        <p14:creationId xmlns:p14="http://schemas.microsoft.com/office/powerpoint/2010/main" val="209744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39" y="6623992"/>
            <a:ext cx="2206625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200" b="1" spc="-10" dirty="0">
                <a:solidFill>
                  <a:srgbClr val="7F8FA9"/>
                </a:solidFill>
                <a:latin typeface="Calibri"/>
                <a:cs typeface="Calibri"/>
              </a:rPr>
              <a:t>Algorithmic</a:t>
            </a:r>
            <a:r>
              <a:rPr sz="1200" b="1" spc="80" dirty="0">
                <a:solidFill>
                  <a:srgbClr val="7F8FA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7F8FA9"/>
                </a:solidFill>
                <a:latin typeface="Calibri"/>
                <a:cs typeface="Calibri"/>
              </a:rPr>
              <a:t>Intelligence</a:t>
            </a:r>
            <a:r>
              <a:rPr sz="1200" b="1" spc="-5" dirty="0">
                <a:solidFill>
                  <a:srgbClr val="7F8FA9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7F8FA9"/>
                </a:solidFill>
                <a:latin typeface="Calibri"/>
                <a:cs typeface="Calibri"/>
              </a:rPr>
              <a:t>Laboratory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642100"/>
            <a:ext cx="2552700" cy="215900"/>
          </a:xfrm>
          <a:custGeom>
            <a:avLst/>
            <a:gdLst/>
            <a:ahLst/>
            <a:cxnLst/>
            <a:rect l="l" t="t" r="r" b="b"/>
            <a:pathLst>
              <a:path w="2552700" h="215900">
                <a:moveTo>
                  <a:pt x="2552700" y="0"/>
                </a:moveTo>
                <a:lnTo>
                  <a:pt x="0" y="0"/>
                </a:lnTo>
                <a:lnTo>
                  <a:pt x="0" y="215900"/>
                </a:lnTo>
                <a:lnTo>
                  <a:pt x="2552700" y="215900"/>
                </a:lnTo>
                <a:lnTo>
                  <a:pt x="2552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84150" y="412750"/>
            <a:ext cx="8785225" cy="0"/>
          </a:xfrm>
          <a:custGeom>
            <a:avLst/>
            <a:gdLst/>
            <a:ahLst/>
            <a:cxnLst/>
            <a:rect l="l" t="t" r="r" b="b"/>
            <a:pathLst>
              <a:path w="8785225">
                <a:moveTo>
                  <a:pt x="0" y="0"/>
                </a:moveTo>
                <a:lnTo>
                  <a:pt x="8784976" y="1"/>
                </a:lnTo>
              </a:path>
            </a:pathLst>
          </a:custGeom>
          <a:ln w="12700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9" name="Picture 8" descr="A blue and red logo&#10;&#10;AI-generated content may be incorrect.">
            <a:extLst>
              <a:ext uri="{FF2B5EF4-FFF2-40B4-BE49-F238E27FC236}">
                <a16:creationId xmlns:a16="http://schemas.microsoft.com/office/drawing/2014/main" id="{AC170A6F-8C65-A98B-0A1D-C5F9ECD759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0" y="45720"/>
            <a:ext cx="444532" cy="3083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68036E-919B-D93C-8CF7-3D131E99DD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48" y="97738"/>
            <a:ext cx="444532" cy="204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6FAEC6-56F5-3C37-41A3-B69782C57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74807"/>
            <a:ext cx="9144000" cy="350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3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1211</Words>
  <Application>Microsoft Office PowerPoint</Application>
  <PresentationFormat>On-screen Show (4:3)</PresentationFormat>
  <Paragraphs>267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Cambria Math</vt:lpstr>
      <vt:lpstr>Gill Sans MT</vt:lpstr>
      <vt:lpstr>Office Theme</vt:lpstr>
      <vt:lpstr>1_Office Theme</vt:lpstr>
      <vt:lpstr>LSTM vs Transformer Encoder for AG News Text Classification</vt:lpstr>
      <vt:lpstr>Table of Contents</vt:lpstr>
      <vt:lpstr>Introduction and Motivation</vt:lpstr>
      <vt:lpstr>Dataset</vt:lpstr>
      <vt:lpstr>Preprocessing</vt:lpstr>
      <vt:lpstr>Model Development</vt:lpstr>
      <vt:lpstr>Main Results</vt:lpstr>
      <vt:lpstr>Main Results</vt:lpstr>
      <vt:lpstr>Main Results</vt:lpstr>
      <vt:lpstr>Ablation Studies</vt:lpstr>
      <vt:lpstr>Failure Analysis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Muhammad Abdullah Hassan Malik</cp:lastModifiedBy>
  <cp:revision>13</cp:revision>
  <dcterms:created xsi:type="dcterms:W3CDTF">2013-01-27T09:14:16Z</dcterms:created>
  <dcterms:modified xsi:type="dcterms:W3CDTF">2026-06-19T09:13:05Z</dcterms:modified>
  <cp:category/>
</cp:coreProperties>
</file>