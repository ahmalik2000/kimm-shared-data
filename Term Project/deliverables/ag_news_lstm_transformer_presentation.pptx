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4D99"/>
                </a:solidFill>
              </a:defRPr>
            </a:pPr>
            <a:r>
              <a:t>LSTM vs Transformer Encoder for AG News Text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71800"/>
            <a:ext cx="69494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/>
            </a:pPr>
            <a:r>
              <a:t>Course: Introduction to Deep Learning</a:t>
            </a:r>
          </a:p>
          <a:p>
            <a:pPr algn="ctr">
              <a:defRPr sz="1200" b="0"/>
            </a:pPr>
            <a:r>
              <a:t>AG News Classification Term Project</a:t>
            </a:r>
          </a:p>
          <a:p>
            <a:pPr algn="ctr">
              <a:defRPr sz="1100" b="1"/>
            </a:pPr>
            <a:r>
              <a:t>Muhammad Abdullah Hassan Malik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2545"/>
                </a:solidFill>
              </a:defRPr>
            </a:pPr>
            <a: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7589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32323"/>
                </a:solidFill>
              </a:defRPr>
            </a:pPr>
            <a:r>
              <a:t>Introduction and Motivation</a:t>
            </a:r>
          </a:p>
          <a:p>
            <a:pPr>
              <a:spcAft>
                <a:spcPts val="500"/>
              </a:spcAft>
              <a:defRPr sz="1300">
                <a:solidFill>
                  <a:srgbClr val="232323"/>
                </a:solidFill>
              </a:defRPr>
            </a:pPr>
            <a:r>
              <a:t>Dataset and Preprocessing</a:t>
            </a:r>
          </a:p>
          <a:p>
            <a:pPr>
              <a:spcAft>
                <a:spcPts val="500"/>
              </a:spcAft>
              <a:defRPr sz="1300">
                <a:solidFill>
                  <a:srgbClr val="232323"/>
                </a:solidFill>
              </a:defRPr>
            </a:pPr>
            <a:r>
              <a:t>Model Development</a:t>
            </a:r>
          </a:p>
          <a:p>
            <a:pPr>
              <a:spcAft>
                <a:spcPts val="500"/>
              </a:spcAft>
              <a:defRPr sz="1300">
                <a:solidFill>
                  <a:srgbClr val="232323"/>
                </a:solidFill>
              </a:defRPr>
            </a:pPr>
            <a:r>
              <a:t>Main Comparison Results</a:t>
            </a:r>
          </a:p>
          <a:p>
            <a:pPr>
              <a:spcAft>
                <a:spcPts val="500"/>
              </a:spcAft>
              <a:defRPr sz="1300">
                <a:solidFill>
                  <a:srgbClr val="232323"/>
                </a:solidFill>
              </a:defRPr>
            </a:pPr>
            <a:r>
              <a:t>Ablation Study</a:t>
            </a:r>
          </a:p>
          <a:p>
            <a:pPr>
              <a:spcAft>
                <a:spcPts val="500"/>
              </a:spcAft>
              <a:defRPr sz="1300">
                <a:solidFill>
                  <a:srgbClr val="232323"/>
                </a:solidFill>
              </a:defRPr>
            </a:pPr>
            <a:r>
              <a:t>Failure Analysis</a:t>
            </a:r>
          </a:p>
          <a:p>
            <a:pPr>
              <a:spcAft>
                <a:spcPts val="500"/>
              </a:spcAft>
              <a:defRPr sz="1300">
                <a:solidFill>
                  <a:srgbClr val="232323"/>
                </a:solidFill>
              </a:defRPr>
            </a:pPr>
            <a:r>
              <a:t>Conclusion and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2545"/>
                </a:solidFill>
              </a:defRPr>
            </a:pPr>
            <a:r>
              <a:t>Why compare LSTM and Transformer Encoder models?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Both models are common sequence classifiers, but they process text differently.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The LSTM carries information recurrently through hidden states.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The Transformer Encoder uses self-attention to connect tokens directly.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The goal is to compare behavior, not only final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2545"/>
                </a:solidFill>
              </a:defRPr>
            </a:pPr>
            <a:r>
              <a:t>AG News provides a controlled four-class text classification task.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Dataset source: Hugging Face fancyzhx/ag_news only.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Classes: World, Sports, Business, and Sci/Tech.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Split: 108,000 train, 12,000 validation, and 7,600 official test examples.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The official test set is used only for final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2545"/>
                </a:solidFill>
              </a:defRPr>
            </a:pPr>
            <a:r>
              <a:t>Both models use the same processed input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Regex tokenizer and train-only vocabulary construction.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Vocabulary size capped at 20,000 tokens.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Maximum sequence length is 128 for the main comparison.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Padding masks are used during LSTM pooling and Transformer attention.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2545"/>
                </a:solidFill>
              </a:defRPr>
            </a:pPr>
            <a:r>
              <a:t>The two models are different but comparable in size.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234440"/>
            <a:ext cx="2240280" cy="1097280"/>
          </a:xfrm>
          <a:prstGeom prst="rect">
            <a:avLst/>
          </a:prstGeom>
          <a:solidFill>
            <a:srgbClr val="F2F4F7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E74B5"/>
                </a:solidFill>
              </a:defRPr>
            </a:pPr>
            <a:r>
              <a:t>2.83M</a:t>
            </a:r>
          </a:p>
          <a:p>
            <a:pPr algn="ctr">
              <a:defRPr sz="1100">
                <a:solidFill>
                  <a:srgbClr val="464646"/>
                </a:solidFill>
              </a:defRPr>
            </a:pPr>
            <a:r>
              <a:t>LSTM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234440"/>
            <a:ext cx="2240280" cy="1097280"/>
          </a:xfrm>
          <a:prstGeom prst="rect">
            <a:avLst/>
          </a:prstGeom>
          <a:solidFill>
            <a:srgbClr val="F2F4F7"/>
          </a:solidFill>
          <a:ln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E74B5"/>
                </a:solidFill>
              </a:defRPr>
            </a:pPr>
            <a:r>
              <a:t>2.97M</a:t>
            </a:r>
          </a:p>
          <a:p>
            <a:pPr algn="ctr">
              <a:defRPr sz="1100">
                <a:solidFill>
                  <a:srgbClr val="464646"/>
                </a:solidFill>
              </a:defRPr>
            </a:pPr>
            <a:r>
              <a:t>Transformer 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232323"/>
                </a:solidFill>
              </a:defRPr>
            </a:pPr>
            <a:r>
              <a:t>LSTM: embedding layer, one-layer bidirectional LSTM, masked mean pooling, dropout, classifier.</a:t>
            </a:r>
          </a:p>
          <a:p>
            <a:pPr>
              <a:spcAft>
                <a:spcPts val="500"/>
              </a:spcAft>
              <a:defRPr sz="1150">
                <a:solidFill>
                  <a:srgbClr val="232323"/>
                </a:solidFill>
              </a:defRPr>
            </a:pPr>
            <a:r>
              <a:t>Transformer Encoder: embeddings, learned positional encoding, two encoder layers, four heads, classifier.</a:t>
            </a:r>
          </a:p>
          <a:p>
            <a:pPr>
              <a:spcAft>
                <a:spcPts val="500"/>
              </a:spcAft>
              <a:defRPr sz="1150">
                <a:solidFill>
                  <a:srgbClr val="232323"/>
                </a:solidFill>
              </a:defRPr>
            </a:pPr>
            <a:r>
              <a:t>Trainable parameters: LSTM 2.83M; Transformer Encoder 2.97M.</a:t>
            </a:r>
          </a:p>
          <a:p>
            <a:pPr>
              <a:spcAft>
                <a:spcPts val="500"/>
              </a:spcAft>
              <a:defRPr sz="1150">
                <a:solidFill>
                  <a:srgbClr val="232323"/>
                </a:solidFill>
              </a:defRPr>
            </a:pPr>
            <a:r>
              <a:t>Both models are trained from scratch.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in_lo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3794760" cy="23717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2545"/>
                </a:solidFill>
              </a:defRPr>
            </a:pPr>
            <a:r>
              <a:t>Both models perform similarly, with a slight Transformer Encoder advantage.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4160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32323"/>
                </a:solidFill>
              </a:defRPr>
            </a:pPr>
            <a:r>
              <a:t>LSTM test accuracy: 0.9120; macro F1: 0.9118.</a:t>
            </a:r>
          </a:p>
          <a:p>
            <a:pPr>
              <a:spcAft>
                <a:spcPts val="500"/>
              </a:spcAft>
              <a:defRPr sz="1100">
                <a:solidFill>
                  <a:srgbClr val="232323"/>
                </a:solidFill>
              </a:defRPr>
            </a:pPr>
            <a:r>
              <a:t>Transformer Encoder test accuracy: 0.9125; macro F1: 0.9126.</a:t>
            </a:r>
          </a:p>
          <a:p>
            <a:pPr>
              <a:spcAft>
                <a:spcPts val="500"/>
              </a:spcAft>
              <a:defRPr sz="1100">
                <a:solidFill>
                  <a:srgbClr val="232323"/>
                </a:solidFill>
              </a:defRPr>
            </a:pPr>
            <a:r>
              <a:t>The difference is small, so the conclusion should be cautious.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in_lo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3794760" cy="23717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2545"/>
                </a:solidFill>
              </a:defRPr>
            </a:pPr>
            <a:r>
              <a:t>Both models show overfitting by the final epoch.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4160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32323"/>
                </a:solidFill>
              </a:defRPr>
            </a:pPr>
            <a:r>
              <a:t>Training loss continues to decrease across 6 epochs.</a:t>
            </a:r>
          </a:p>
          <a:p>
            <a:pPr>
              <a:spcAft>
                <a:spcPts val="500"/>
              </a:spcAft>
              <a:defRPr sz="1100">
                <a:solidFill>
                  <a:srgbClr val="232323"/>
                </a:solidFill>
              </a:defRPr>
            </a:pPr>
            <a:r>
              <a:t>Validation loss rises late in training.</a:t>
            </a:r>
          </a:p>
          <a:p>
            <a:pPr>
              <a:spcAft>
                <a:spcPts val="500"/>
              </a:spcAft>
              <a:defRPr sz="1100">
                <a:solidFill>
                  <a:srgbClr val="232323"/>
                </a:solidFill>
              </a:defRPr>
            </a:pPr>
            <a:r>
              <a:t>This suggests early stopping or stronger regularization as the next experiment.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nsformer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3794760" cy="31623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2545"/>
                </a:solidFill>
              </a:defRPr>
            </a:pPr>
            <a:r>
              <a:t>Business and Sci/Tech are the main source of class-level errors.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4160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32323"/>
                </a:solidFill>
              </a:defRPr>
            </a:pPr>
            <a:r>
              <a:t>Sports is the easiest class for both models.</a:t>
            </a:r>
          </a:p>
          <a:p>
            <a:pPr>
              <a:spcAft>
                <a:spcPts val="500"/>
              </a:spcAft>
              <a:defRPr sz="1100">
                <a:solidFill>
                  <a:srgbClr val="232323"/>
                </a:solidFill>
              </a:defRPr>
            </a:pPr>
            <a:r>
              <a:t>Business and Sci/Tech overlap because many company stories include technology terms.</a:t>
            </a:r>
          </a:p>
          <a:p>
            <a:pPr>
              <a:spcAft>
                <a:spcPts val="500"/>
              </a:spcAft>
              <a:defRPr sz="1100">
                <a:solidFill>
                  <a:srgbClr val="232323"/>
                </a:solidFill>
              </a:defRPr>
            </a:pPr>
            <a:r>
              <a:t>The pattern is consistent with the selected failure examples.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LSTM is more stable with less data; Transformer benefits from the full dataset.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25% data: LSTM 0.8719 vs Transformer 0.8699 validation accuracy.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50% data: LSTM 0.8944 vs Transformer 0.8901.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100% data: Transformer 0.9146 vs LSTM 0.9089.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The result supports the data-efficiency hypothesis.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109728"/>
            <a:ext cx="228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4E79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46304"/>
            <a:ext cx="8458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Architecture differences appear most clearly in data efficiency and failure patterns.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530352"/>
            <a:ext cx="8458200" cy="1828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7772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Transformer Encoder slightly wins the final test comparison.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LSTM performs better in limited-data settings.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Longer 256-token inputs did not improve validation metrics.</a:t>
            </a:r>
          </a:p>
          <a:p>
            <a:pPr>
              <a:spcAft>
                <a:spcPts val="500"/>
              </a:spcAft>
              <a:defRPr sz="1200">
                <a:solidFill>
                  <a:srgbClr val="232323"/>
                </a:solidFill>
              </a:defRPr>
            </a:pPr>
            <a:r>
              <a:t>Future work: early stopping, regularization, and class-level error reduction.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6565392"/>
            <a:ext cx="320040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50">
                <a:solidFill>
                  <a:srgbClr val="1F4E79"/>
                </a:solidFill>
              </a:defRPr>
            </a:pPr>
            <a:r>
              <a:t>Advanced Battery Manufacturing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565392"/>
            <a:ext cx="50292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550">
                <a:solidFill>
                  <a:srgbClr val="787878"/>
                </a:solidFill>
              </a:defRPr>
            </a:pPr>
            <a:r>
              <a:t>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