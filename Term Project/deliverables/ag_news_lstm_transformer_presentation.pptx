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</p:sldMasterIdLst>
  <p:notesMasterIdLst>
    <p:notesMasterId r:id="rId16"/>
  </p:notesMasterIdLst>
  <p:sldIdLst>
    <p:sldId id="267" r:id="rId3"/>
    <p:sldId id="275" r:id="rId4"/>
    <p:sldId id="276" r:id="rId5"/>
    <p:sldId id="277" r:id="rId6"/>
    <p:sldId id="278" r:id="rId7"/>
    <p:sldId id="279" r:id="rId8"/>
    <p:sldId id="280" r:id="rId9"/>
    <p:sldId id="281" r:id="rId10"/>
    <p:sldId id="282" r:id="rId11"/>
    <p:sldId id="283" r:id="rId12"/>
    <p:sldId id="284" r:id="rId13"/>
    <p:sldId id="285" r:id="rId14"/>
    <p:sldId id="27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47" d="100"/>
          <a:sy n="147" d="100"/>
        </p:scale>
        <p:origin x="2106" y="1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viewProps" Target="view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10" Type="http://schemas.openxmlformats.org/officeDocument/2006/relationships/slide" Target="slides/slide8.xml"/><Relationship Id="rId19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5AF0217-9BC0-4857-8106-3A0149648FBC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B55D7F9-1E30-4644-8938-31FF332888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90735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54D7167-44B4-449E-8CFC-91B1CBD2090B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07200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54D7167-44B4-449E-8CFC-91B1CBD2090B}" type="slidenum">
              <a:rPr kumimoji="0" lang="en-US" sz="1200" b="0" i="0" u="none" strike="noStrike" kern="0" cap="none" spc="0" normalizeH="0" baseline="0" noProof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348846304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54D7167-44B4-449E-8CFC-91B1CBD2090B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582756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54D7167-44B4-449E-8CFC-91B1CBD2090B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068626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54D7167-44B4-449E-8CFC-91B1CBD2090B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121217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54D7167-44B4-449E-8CFC-91B1CBD2090B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34758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54D7167-44B4-449E-8CFC-91B1CBD2090B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371734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54D7167-44B4-449E-8CFC-91B1CBD2090B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621202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54D7167-44B4-449E-8CFC-91B1CBD2090B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881959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54D7167-44B4-449E-8CFC-91B1CBD2090B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7165710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54D7167-44B4-449E-8CFC-91B1CBD2090B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176493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54D7167-44B4-449E-8CFC-91B1CBD2090B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58108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334401" y="182802"/>
            <a:ext cx="3925570" cy="3302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1" i="0">
                <a:solidFill>
                  <a:srgbClr val="3E5893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3840480"/>
            <a:ext cx="64008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78739" y="6611292"/>
            <a:ext cx="3807461" cy="369332"/>
          </a:xfrm>
        </p:spPr>
        <p:txBody>
          <a:bodyPr lIns="0" tIns="0" rIns="0" bIns="0"/>
          <a:lstStyle>
            <a:lvl1pPr>
              <a:defRPr sz="1200" b="1" i="0">
                <a:solidFill>
                  <a:srgbClr val="7F8FA9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80" dirty="0">
                <a:solidFill>
                  <a:srgbClr val="1F497D"/>
                </a:solidFill>
              </a:rPr>
              <a:t>Advanced Battery Manufacturing Systems</a:t>
            </a:r>
            <a:endParaRPr lang="en-US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6/18/2026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3E5893"/>
                </a:solidFill>
                <a:latin typeface="Calibri"/>
                <a:cs typeface="Calibri"/>
              </a:defRPr>
            </a:lvl1pPr>
          </a:lstStyle>
          <a:p>
            <a:pPr marL="3303904">
              <a:spcBef>
                <a:spcPts val="40"/>
              </a:spcBef>
            </a:pPr>
            <a:fld id="{81D60167-4931-47E6-BA6A-407CBD079E47}" type="slidenum">
              <a:rPr lang="en-US" spc="-50" smtClean="0"/>
              <a:pPr marL="3303904">
                <a:spcBef>
                  <a:spcPts val="40"/>
                </a:spcBef>
              </a:pPr>
              <a:t>‹#›</a:t>
            </a:fld>
            <a:r>
              <a:rPr lang="en-US" spc="-50" dirty="0"/>
              <a:t> of max</a:t>
            </a:r>
          </a:p>
        </p:txBody>
      </p:sp>
    </p:spTree>
    <p:extLst>
      <p:ext uri="{BB962C8B-B14F-4D97-AF65-F5344CB8AC3E}">
        <p14:creationId xmlns:p14="http://schemas.microsoft.com/office/powerpoint/2010/main" val="7019790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000" b="1" i="0">
                <a:solidFill>
                  <a:srgbClr val="3E5893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0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78739" y="6611292"/>
            <a:ext cx="3502661" cy="369332"/>
          </a:xfrm>
        </p:spPr>
        <p:txBody>
          <a:bodyPr lIns="0" tIns="0" rIns="0" bIns="0"/>
          <a:lstStyle>
            <a:lvl1pPr>
              <a:defRPr sz="1200" b="1" i="0">
                <a:solidFill>
                  <a:srgbClr val="7F8FA9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80" dirty="0">
                <a:solidFill>
                  <a:srgbClr val="1F497D"/>
                </a:solidFill>
              </a:rPr>
              <a:t>Advanced Battery Manufacturing Systems</a:t>
            </a:r>
            <a:endParaRPr lang="en-US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6/18/2026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3E5893"/>
                </a:solidFill>
                <a:latin typeface="Calibri"/>
                <a:cs typeface="Calibri"/>
              </a:defRPr>
            </a:lvl1pPr>
          </a:lstStyle>
          <a:p>
            <a:pPr marL="3303904">
              <a:spcBef>
                <a:spcPts val="40"/>
              </a:spcBef>
            </a:pPr>
            <a:fld id="{81D60167-4931-47E6-BA6A-407CBD079E47}" type="slidenum">
              <a:rPr lang="en-US" spc="-50" smtClean="0"/>
              <a:pPr marL="3303904">
                <a:spcBef>
                  <a:spcPts val="40"/>
                </a:spcBef>
              </a:pPr>
              <a:t>‹#›</a:t>
            </a:fld>
            <a:r>
              <a:rPr lang="en-US" spc="-50" dirty="0"/>
              <a:t> of max</a:t>
            </a:r>
          </a:p>
        </p:txBody>
      </p:sp>
    </p:spTree>
    <p:extLst>
      <p:ext uri="{BB962C8B-B14F-4D97-AF65-F5344CB8AC3E}">
        <p14:creationId xmlns:p14="http://schemas.microsoft.com/office/powerpoint/2010/main" val="427351334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000" b="1" i="0">
                <a:solidFill>
                  <a:srgbClr val="3E5893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577340"/>
            <a:ext cx="397764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577340"/>
            <a:ext cx="397764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rgbClr val="7F8FA9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40"/>
              </a:spcBef>
            </a:pPr>
            <a:r>
              <a:rPr spc="-10" dirty="0"/>
              <a:t>Algorithmic</a:t>
            </a:r>
            <a:r>
              <a:rPr spc="80" dirty="0"/>
              <a:t> </a:t>
            </a:r>
            <a:r>
              <a:rPr spc="-10" dirty="0"/>
              <a:t>Intelligence</a:t>
            </a:r>
            <a:r>
              <a:rPr spc="-5" dirty="0"/>
              <a:t> </a:t>
            </a:r>
            <a:r>
              <a:rPr spc="-10" dirty="0"/>
              <a:t>Laboratory</a:t>
            </a: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6/18/2026</a:t>
            </a:fld>
            <a:endParaRPr lang="en-US" dirty="0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3E5893"/>
                </a:solidFill>
                <a:latin typeface="Calibri"/>
                <a:cs typeface="Calibri"/>
              </a:defRPr>
            </a:lvl1pPr>
          </a:lstStyle>
          <a:p>
            <a:pPr marL="3303904">
              <a:spcBef>
                <a:spcPts val="40"/>
              </a:spcBef>
            </a:pPr>
            <a:fld id="{81D60167-4931-47E6-BA6A-407CBD079E47}" type="slidenum">
              <a:rPr lang="en-US" spc="-50" smtClean="0"/>
              <a:pPr marL="3303904">
                <a:spcBef>
                  <a:spcPts val="40"/>
                </a:spcBef>
              </a:pPr>
              <a:t>‹#›</a:t>
            </a:fld>
            <a:r>
              <a:rPr lang="en-US" spc="-50" dirty="0"/>
              <a:t> of max</a:t>
            </a:r>
          </a:p>
        </p:txBody>
      </p:sp>
    </p:spTree>
    <p:extLst>
      <p:ext uri="{BB962C8B-B14F-4D97-AF65-F5344CB8AC3E}">
        <p14:creationId xmlns:p14="http://schemas.microsoft.com/office/powerpoint/2010/main" val="151141003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000" b="1" i="0">
                <a:solidFill>
                  <a:srgbClr val="3E5893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rgbClr val="7F8FA9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40"/>
              </a:spcBef>
            </a:pPr>
            <a:r>
              <a:rPr spc="-10" dirty="0"/>
              <a:t>Algorithmic</a:t>
            </a:r>
            <a:r>
              <a:rPr spc="80" dirty="0"/>
              <a:t> </a:t>
            </a:r>
            <a:r>
              <a:rPr spc="-10" dirty="0"/>
              <a:t>Intelligence</a:t>
            </a:r>
            <a:r>
              <a:rPr spc="-5" dirty="0"/>
              <a:t> </a:t>
            </a:r>
            <a:r>
              <a:rPr spc="-10" dirty="0"/>
              <a:t>Laboratory</a:t>
            </a: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6/18/2026</a:t>
            </a:fld>
            <a:endParaRPr lang="en-US" dirty="0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3E5893"/>
                </a:solidFill>
                <a:latin typeface="Calibri"/>
                <a:cs typeface="Calibri"/>
              </a:defRPr>
            </a:lvl1pPr>
          </a:lstStyle>
          <a:p>
            <a:pPr marL="3303904">
              <a:spcBef>
                <a:spcPts val="40"/>
              </a:spcBef>
            </a:pPr>
            <a:fld id="{81D60167-4931-47E6-BA6A-407CBD079E47}" type="slidenum">
              <a:rPr lang="en-US" spc="-50" smtClean="0"/>
              <a:pPr marL="3303904">
                <a:spcBef>
                  <a:spcPts val="40"/>
                </a:spcBef>
              </a:pPr>
              <a:t>‹#›</a:t>
            </a:fld>
            <a:r>
              <a:rPr lang="en-US" spc="-50" dirty="0"/>
              <a:t> of max</a:t>
            </a:r>
          </a:p>
        </p:txBody>
      </p:sp>
    </p:spTree>
    <p:extLst>
      <p:ext uri="{BB962C8B-B14F-4D97-AF65-F5344CB8AC3E}">
        <p14:creationId xmlns:p14="http://schemas.microsoft.com/office/powerpoint/2010/main" val="210246256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rgbClr val="7F8FA9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40"/>
              </a:spcBef>
            </a:pPr>
            <a:r>
              <a:rPr spc="-10" dirty="0"/>
              <a:t>Algorithmic</a:t>
            </a:r>
            <a:r>
              <a:rPr spc="80" dirty="0"/>
              <a:t> </a:t>
            </a:r>
            <a:r>
              <a:rPr spc="-10" dirty="0"/>
              <a:t>Intelligence</a:t>
            </a:r>
            <a:r>
              <a:rPr spc="-5" dirty="0"/>
              <a:t> </a:t>
            </a:r>
            <a:r>
              <a:rPr spc="-10" dirty="0"/>
              <a:t>Laboratory</a:t>
            </a: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6/18/2026</a:t>
            </a:fld>
            <a:endParaRPr lang="en-US" dirty="0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3E5893"/>
                </a:solidFill>
                <a:latin typeface="Calibri"/>
                <a:cs typeface="Calibri"/>
              </a:defRPr>
            </a:lvl1pPr>
          </a:lstStyle>
          <a:p>
            <a:pPr marL="3303904">
              <a:spcBef>
                <a:spcPts val="40"/>
              </a:spcBef>
            </a:pPr>
            <a:fld id="{81D60167-4931-47E6-BA6A-407CBD079E47}" type="slidenum">
              <a:rPr lang="en-US" spc="-50" smtClean="0"/>
              <a:pPr marL="3303904">
                <a:spcBef>
                  <a:spcPts val="40"/>
                </a:spcBef>
              </a:pPr>
              <a:t>‹#›</a:t>
            </a:fld>
            <a:r>
              <a:rPr lang="en-US" spc="-50" dirty="0"/>
              <a:t> of max</a:t>
            </a:r>
          </a:p>
        </p:txBody>
      </p:sp>
    </p:spTree>
    <p:extLst>
      <p:ext uri="{BB962C8B-B14F-4D97-AF65-F5344CB8AC3E}">
        <p14:creationId xmlns:p14="http://schemas.microsoft.com/office/powerpoint/2010/main" val="38500914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theme" Target="../theme/theme2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254000" y="546100"/>
            <a:ext cx="8641080" cy="0"/>
          </a:xfrm>
          <a:custGeom>
            <a:avLst/>
            <a:gdLst/>
            <a:ahLst/>
            <a:cxnLst/>
            <a:rect l="l" t="t" r="r" b="b"/>
            <a:pathLst>
              <a:path w="8641080">
                <a:moveTo>
                  <a:pt x="0" y="0"/>
                </a:moveTo>
                <a:lnTo>
                  <a:pt x="8640960" y="1"/>
                </a:lnTo>
              </a:path>
            </a:pathLst>
          </a:custGeom>
          <a:ln w="25400">
            <a:solidFill>
              <a:srgbClr val="3E5893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34401" y="182802"/>
            <a:ext cx="5744210" cy="3302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1" i="0">
                <a:solidFill>
                  <a:srgbClr val="3E5893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30259" y="3189624"/>
            <a:ext cx="8611235" cy="23120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78739" y="6611292"/>
            <a:ext cx="3426461" cy="18466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00" b="1" i="0">
                <a:solidFill>
                  <a:srgbClr val="7F8FA9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80" dirty="0">
                <a:solidFill>
                  <a:srgbClr val="1F497D"/>
                </a:solidFill>
              </a:rPr>
              <a:t>Advanced Battery Manufacturing Systems</a:t>
            </a:r>
            <a:endParaRPr lang="en-US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6377940"/>
            <a:ext cx="210312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6/18/2026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181600" y="6609807"/>
            <a:ext cx="3924873" cy="18466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00" b="0" i="0">
                <a:solidFill>
                  <a:srgbClr val="3E5893"/>
                </a:solidFill>
                <a:latin typeface="Calibri"/>
                <a:cs typeface="Calibri"/>
              </a:defRPr>
            </a:lvl1pPr>
          </a:lstStyle>
          <a:p>
            <a:pPr marL="3303904">
              <a:spcBef>
                <a:spcPts val="40"/>
              </a:spcBef>
            </a:pPr>
            <a:fld id="{81D60167-4931-47E6-BA6A-407CBD079E47}" type="slidenum">
              <a:rPr lang="en-US" spc="-50" smtClean="0"/>
              <a:pPr marL="3303904">
                <a:spcBef>
                  <a:spcPts val="40"/>
                </a:spcBef>
              </a:pPr>
              <a:t>‹#›</a:t>
            </a:fld>
            <a:r>
              <a:rPr lang="en-US" spc="-50" dirty="0"/>
              <a:t> of max</a:t>
            </a:r>
          </a:p>
        </p:txBody>
      </p:sp>
    </p:spTree>
    <p:extLst>
      <p:ext uri="{BB962C8B-B14F-4D97-AF65-F5344CB8AC3E}">
        <p14:creationId xmlns:p14="http://schemas.microsoft.com/office/powerpoint/2010/main" val="22096543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1439" y="6623992"/>
            <a:ext cx="2206625" cy="18605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1385"/>
              </a:lnSpc>
            </a:pPr>
            <a:r>
              <a:rPr sz="1200" b="1" spc="-10" dirty="0">
                <a:solidFill>
                  <a:srgbClr val="7F8FA9"/>
                </a:solidFill>
                <a:latin typeface="Calibri"/>
                <a:cs typeface="Calibri"/>
              </a:rPr>
              <a:t>Algorithmic</a:t>
            </a:r>
            <a:r>
              <a:rPr sz="1200" b="1" spc="80" dirty="0">
                <a:solidFill>
                  <a:srgbClr val="7F8FA9"/>
                </a:solidFill>
                <a:latin typeface="Calibri"/>
                <a:cs typeface="Calibri"/>
              </a:rPr>
              <a:t> </a:t>
            </a:r>
            <a:r>
              <a:rPr sz="1200" b="1" spc="-10" dirty="0">
                <a:solidFill>
                  <a:srgbClr val="7F8FA9"/>
                </a:solidFill>
                <a:latin typeface="Calibri"/>
                <a:cs typeface="Calibri"/>
              </a:rPr>
              <a:t>Intelligence</a:t>
            </a:r>
            <a:r>
              <a:rPr sz="1200" b="1" spc="-5" dirty="0">
                <a:solidFill>
                  <a:srgbClr val="7F8FA9"/>
                </a:solidFill>
                <a:latin typeface="Calibri"/>
                <a:cs typeface="Calibri"/>
              </a:rPr>
              <a:t> </a:t>
            </a:r>
            <a:r>
              <a:rPr sz="1200" b="1" spc="-25" dirty="0">
                <a:solidFill>
                  <a:srgbClr val="7F8FA9"/>
                </a:solidFill>
                <a:latin typeface="Calibri"/>
                <a:cs typeface="Calibri"/>
              </a:rPr>
              <a:t>Laboratory</a:t>
            </a:r>
            <a:endParaRPr sz="1200" dirty="0">
              <a:latin typeface="Calibri"/>
              <a:cs typeface="Calibri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0" y="6642100"/>
            <a:ext cx="2552700" cy="215900"/>
          </a:xfrm>
          <a:custGeom>
            <a:avLst/>
            <a:gdLst/>
            <a:ahLst/>
            <a:cxnLst/>
            <a:rect l="l" t="t" r="r" b="b"/>
            <a:pathLst>
              <a:path w="2552700" h="215900">
                <a:moveTo>
                  <a:pt x="2552700" y="0"/>
                </a:moveTo>
                <a:lnTo>
                  <a:pt x="0" y="0"/>
                </a:lnTo>
                <a:lnTo>
                  <a:pt x="0" y="215900"/>
                </a:lnTo>
                <a:lnTo>
                  <a:pt x="2552700" y="215900"/>
                </a:lnTo>
                <a:lnTo>
                  <a:pt x="25527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5" name="object 5"/>
          <p:cNvSpPr/>
          <p:nvPr/>
        </p:nvSpPr>
        <p:spPr>
          <a:xfrm>
            <a:off x="184150" y="412750"/>
            <a:ext cx="8785225" cy="0"/>
          </a:xfrm>
          <a:custGeom>
            <a:avLst/>
            <a:gdLst/>
            <a:ahLst/>
            <a:cxnLst/>
            <a:rect l="l" t="t" r="r" b="b"/>
            <a:pathLst>
              <a:path w="8785225">
                <a:moveTo>
                  <a:pt x="0" y="0"/>
                </a:moveTo>
                <a:lnTo>
                  <a:pt x="8784976" y="1"/>
                </a:lnTo>
              </a:path>
            </a:pathLst>
          </a:custGeom>
          <a:ln w="12700">
            <a:solidFill>
              <a:srgbClr val="44546A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7" name="object 7"/>
          <p:cNvSpPr txBox="1">
            <a:spLocks noGrp="1"/>
          </p:cNvSpPr>
          <p:nvPr>
            <p:ph type="title"/>
          </p:nvPr>
        </p:nvSpPr>
        <p:spPr>
          <a:xfrm>
            <a:off x="1177672" y="1821485"/>
            <a:ext cx="6788657" cy="971484"/>
          </a:xfrm>
          <a:prstGeom prst="rect">
            <a:avLst/>
          </a:prstGeom>
        </p:spPr>
        <p:txBody>
          <a:bodyPr vert="horz" wrap="square" lIns="0" tIns="63500" rIns="0" bIns="0" rtlCol="0">
            <a:spAutoFit/>
          </a:bodyPr>
          <a:lstStyle/>
          <a:p>
            <a:pPr marR="5080" algn="ctr">
              <a:lnSpc>
                <a:spcPts val="3500"/>
              </a:lnSpc>
              <a:spcBef>
                <a:spcPts val="500"/>
              </a:spcBef>
            </a:pPr>
            <a:r>
              <a:rPr lang="en-US" sz="3600" dirty="0">
                <a:solidFill>
                  <a:srgbClr val="0070C0"/>
                </a:solidFill>
              </a:rPr>
              <a:t>LSTM vs Transformer Encoder for AG News Text Classification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2700" y="4495800"/>
            <a:ext cx="77186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latin typeface="+mn-lt"/>
              </a:rPr>
              <a:t>Team:</a:t>
            </a:r>
          </a:p>
          <a:p>
            <a:pPr algn="ctr"/>
            <a:r>
              <a:rPr lang="en-US" sz="2000" dirty="0">
                <a:latin typeface="+mn-lt"/>
              </a:rPr>
              <a:t>Malik Muhammad Abdullah Hassan - 02621070 </a:t>
            </a:r>
          </a:p>
          <a:p>
            <a:pPr algn="ctr"/>
            <a:r>
              <a:rPr lang="en-US" sz="2000" dirty="0">
                <a:latin typeface="+mn-lt"/>
              </a:rPr>
              <a:t>Syed Muhammad Shabih Ahmad – 02623026 </a:t>
            </a:r>
          </a:p>
          <a:p>
            <a:pPr algn="ctr"/>
            <a:r>
              <a:rPr lang="en-US" sz="2000" dirty="0">
                <a:latin typeface="+mn-lt"/>
              </a:rPr>
              <a:t>Zain Shabbir – 02623024 </a:t>
            </a:r>
          </a:p>
        </p:txBody>
      </p:sp>
      <p:pic>
        <p:nvPicPr>
          <p:cNvPr id="9" name="Picture 8" descr="A blue and red logo&#10;&#10;AI-generated content may be incorrect.">
            <a:extLst>
              <a:ext uri="{FF2B5EF4-FFF2-40B4-BE49-F238E27FC236}">
                <a16:creationId xmlns:a16="http://schemas.microsoft.com/office/drawing/2014/main" id="{AC170A6F-8C65-A98B-0A1D-C5F9ECD7590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03920" y="45720"/>
            <a:ext cx="444532" cy="308324"/>
          </a:xfrm>
          <a:prstGeom prst="rect">
            <a:avLst/>
          </a:prstGeom>
        </p:spPr>
      </p:pic>
      <p:sp>
        <p:nvSpPr>
          <p:cNvPr id="8" name="object 7">
            <a:extLst>
              <a:ext uri="{FF2B5EF4-FFF2-40B4-BE49-F238E27FC236}">
                <a16:creationId xmlns:a16="http://schemas.microsoft.com/office/drawing/2014/main" id="{58D49150-89F1-0A09-F72E-25841EBDC9E4}"/>
              </a:ext>
            </a:extLst>
          </p:cNvPr>
          <p:cNvSpPr txBox="1">
            <a:spLocks/>
          </p:cNvSpPr>
          <p:nvPr/>
        </p:nvSpPr>
        <p:spPr>
          <a:xfrm>
            <a:off x="1177672" y="3824609"/>
            <a:ext cx="6788657" cy="481991"/>
          </a:xfrm>
          <a:prstGeom prst="rect">
            <a:avLst/>
          </a:prstGeom>
        </p:spPr>
        <p:txBody>
          <a:bodyPr vert="horz" wrap="square" lIns="0" tIns="63500" rIns="0" bIns="0" rtlCol="0">
            <a:spAutoFit/>
          </a:bodyPr>
          <a:lstStyle>
            <a:lvl1pPr>
              <a:defRPr sz="2000" b="1" i="0">
                <a:solidFill>
                  <a:srgbClr val="3E5893"/>
                </a:solidFill>
                <a:latin typeface="Calibri"/>
                <a:ea typeface="+mj-ea"/>
                <a:cs typeface="Calibri"/>
              </a:defRPr>
            </a:lvl1pPr>
          </a:lstStyle>
          <a:p>
            <a:pPr marR="5080" algn="ctr">
              <a:lnSpc>
                <a:spcPts val="3500"/>
              </a:lnSpc>
              <a:spcBef>
                <a:spcPts val="500"/>
              </a:spcBef>
            </a:pPr>
            <a:r>
              <a:rPr lang="en-US" dirty="0">
                <a:solidFill>
                  <a:schemeClr val="tx2">
                    <a:lumMod val="50000"/>
                  </a:schemeClr>
                </a:solidFill>
              </a:rPr>
              <a:t>Introduction to Deep Learning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168036E-919B-D93C-8CF7-3D131E99DD4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5548" y="97738"/>
            <a:ext cx="444532" cy="204288"/>
          </a:xfrm>
          <a:prstGeom prst="rect">
            <a:avLst/>
          </a:prstGeom>
        </p:spPr>
      </p:pic>
      <p:sp>
        <p:nvSpPr>
          <p:cNvPr id="6" name="object 7">
            <a:extLst>
              <a:ext uri="{FF2B5EF4-FFF2-40B4-BE49-F238E27FC236}">
                <a16:creationId xmlns:a16="http://schemas.microsoft.com/office/drawing/2014/main" id="{8A5EB360-3319-4A8C-DDE3-2BE62CDDFC4B}"/>
              </a:ext>
            </a:extLst>
          </p:cNvPr>
          <p:cNvSpPr txBox="1">
            <a:spLocks/>
          </p:cNvSpPr>
          <p:nvPr/>
        </p:nvSpPr>
        <p:spPr>
          <a:xfrm>
            <a:off x="1177672" y="2781344"/>
            <a:ext cx="6788657" cy="371897"/>
          </a:xfrm>
          <a:prstGeom prst="rect">
            <a:avLst/>
          </a:prstGeom>
        </p:spPr>
        <p:txBody>
          <a:bodyPr vert="horz" wrap="square" lIns="0" tIns="63500" rIns="0" bIns="0" rtlCol="0">
            <a:spAutoFit/>
          </a:bodyPr>
          <a:lstStyle>
            <a:lvl1pPr>
              <a:defRPr sz="2000" b="1" i="0">
                <a:solidFill>
                  <a:srgbClr val="3E5893"/>
                </a:solidFill>
                <a:latin typeface="Calibri"/>
                <a:ea typeface="+mj-ea"/>
                <a:cs typeface="Calibri"/>
              </a:defRPr>
            </a:lvl1pPr>
          </a:lstStyle>
          <a:p>
            <a:pPr marR="5080" algn="ctr">
              <a:spcBef>
                <a:spcPts val="500"/>
              </a:spcBef>
            </a:pPr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</a:rPr>
              <a:t>Term Project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-10" dirty="0"/>
              <a:t>Table of Contents</a:t>
            </a:r>
            <a:endParaRPr spc="-10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7"/>
          </p:nvPr>
        </p:nvSpPr>
        <p:spPr>
          <a:xfrm>
            <a:off x="5181600" y="6609807"/>
            <a:ext cx="3924873" cy="184666"/>
          </a:xfrm>
        </p:spPr>
        <p:txBody>
          <a:bodyPr/>
          <a:lstStyle/>
          <a:p>
            <a:pPr marL="3303904" marR="0" lvl="0" indent="0" defTabSz="914400" eaLnBrk="1" fontAlgn="auto" latinLnBrk="0" hangingPunct="1">
              <a:lnSpc>
                <a:spcPct val="100000"/>
              </a:lnSpc>
              <a:spcBef>
                <a:spcPts val="4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1D60167-4931-47E6-BA6A-407CBD079E47}" type="slidenum">
              <a:rPr kumimoji="0" lang="en-US" sz="1200" b="0" i="0" u="none" strike="noStrike" kern="0" cap="none" spc="-50" normalizeH="0" baseline="0" noProof="0" smtClean="0">
                <a:ln>
                  <a:noFill/>
                </a:ln>
                <a:solidFill>
                  <a:srgbClr val="3E5893"/>
                </a:solidFill>
                <a:effectLst/>
                <a:uLnTx/>
                <a:uFillTx/>
                <a:latin typeface="Calibri"/>
                <a:cs typeface="Calibri"/>
              </a:rPr>
              <a:pPr marL="3303904" marR="0" lvl="0" indent="0" defTabSz="914400" eaLnBrk="1" fontAlgn="auto" latinLnBrk="0" hangingPunct="1">
                <a:lnSpc>
                  <a:spcPct val="100000"/>
                </a:lnSpc>
                <a:spcBef>
                  <a:spcPts val="4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r>
              <a:rPr kumimoji="0" lang="en-US" sz="1200" b="0" i="0" u="none" strike="noStrike" kern="0" cap="none" spc="-50" normalizeH="0" baseline="0" noProof="0" dirty="0">
                <a:ln>
                  <a:noFill/>
                </a:ln>
                <a:solidFill>
                  <a:srgbClr val="3E5893"/>
                </a:solidFill>
                <a:effectLst/>
                <a:uLnTx/>
                <a:uFillTx/>
                <a:latin typeface="Calibri"/>
                <a:cs typeface="Calibri"/>
              </a:rPr>
              <a:t> of 11</a:t>
            </a:r>
          </a:p>
        </p:txBody>
      </p:sp>
      <p:pic>
        <p:nvPicPr>
          <p:cNvPr id="5" name="Picture 4" descr="A blue and red logo&#10;&#10;AI-generated content may be incorrect.">
            <a:extLst>
              <a:ext uri="{FF2B5EF4-FFF2-40B4-BE49-F238E27FC236}">
                <a16:creationId xmlns:a16="http://schemas.microsoft.com/office/drawing/2014/main" id="{C0F089F8-38A5-65C8-BC32-7309A247FDD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58200" y="128016"/>
            <a:ext cx="444532" cy="30832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F95D2C2-BDF0-9D9B-8305-864984F7924C}"/>
              </a:ext>
            </a:extLst>
          </p:cNvPr>
          <p:cNvSpPr txBox="1"/>
          <p:nvPr/>
        </p:nvSpPr>
        <p:spPr>
          <a:xfrm>
            <a:off x="533400" y="762000"/>
            <a:ext cx="771860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marR="0" lvl="0" indent="-34290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</a:rPr>
              <a:t>Introduction and Motivation</a:t>
            </a:r>
          </a:p>
          <a:p>
            <a:pPr marL="342900" marR="0" lvl="0" indent="-34290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</a:rPr>
              <a:t>Dataset and Preprocessing</a:t>
            </a:r>
          </a:p>
          <a:p>
            <a:pPr marL="342900" marR="0" lvl="0" indent="-34290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</a:rPr>
              <a:t>Model Development</a:t>
            </a:r>
          </a:p>
          <a:p>
            <a:pPr marL="342900" marR="0" lvl="0" indent="-34290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</a:rPr>
              <a:t>Main Comparison Results</a:t>
            </a:r>
          </a:p>
          <a:p>
            <a:pPr marL="342900" marR="0" lvl="0" indent="-34290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</a:rPr>
              <a:t>Ablation Study</a:t>
            </a:r>
          </a:p>
          <a:p>
            <a:pPr marL="342900" marR="0" lvl="0" indent="-34290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</a:rPr>
              <a:t>Failure Analysis</a:t>
            </a:r>
          </a:p>
          <a:p>
            <a:pPr marL="342900" marR="0" lvl="0" indent="-34290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</a:rPr>
              <a:t>Conclusion</a:t>
            </a:r>
          </a:p>
        </p:txBody>
      </p:sp>
    </p:spTree>
    <p:extLst>
      <p:ext uri="{BB962C8B-B14F-4D97-AF65-F5344CB8AC3E}">
        <p14:creationId xmlns:p14="http://schemas.microsoft.com/office/powerpoint/2010/main" val="31240698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34401" y="182802"/>
            <a:ext cx="7718600" cy="3206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-10" dirty="0"/>
              <a:t>Introduction and Motivation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7"/>
          </p:nvPr>
        </p:nvSpPr>
        <p:spPr>
          <a:xfrm>
            <a:off x="5181600" y="6609807"/>
            <a:ext cx="3924873" cy="184666"/>
          </a:xfrm>
        </p:spPr>
        <p:txBody>
          <a:bodyPr/>
          <a:lstStyle/>
          <a:p>
            <a:pPr marL="3303904">
              <a:lnSpc>
                <a:spcPct val="100000"/>
              </a:lnSpc>
              <a:spcBef>
                <a:spcPts val="40"/>
              </a:spcBef>
            </a:pPr>
            <a:fld id="{81D60167-4931-47E6-BA6A-407CBD079E47}" type="slidenum">
              <a:rPr lang="en-US" spc="-50" smtClean="0"/>
              <a:t>3</a:t>
            </a:fld>
            <a:r>
              <a:rPr lang="en-US" spc="-50" dirty="0"/>
              <a:t> of 11</a:t>
            </a:r>
          </a:p>
        </p:txBody>
      </p:sp>
      <p:pic>
        <p:nvPicPr>
          <p:cNvPr id="5" name="Picture 4" descr="A blue and red logo&#10;&#10;AI-generated content may be incorrect.">
            <a:extLst>
              <a:ext uri="{FF2B5EF4-FFF2-40B4-BE49-F238E27FC236}">
                <a16:creationId xmlns:a16="http://schemas.microsoft.com/office/drawing/2014/main" id="{C0F089F8-38A5-65C8-BC32-7309A247FDD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58200" y="128016"/>
            <a:ext cx="444532" cy="30832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F95D2C2-BDF0-9D9B-8305-864984F7924C}"/>
              </a:ext>
            </a:extLst>
          </p:cNvPr>
          <p:cNvSpPr txBox="1"/>
          <p:nvPr/>
        </p:nvSpPr>
        <p:spPr>
          <a:xfrm>
            <a:off x="533400" y="632701"/>
            <a:ext cx="771860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2000" b="1" dirty="0">
                <a:latin typeface="+mn-lt"/>
              </a:rPr>
              <a:t>Why compare LSTMs and Transformer Encoder?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000" dirty="0">
                <a:latin typeface="+mn-lt"/>
              </a:rPr>
              <a:t>Both models are common sequence classifiers, but they process text differently.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000" dirty="0">
                <a:latin typeface="+mn-lt"/>
              </a:rPr>
              <a:t>The LSTM carries information recurrently through hidden states.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000" dirty="0">
                <a:latin typeface="+mn-lt"/>
              </a:rPr>
              <a:t>The Transformer Encoder uses self-attention to connect tokens directly.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000" dirty="0">
                <a:latin typeface="+mn-lt"/>
              </a:rPr>
              <a:t>The goal is to compare behavior, not only final accuracy.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B0B95B7-1931-871D-1FFB-5B2ACFFAA04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773657" y="3153163"/>
            <a:ext cx="2079802" cy="2723789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D9A77E42-FE39-83CA-E9B3-0F6297B1B96B}"/>
              </a:ext>
            </a:extLst>
          </p:cNvPr>
          <p:cNvSpPr/>
          <p:nvPr/>
        </p:nvSpPr>
        <p:spPr>
          <a:xfrm>
            <a:off x="241268" y="3086100"/>
            <a:ext cx="4381532" cy="2885984"/>
          </a:xfrm>
          <a:prstGeom prst="rect">
            <a:avLst/>
          </a:prstGeom>
          <a:noFill/>
          <a:ln>
            <a:solidFill>
              <a:schemeClr val="accent2">
                <a:lumMod val="60000"/>
                <a:lumOff val="40000"/>
              </a:schemeClr>
            </a:solidFill>
            <a:prstDash val="lg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endParaRPr lang="en-US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E228ECB-6732-FD86-1518-C4DEB3BFF5D7}"/>
              </a:ext>
            </a:extLst>
          </p:cNvPr>
          <p:cNvSpPr/>
          <p:nvPr/>
        </p:nvSpPr>
        <p:spPr>
          <a:xfrm>
            <a:off x="4946650" y="3086100"/>
            <a:ext cx="3733816" cy="2885984"/>
          </a:xfrm>
          <a:prstGeom prst="rect">
            <a:avLst/>
          </a:prstGeom>
          <a:noFill/>
          <a:ln>
            <a:solidFill>
              <a:schemeClr val="accent2">
                <a:lumMod val="60000"/>
                <a:lumOff val="40000"/>
              </a:schemeClr>
            </a:solidFill>
            <a:prstDash val="lg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endParaRPr lang="en-US" b="1" dirty="0">
              <a:solidFill>
                <a:schemeClr val="tx2">
                  <a:lumMod val="50000"/>
                </a:schemeClr>
              </a:solidFill>
            </a:endParaRP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761424FE-2C02-9831-E092-91827A2D5386}"/>
              </a:ext>
            </a:extLst>
          </p:cNvPr>
          <p:cNvGrpSpPr/>
          <p:nvPr/>
        </p:nvGrpSpPr>
        <p:grpSpPr>
          <a:xfrm>
            <a:off x="463534" y="3429000"/>
            <a:ext cx="3999929" cy="2185160"/>
            <a:chOff x="463534" y="3429000"/>
            <a:chExt cx="3999929" cy="218516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3A98B699-4B7D-0006-B12C-E1114882158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601" r="23119"/>
            <a:stretch/>
          </p:blipFill>
          <p:spPr>
            <a:xfrm>
              <a:off x="463534" y="3429000"/>
              <a:ext cx="3999929" cy="2185160"/>
            </a:xfrm>
            <a:prstGeom prst="rect">
              <a:avLst/>
            </a:prstGeom>
          </p:spPr>
        </p:pic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08ED022E-F456-2984-5D27-690597BF8D3E}"/>
                </a:ext>
              </a:extLst>
            </p:cNvPr>
            <p:cNvSpPr/>
            <p:nvPr/>
          </p:nvSpPr>
          <p:spPr>
            <a:xfrm>
              <a:off x="3130550" y="3429000"/>
              <a:ext cx="622300" cy="13335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98888D06-5C8E-A19C-FCBD-52BB8AF2FE9D}"/>
              </a:ext>
            </a:extLst>
          </p:cNvPr>
          <p:cNvSpPr txBox="1"/>
          <p:nvPr/>
        </p:nvSpPr>
        <p:spPr>
          <a:xfrm>
            <a:off x="1628759" y="5972084"/>
            <a:ext cx="16065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i="1" dirty="0"/>
              <a:t>LSTM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B8143A0-A69E-42B0-B6BC-DBAC493B88D7}"/>
              </a:ext>
            </a:extLst>
          </p:cNvPr>
          <p:cNvSpPr txBox="1"/>
          <p:nvPr/>
        </p:nvSpPr>
        <p:spPr>
          <a:xfrm>
            <a:off x="5722937" y="5972084"/>
            <a:ext cx="21812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i="1" dirty="0"/>
              <a:t>Transformer Encoder</a:t>
            </a:r>
          </a:p>
        </p:txBody>
      </p:sp>
    </p:spTree>
    <p:extLst>
      <p:ext uri="{BB962C8B-B14F-4D97-AF65-F5344CB8AC3E}">
        <p14:creationId xmlns:p14="http://schemas.microsoft.com/office/powerpoint/2010/main" val="14859883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34401" y="182802"/>
            <a:ext cx="7718600" cy="3206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-10" dirty="0"/>
              <a:t>Dataset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7"/>
          </p:nvPr>
        </p:nvSpPr>
        <p:spPr>
          <a:xfrm>
            <a:off x="5181600" y="6609807"/>
            <a:ext cx="3924873" cy="184666"/>
          </a:xfrm>
        </p:spPr>
        <p:txBody>
          <a:bodyPr/>
          <a:lstStyle/>
          <a:p>
            <a:pPr marL="3303904">
              <a:lnSpc>
                <a:spcPct val="100000"/>
              </a:lnSpc>
              <a:spcBef>
                <a:spcPts val="40"/>
              </a:spcBef>
            </a:pPr>
            <a:fld id="{81D60167-4931-47E6-BA6A-407CBD079E47}" type="slidenum">
              <a:rPr lang="en-US" spc="-50" smtClean="0"/>
              <a:t>4</a:t>
            </a:fld>
            <a:r>
              <a:rPr lang="en-US" spc="-50" dirty="0"/>
              <a:t> of 11</a:t>
            </a:r>
          </a:p>
        </p:txBody>
      </p:sp>
      <p:pic>
        <p:nvPicPr>
          <p:cNvPr id="5" name="Picture 4" descr="A blue and red logo&#10;&#10;AI-generated content may be incorrect.">
            <a:extLst>
              <a:ext uri="{FF2B5EF4-FFF2-40B4-BE49-F238E27FC236}">
                <a16:creationId xmlns:a16="http://schemas.microsoft.com/office/drawing/2014/main" id="{C0F089F8-38A5-65C8-BC32-7309A247FDD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58200" y="128016"/>
            <a:ext cx="444532" cy="30832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F95D2C2-BDF0-9D9B-8305-864984F7924C}"/>
              </a:ext>
            </a:extLst>
          </p:cNvPr>
          <p:cNvSpPr txBox="1"/>
          <p:nvPr/>
        </p:nvSpPr>
        <p:spPr>
          <a:xfrm>
            <a:off x="533400" y="762000"/>
            <a:ext cx="771860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000" dirty="0">
                <a:latin typeface="+mn-lt"/>
              </a:rPr>
              <a:t>AG News is a news topic classification dataset.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000" dirty="0">
                <a:latin typeface="+mn-lt"/>
              </a:rPr>
              <a:t>Each example is a short text item, and the label is one of four classes:</a:t>
            </a:r>
            <a:endParaRPr lang="en-US" sz="2000" dirty="0"/>
          </a:p>
          <a:p>
            <a:pPr marL="796925" indent="-342900" algn="l">
              <a:buFont typeface="Arial" panose="020B0604020202020204" pitchFamily="34" charset="0"/>
              <a:buChar char="•"/>
            </a:pPr>
            <a:r>
              <a:rPr lang="en-US" sz="2000" dirty="0">
                <a:latin typeface="+mn-lt"/>
              </a:rPr>
              <a:t>World</a:t>
            </a:r>
          </a:p>
          <a:p>
            <a:pPr marL="796925" indent="-342900" algn="l">
              <a:buFont typeface="Arial" panose="020B0604020202020204" pitchFamily="34" charset="0"/>
              <a:buChar char="•"/>
            </a:pPr>
            <a:r>
              <a:rPr lang="en-US" sz="2000" dirty="0"/>
              <a:t>Sports</a:t>
            </a:r>
          </a:p>
          <a:p>
            <a:pPr marL="796925" indent="-342900" algn="l">
              <a:buFont typeface="Arial" panose="020B0604020202020204" pitchFamily="34" charset="0"/>
              <a:buChar char="•"/>
            </a:pPr>
            <a:r>
              <a:rPr lang="en-US" sz="2000" dirty="0">
                <a:latin typeface="+mn-lt"/>
              </a:rPr>
              <a:t>Business</a:t>
            </a:r>
          </a:p>
          <a:p>
            <a:pPr marL="796925" indent="-342900" algn="l">
              <a:buFont typeface="Arial" panose="020B0604020202020204" pitchFamily="34" charset="0"/>
              <a:buChar char="•"/>
            </a:pPr>
            <a:r>
              <a:rPr lang="en-US" sz="2000" dirty="0"/>
              <a:t>Sci/Tech</a:t>
            </a:r>
            <a:endParaRPr lang="en-US" sz="2000" dirty="0">
              <a:latin typeface="+mn-lt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000" dirty="0">
                <a:latin typeface="+mn-lt"/>
              </a:rPr>
              <a:t>We sourced the dataset from Hugging Face exclusively.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A97A6D2-3B65-A111-2ECF-1DA50E1E5C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90986329"/>
              </p:ext>
            </p:extLst>
          </p:nvPr>
        </p:nvGraphicFramePr>
        <p:xfrm>
          <a:off x="334400" y="3423701"/>
          <a:ext cx="8568331" cy="189992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084772">
                  <a:extLst>
                    <a:ext uri="{9D8B030D-6E8A-4147-A177-3AD203B41FA5}">
                      <a16:colId xmlns:a16="http://schemas.microsoft.com/office/drawing/2014/main" val="726605133"/>
                    </a:ext>
                  </a:extLst>
                </a:gridCol>
                <a:gridCol w="2636409">
                  <a:extLst>
                    <a:ext uri="{9D8B030D-6E8A-4147-A177-3AD203B41FA5}">
                      <a16:colId xmlns:a16="http://schemas.microsoft.com/office/drawing/2014/main" val="1445224429"/>
                    </a:ext>
                  </a:extLst>
                </a:gridCol>
                <a:gridCol w="1194622">
                  <a:extLst>
                    <a:ext uri="{9D8B030D-6E8A-4147-A177-3AD203B41FA5}">
                      <a16:colId xmlns:a16="http://schemas.microsoft.com/office/drawing/2014/main" val="733193648"/>
                    </a:ext>
                  </a:extLst>
                </a:gridCol>
                <a:gridCol w="3652528">
                  <a:extLst>
                    <a:ext uri="{9D8B030D-6E8A-4147-A177-3AD203B41FA5}">
                      <a16:colId xmlns:a16="http://schemas.microsoft.com/office/drawing/2014/main" val="347483517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600" dirty="0"/>
                        <a:t>Split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Source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Samples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Use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010895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/>
                        <a:t>Train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90% of official training split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108,000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Model fitting and train-only vocabulary construction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337716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/>
                        <a:t>Validation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10% of official training split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12,000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Model selection, ablation comparison, and interpretation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61068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/>
                        <a:t>Test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Official test split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7,600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Final evaluation only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450660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189730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34401" y="182802"/>
            <a:ext cx="7718600" cy="3206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-10" dirty="0"/>
              <a:t>Preprocessing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7"/>
          </p:nvPr>
        </p:nvSpPr>
        <p:spPr>
          <a:xfrm>
            <a:off x="5181600" y="6609807"/>
            <a:ext cx="3924873" cy="184666"/>
          </a:xfrm>
        </p:spPr>
        <p:txBody>
          <a:bodyPr/>
          <a:lstStyle/>
          <a:p>
            <a:pPr marL="3303904">
              <a:lnSpc>
                <a:spcPct val="100000"/>
              </a:lnSpc>
              <a:spcBef>
                <a:spcPts val="40"/>
              </a:spcBef>
            </a:pPr>
            <a:fld id="{81D60167-4931-47E6-BA6A-407CBD079E47}" type="slidenum">
              <a:rPr lang="en-US" spc="-50" smtClean="0"/>
              <a:t>5</a:t>
            </a:fld>
            <a:r>
              <a:rPr lang="en-US" spc="-50" dirty="0"/>
              <a:t> of 11</a:t>
            </a:r>
          </a:p>
        </p:txBody>
      </p:sp>
      <p:pic>
        <p:nvPicPr>
          <p:cNvPr id="5" name="Picture 4" descr="A blue and red logo&#10;&#10;AI-generated content may be incorrect.">
            <a:extLst>
              <a:ext uri="{FF2B5EF4-FFF2-40B4-BE49-F238E27FC236}">
                <a16:creationId xmlns:a16="http://schemas.microsoft.com/office/drawing/2014/main" id="{C0F089F8-38A5-65C8-BC32-7309A247FDD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58200" y="128016"/>
            <a:ext cx="444532" cy="30832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F95D2C2-BDF0-9D9B-8305-864984F7924C}"/>
              </a:ext>
            </a:extLst>
          </p:cNvPr>
          <p:cNvSpPr txBox="1"/>
          <p:nvPr/>
        </p:nvSpPr>
        <p:spPr>
          <a:xfrm>
            <a:off x="533400" y="762000"/>
            <a:ext cx="7718600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2000" dirty="0">
                <a:latin typeface="+mn-lt"/>
              </a:rPr>
              <a:t>Both models receive text after the same preprocessing pipeline: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000" dirty="0">
                <a:latin typeface="+mn-lt"/>
              </a:rPr>
              <a:t>Raw text is lowercased and tokenized with a regular expression tokenizer.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000" dirty="0">
                <a:latin typeface="+mn-lt"/>
              </a:rPr>
              <a:t>A vocabulary is built from training text only.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000" dirty="0">
                <a:latin typeface="+mn-lt"/>
              </a:rPr>
              <a:t>The vocabulary is capped at 20,000 entries.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000" dirty="0">
                <a:latin typeface="+mn-lt"/>
              </a:rPr>
              <a:t>Two reserved tokens are used:</a:t>
            </a:r>
          </a:p>
          <a:p>
            <a:pPr marL="796925" indent="-342900" algn="l">
              <a:buFont typeface="Arial" panose="020B0604020202020204" pitchFamily="34" charset="0"/>
              <a:buChar char="•"/>
            </a:pPr>
            <a:r>
              <a:rPr lang="en-US" sz="2000" i="1" dirty="0">
                <a:latin typeface="+mn-lt"/>
              </a:rPr>
              <a:t>&lt;pad&gt;</a:t>
            </a:r>
            <a:r>
              <a:rPr lang="en-US" sz="2000" dirty="0">
                <a:latin typeface="+mn-lt"/>
              </a:rPr>
              <a:t> at index 0.</a:t>
            </a:r>
          </a:p>
          <a:p>
            <a:pPr marL="796925" indent="-342900" algn="l">
              <a:buFont typeface="Arial" panose="020B0604020202020204" pitchFamily="34" charset="0"/>
              <a:buChar char="•"/>
            </a:pPr>
            <a:r>
              <a:rPr lang="en-US" sz="2000" i="1" dirty="0">
                <a:latin typeface="+mn-lt"/>
              </a:rPr>
              <a:t>&lt;</a:t>
            </a:r>
            <a:r>
              <a:rPr lang="en-US" sz="2000" i="1" dirty="0" err="1">
                <a:latin typeface="+mn-lt"/>
              </a:rPr>
              <a:t>unk</a:t>
            </a:r>
            <a:r>
              <a:rPr lang="en-US" sz="2000" i="1" dirty="0">
                <a:latin typeface="+mn-lt"/>
              </a:rPr>
              <a:t>&gt; </a:t>
            </a:r>
            <a:r>
              <a:rPr lang="en-US" sz="2000" dirty="0">
                <a:latin typeface="+mn-lt"/>
              </a:rPr>
              <a:t>at index 1.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000" dirty="0">
                <a:latin typeface="+mn-lt"/>
              </a:rPr>
              <a:t>Tokens are converted to integer IDs.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000" dirty="0">
                <a:latin typeface="+mn-lt"/>
              </a:rPr>
              <a:t>Sequences are truncated or padded to a fixed maximum length.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000" dirty="0">
                <a:latin typeface="+mn-lt"/>
              </a:rPr>
              <a:t>An attention mask marks real tokens as 1 and padding positions as 0.</a:t>
            </a:r>
          </a:p>
        </p:txBody>
      </p:sp>
    </p:spTree>
    <p:extLst>
      <p:ext uri="{BB962C8B-B14F-4D97-AF65-F5344CB8AC3E}">
        <p14:creationId xmlns:p14="http://schemas.microsoft.com/office/powerpoint/2010/main" val="26110106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34401" y="182802"/>
            <a:ext cx="7718600" cy="3206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-10" dirty="0"/>
              <a:t>Model Development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7"/>
          </p:nvPr>
        </p:nvSpPr>
        <p:spPr>
          <a:xfrm>
            <a:off x="5181600" y="6609807"/>
            <a:ext cx="3924873" cy="184666"/>
          </a:xfrm>
        </p:spPr>
        <p:txBody>
          <a:bodyPr/>
          <a:lstStyle/>
          <a:p>
            <a:pPr marL="3303904">
              <a:lnSpc>
                <a:spcPct val="100000"/>
              </a:lnSpc>
              <a:spcBef>
                <a:spcPts val="40"/>
              </a:spcBef>
            </a:pPr>
            <a:fld id="{81D60167-4931-47E6-BA6A-407CBD079E47}" type="slidenum">
              <a:rPr lang="en-US" spc="-50" smtClean="0"/>
              <a:t>6</a:t>
            </a:fld>
            <a:r>
              <a:rPr lang="en-US" spc="-50" dirty="0"/>
              <a:t> of 11</a:t>
            </a:r>
          </a:p>
        </p:txBody>
      </p:sp>
      <p:pic>
        <p:nvPicPr>
          <p:cNvPr id="5" name="Picture 4" descr="A blue and red logo&#10;&#10;AI-generated content may be incorrect.">
            <a:extLst>
              <a:ext uri="{FF2B5EF4-FFF2-40B4-BE49-F238E27FC236}">
                <a16:creationId xmlns:a16="http://schemas.microsoft.com/office/drawing/2014/main" id="{C0F089F8-38A5-65C8-BC32-7309A247FDD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58200" y="128016"/>
            <a:ext cx="444532" cy="30832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F95D2C2-BDF0-9D9B-8305-864984F7924C}"/>
              </a:ext>
            </a:extLst>
          </p:cNvPr>
          <p:cNvSpPr txBox="1"/>
          <p:nvPr/>
        </p:nvSpPr>
        <p:spPr>
          <a:xfrm>
            <a:off x="533400" y="657311"/>
            <a:ext cx="77186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000" dirty="0">
                <a:latin typeface="+mn-lt"/>
              </a:rPr>
              <a:t>LSTM: embedding layer, one-layer bidirectional LSTM, masked mean pooling, dropout, classifier.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000" dirty="0">
                <a:latin typeface="+mn-lt"/>
              </a:rPr>
              <a:t>Transformer Encoder: embeddings, learned positional encoding, two encoder layers, four heads, classifier.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000" dirty="0">
                <a:latin typeface="+mn-lt"/>
              </a:rPr>
              <a:t>Trainable parameters: LSTM 2.83M; Transformer Encoder 2.97M.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000" dirty="0">
                <a:latin typeface="+mn-lt"/>
              </a:rPr>
              <a:t>Both models are trained from scratch.</a:t>
            </a:r>
          </a:p>
        </p:txBody>
      </p:sp>
      <p:sp>
        <p:nvSpPr>
          <p:cNvPr id="3" name="Rectangle 2"/>
          <p:cNvSpPr/>
          <p:nvPr/>
        </p:nvSpPr>
        <p:spPr>
          <a:xfrm>
            <a:off x="1703963" y="2703573"/>
            <a:ext cx="2349229" cy="1150643"/>
          </a:xfrm>
          <a:prstGeom prst="rect">
            <a:avLst/>
          </a:prstGeom>
          <a:solidFill>
            <a:srgbClr val="F2F4F7"/>
          </a:solidFill>
          <a:ln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2E74B5"/>
                </a:solidFill>
              </a:defRPr>
            </a:pPr>
            <a:r>
              <a:rPr sz="3200" dirty="0"/>
              <a:t>2.83M</a:t>
            </a:r>
          </a:p>
          <a:p>
            <a:pPr algn="ctr">
              <a:defRPr sz="1100">
                <a:solidFill>
                  <a:srgbClr val="464646"/>
                </a:solidFill>
              </a:defRPr>
            </a:pPr>
            <a:r>
              <a:rPr sz="1400" dirty="0"/>
              <a:t>LSTM parameters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90808" y="2703572"/>
            <a:ext cx="2349229" cy="1150643"/>
          </a:xfrm>
          <a:prstGeom prst="rect">
            <a:avLst/>
          </a:prstGeom>
          <a:solidFill>
            <a:srgbClr val="F2F4F7"/>
          </a:solidFill>
          <a:ln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2E74B5"/>
                </a:solidFill>
              </a:defRPr>
            </a:pPr>
            <a:r>
              <a:rPr sz="3200" dirty="0"/>
              <a:t>2.97M</a:t>
            </a:r>
          </a:p>
          <a:p>
            <a:pPr algn="ctr">
              <a:defRPr sz="1100">
                <a:solidFill>
                  <a:srgbClr val="464646"/>
                </a:solidFill>
              </a:defRPr>
            </a:pPr>
            <a:r>
              <a:rPr sz="1400" dirty="0"/>
              <a:t>Transformer parameters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8C887A2-A36B-65F8-E2BC-B02890474222}"/>
              </a:ext>
            </a:extLst>
          </p:cNvPr>
          <p:cNvSpPr txBox="1"/>
          <p:nvPr/>
        </p:nvSpPr>
        <p:spPr>
          <a:xfrm>
            <a:off x="533400" y="4088001"/>
            <a:ext cx="7718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000" dirty="0">
                <a:latin typeface="+mn-lt"/>
              </a:rPr>
              <a:t>Important Hyperparameters: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AD80382-811B-B246-E702-A52F28C4CB3B}"/>
              </a:ext>
            </a:extLst>
          </p:cNvPr>
          <p:cNvSpPr/>
          <p:nvPr/>
        </p:nvSpPr>
        <p:spPr>
          <a:xfrm>
            <a:off x="305613" y="4717999"/>
            <a:ext cx="1899324" cy="930281"/>
          </a:xfrm>
          <a:prstGeom prst="rect">
            <a:avLst/>
          </a:prstGeom>
          <a:solidFill>
            <a:srgbClr val="F2F4F7"/>
          </a:solidFill>
          <a:ln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2E74B5"/>
                </a:solidFill>
              </a:defRPr>
            </a:pPr>
            <a:r>
              <a:rPr lang="en-US" sz="2800" dirty="0"/>
              <a:t>Adam</a:t>
            </a:r>
            <a:endParaRPr sz="3200" dirty="0"/>
          </a:p>
          <a:p>
            <a:pPr algn="ctr">
              <a:defRPr sz="1100">
                <a:solidFill>
                  <a:srgbClr val="464646"/>
                </a:solidFill>
              </a:defRPr>
            </a:pPr>
            <a:r>
              <a:rPr lang="en-US" sz="1400" dirty="0"/>
              <a:t>Optimizer</a:t>
            </a:r>
            <a:endParaRPr sz="14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2BCDB07F-C4BD-D80B-3C4D-F148551EA6F3}"/>
                  </a:ext>
                </a:extLst>
              </p:cNvPr>
              <p:cNvSpPr/>
              <p:nvPr/>
            </p:nvSpPr>
            <p:spPr>
              <a:xfrm>
                <a:off x="2502441" y="4717999"/>
                <a:ext cx="1899324" cy="930281"/>
              </a:xfrm>
              <a:prstGeom prst="rect">
                <a:avLst/>
              </a:prstGeom>
              <a:solidFill>
                <a:srgbClr val="F2F4F7"/>
              </a:solidFill>
              <a:ln>
                <a:solidFill>
                  <a:srgbClr val="D2D8E0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 sz="2400" b="1">
                    <a:solidFill>
                      <a:srgbClr val="2E74B5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dirty="0" smtClean="0"/>
                        <m:t>𝟏</m:t>
                      </m:r>
                      <m:r>
                        <a:rPr lang="en-US" sz="2800" b="1" i="1" dirty="0" smtClean="0">
                          <a:ea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sz="2800" b="1" i="1" dirty="0" smtClean="0"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1" i="1" dirty="0" smtClean="0">
                              <a:ea typeface="Cambria Math" panose="02040503050406030204" pitchFamily="18" charset="0"/>
                            </a:rPr>
                            <m:t>𝟏𝟎</m:t>
                          </m:r>
                        </m:e>
                        <m:sup>
                          <m:r>
                            <a:rPr lang="en-US" sz="2800" b="1" i="1" dirty="0" smtClean="0"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800" b="1" i="1" dirty="0" smtClean="0">
                              <a:ea typeface="Cambria Math" panose="02040503050406030204" pitchFamily="18" charset="0"/>
                            </a:rPr>
                            <m:t>𝟑</m:t>
                          </m:r>
                        </m:sup>
                      </m:sSup>
                    </m:oMath>
                  </m:oMathPara>
                </a14:m>
                <a:endParaRPr lang="en-US" sz="3200" dirty="0"/>
              </a:p>
              <a:p>
                <a:pPr algn="ctr">
                  <a:defRPr sz="1100">
                    <a:solidFill>
                      <a:srgbClr val="464646"/>
                    </a:solidFill>
                  </a:defRPr>
                </a:pPr>
                <a:r>
                  <a:rPr lang="en-US" sz="1400" dirty="0"/>
                  <a:t>Learning Rate</a:t>
                </a:r>
                <a:endParaRPr sz="1400" dirty="0"/>
              </a:p>
            </p:txBody>
          </p:sp>
        </mc:Choice>
        <mc:Fallback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2BCDB07F-C4BD-D80B-3C4D-F148551EA6F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02441" y="4717999"/>
                <a:ext cx="1899324" cy="93028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solidFill>
                  <a:srgbClr val="D2D8E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F37F748D-49F5-616A-A570-3F42D5DE87BE}"/>
                  </a:ext>
                </a:extLst>
              </p:cNvPr>
              <p:cNvSpPr/>
              <p:nvPr/>
            </p:nvSpPr>
            <p:spPr>
              <a:xfrm>
                <a:off x="4699269" y="4717999"/>
                <a:ext cx="1377276" cy="930281"/>
              </a:xfrm>
              <a:prstGeom prst="rect">
                <a:avLst/>
              </a:prstGeom>
              <a:solidFill>
                <a:srgbClr val="F2F4F7"/>
              </a:solidFill>
              <a:ln>
                <a:solidFill>
                  <a:srgbClr val="D2D8E0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 sz="2400" b="1">
                    <a:solidFill>
                      <a:srgbClr val="2E74B5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dirty="0" smtClean="0">
                          <a:latin typeface="Cambria Math" panose="02040503050406030204" pitchFamily="18" charset="0"/>
                        </a:rPr>
                        <m:t>𝟔</m:t>
                      </m:r>
                    </m:oMath>
                  </m:oMathPara>
                </a14:m>
                <a:endParaRPr lang="en-US" sz="2800" dirty="0"/>
              </a:p>
              <a:p>
                <a:pPr algn="ctr">
                  <a:defRPr sz="1100">
                    <a:solidFill>
                      <a:srgbClr val="464646"/>
                    </a:solidFill>
                  </a:defRPr>
                </a:pPr>
                <a:r>
                  <a:rPr lang="en-US" sz="1400" dirty="0"/>
                  <a:t>Epochs</a:t>
                </a:r>
                <a:endParaRPr sz="1400" dirty="0"/>
              </a:p>
            </p:txBody>
          </p:sp>
        </mc:Choice>
        <mc:Fallback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F37F748D-49F5-616A-A570-3F42D5DE87B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99269" y="4717999"/>
                <a:ext cx="1377276" cy="93028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solidFill>
                  <a:srgbClr val="D2D8E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Rectangle 14">
            <a:extLst>
              <a:ext uri="{FF2B5EF4-FFF2-40B4-BE49-F238E27FC236}">
                <a16:creationId xmlns:a16="http://schemas.microsoft.com/office/drawing/2014/main" id="{391D67B3-192A-CC58-2FC8-A5ACBCB76EF1}"/>
              </a:ext>
            </a:extLst>
          </p:cNvPr>
          <p:cNvSpPr/>
          <p:nvPr/>
        </p:nvSpPr>
        <p:spPr>
          <a:xfrm>
            <a:off x="6374049" y="4717999"/>
            <a:ext cx="2393815" cy="930281"/>
          </a:xfrm>
          <a:prstGeom prst="rect">
            <a:avLst/>
          </a:prstGeom>
          <a:solidFill>
            <a:srgbClr val="F2F4F7"/>
          </a:solidFill>
          <a:ln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2E74B5"/>
                </a:solidFill>
              </a:defRPr>
            </a:pPr>
            <a:r>
              <a:rPr lang="en-US" sz="2400" dirty="0" err="1"/>
              <a:t>CrossEntropyLoss</a:t>
            </a:r>
            <a:endParaRPr lang="en-US" sz="2000" dirty="0"/>
          </a:p>
          <a:p>
            <a:pPr algn="ctr">
              <a:defRPr sz="1100">
                <a:solidFill>
                  <a:srgbClr val="464646"/>
                </a:solidFill>
              </a:defRPr>
            </a:pPr>
            <a:r>
              <a:rPr lang="en-US" sz="1400" dirty="0"/>
              <a:t>Loss Function</a:t>
            </a:r>
            <a:endParaRPr sz="1400" dirty="0"/>
          </a:p>
        </p:txBody>
      </p:sp>
    </p:spTree>
    <p:extLst>
      <p:ext uri="{BB962C8B-B14F-4D97-AF65-F5344CB8AC3E}">
        <p14:creationId xmlns:p14="http://schemas.microsoft.com/office/powerpoint/2010/main" val="10352830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34401" y="182802"/>
            <a:ext cx="8050842" cy="3206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-10" dirty="0"/>
              <a:t>Main Results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7"/>
          </p:nvPr>
        </p:nvSpPr>
        <p:spPr>
          <a:xfrm>
            <a:off x="5181600" y="6609807"/>
            <a:ext cx="3924873" cy="184666"/>
          </a:xfrm>
        </p:spPr>
        <p:txBody>
          <a:bodyPr/>
          <a:lstStyle/>
          <a:p>
            <a:pPr marL="3303904">
              <a:lnSpc>
                <a:spcPct val="100000"/>
              </a:lnSpc>
              <a:spcBef>
                <a:spcPts val="40"/>
              </a:spcBef>
            </a:pPr>
            <a:fld id="{81D60167-4931-47E6-BA6A-407CBD079E47}" type="slidenum">
              <a:rPr lang="en-US" spc="-50" smtClean="0"/>
              <a:t>7</a:t>
            </a:fld>
            <a:r>
              <a:rPr lang="en-US" spc="-50" dirty="0"/>
              <a:t> of 11</a:t>
            </a:r>
          </a:p>
        </p:txBody>
      </p:sp>
      <p:pic>
        <p:nvPicPr>
          <p:cNvPr id="5" name="Picture 4" descr="A blue and red logo&#10;&#10;AI-generated content may be incorrect.">
            <a:extLst>
              <a:ext uri="{FF2B5EF4-FFF2-40B4-BE49-F238E27FC236}">
                <a16:creationId xmlns:a16="http://schemas.microsoft.com/office/drawing/2014/main" id="{C0F089F8-38A5-65C8-BC32-7309A247FDD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58200" y="128016"/>
            <a:ext cx="444532" cy="30832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F95D2C2-BDF0-9D9B-8305-864984F7924C}"/>
              </a:ext>
            </a:extLst>
          </p:cNvPr>
          <p:cNvSpPr txBox="1"/>
          <p:nvPr/>
        </p:nvSpPr>
        <p:spPr>
          <a:xfrm>
            <a:off x="533400" y="865821"/>
            <a:ext cx="3667630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dirty="0">
                <a:latin typeface="+mn-lt"/>
              </a:rPr>
              <a:t>The Transformer Encoder has the best final test metrics, but the margin is small: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dirty="0">
                <a:latin typeface="+mn-lt"/>
              </a:rPr>
              <a:t>Accuracy lead: 0.0005, or 0.05 percentage points.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dirty="0">
                <a:latin typeface="+mn-lt"/>
              </a:rPr>
              <a:t>Macro F1 lead: about 0.0008.</a:t>
            </a:r>
          </a:p>
          <a:p>
            <a:pPr algn="l"/>
            <a:endParaRPr lang="en-US" dirty="0">
              <a:latin typeface="+mn-lt"/>
            </a:endParaRPr>
          </a:p>
          <a:p>
            <a:pPr algn="l"/>
            <a:r>
              <a:rPr lang="en-US" dirty="0"/>
              <a:t>Both </a:t>
            </a:r>
            <a:r>
              <a:rPr lang="en-US" dirty="0">
                <a:latin typeface="+mn-lt"/>
              </a:rPr>
              <a:t>models perform very similarly. The Transformer Encoder is slightly ahead in this run, but the result is not a decisive architectural win.</a:t>
            </a:r>
          </a:p>
        </p:txBody>
      </p:sp>
      <p:pic>
        <p:nvPicPr>
          <p:cNvPr id="3" name="Picture 2" descr="main_loss_curv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1030" y="1143188"/>
            <a:ext cx="4701702" cy="2938564"/>
          </a:xfrm>
          <a:prstGeom prst="rect">
            <a:avLst/>
          </a:prstGeom>
        </p:spPr>
      </p:pic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3D1D24A3-180E-FFA7-72AD-EFEB29F976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1649492"/>
              </p:ext>
            </p:extLst>
          </p:nvPr>
        </p:nvGraphicFramePr>
        <p:xfrm>
          <a:off x="1055549" y="4367561"/>
          <a:ext cx="7032901" cy="180452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2355692">
                  <a:extLst>
                    <a:ext uri="{9D8B030D-6E8A-4147-A177-3AD203B41FA5}">
                      <a16:colId xmlns:a16="http://schemas.microsoft.com/office/drawing/2014/main" val="394449424"/>
                    </a:ext>
                  </a:extLst>
                </a:gridCol>
                <a:gridCol w="1261661">
                  <a:extLst>
                    <a:ext uri="{9D8B030D-6E8A-4147-A177-3AD203B41FA5}">
                      <a16:colId xmlns:a16="http://schemas.microsoft.com/office/drawing/2014/main" val="2714693200"/>
                    </a:ext>
                  </a:extLst>
                </a:gridCol>
                <a:gridCol w="1115281">
                  <a:extLst>
                    <a:ext uri="{9D8B030D-6E8A-4147-A177-3AD203B41FA5}">
                      <a16:colId xmlns:a16="http://schemas.microsoft.com/office/drawing/2014/main" val="2415911954"/>
                    </a:ext>
                  </a:extLst>
                </a:gridCol>
                <a:gridCol w="1171045">
                  <a:extLst>
                    <a:ext uri="{9D8B030D-6E8A-4147-A177-3AD203B41FA5}">
                      <a16:colId xmlns:a16="http://schemas.microsoft.com/office/drawing/2014/main" val="2221256711"/>
                    </a:ext>
                  </a:extLst>
                </a:gridCol>
                <a:gridCol w="1129222">
                  <a:extLst>
                    <a:ext uri="{9D8B030D-6E8A-4147-A177-3AD203B41FA5}">
                      <a16:colId xmlns:a16="http://schemas.microsoft.com/office/drawing/2014/main" val="3639088646"/>
                    </a:ext>
                  </a:extLst>
                </a:gridCol>
              </a:tblGrid>
              <a:tr h="360904">
                <a:tc>
                  <a:txBody>
                    <a:bodyPr/>
                    <a:lstStyle/>
                    <a:p>
                      <a:pPr algn="l"/>
                      <a:r>
                        <a:rPr lang="en-US" sz="1700" dirty="0">
                          <a:effectLst/>
                        </a:rPr>
                        <a:t>Model</a:t>
                      </a:r>
                    </a:p>
                  </a:txBody>
                  <a:tcPr marL="98812" marR="98812" marT="49406" marB="49406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700">
                          <a:effectLst/>
                        </a:rPr>
                        <a:t>Split</a:t>
                      </a:r>
                    </a:p>
                  </a:txBody>
                  <a:tcPr marL="98812" marR="98812" marT="49406" marB="49406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700" dirty="0">
                          <a:effectLst/>
                        </a:rPr>
                        <a:t>Loss</a:t>
                      </a:r>
                    </a:p>
                  </a:txBody>
                  <a:tcPr marL="98812" marR="98812" marT="49406" marB="49406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700" dirty="0">
                          <a:effectLst/>
                        </a:rPr>
                        <a:t>Accuracy</a:t>
                      </a:r>
                    </a:p>
                  </a:txBody>
                  <a:tcPr marL="98812" marR="98812" marT="49406" marB="49406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700">
                          <a:effectLst/>
                        </a:rPr>
                        <a:t>Macro F1</a:t>
                      </a:r>
                    </a:p>
                  </a:txBody>
                  <a:tcPr marL="98812" marR="98812" marT="49406" marB="49406" anchor="ctr"/>
                </a:tc>
                <a:extLst>
                  <a:ext uri="{0D108BD9-81ED-4DB2-BD59-A6C34878D82A}">
                    <a16:rowId xmlns:a16="http://schemas.microsoft.com/office/drawing/2014/main" val="3641856807"/>
                  </a:ext>
                </a:extLst>
              </a:tr>
              <a:tr h="360904">
                <a:tc>
                  <a:txBody>
                    <a:bodyPr/>
                    <a:lstStyle/>
                    <a:p>
                      <a:r>
                        <a:rPr lang="en-US" sz="1700">
                          <a:effectLst/>
                        </a:rPr>
                        <a:t>LSTM</a:t>
                      </a:r>
                    </a:p>
                  </a:txBody>
                  <a:tcPr marL="98812" marR="98812" marT="49406" marB="49406" anchor="ctr"/>
                </a:tc>
                <a:tc>
                  <a:txBody>
                    <a:bodyPr/>
                    <a:lstStyle/>
                    <a:p>
                      <a:r>
                        <a:rPr lang="en-US" sz="1700">
                          <a:effectLst/>
                        </a:rPr>
                        <a:t>Validation</a:t>
                      </a:r>
                    </a:p>
                  </a:txBody>
                  <a:tcPr marL="98812" marR="98812" marT="49406" marB="49406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700">
                          <a:effectLst/>
                        </a:rPr>
                        <a:t>0.3402</a:t>
                      </a:r>
                    </a:p>
                  </a:txBody>
                  <a:tcPr marL="98812" marR="98812" marT="49406" marB="49406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700">
                          <a:effectLst/>
                        </a:rPr>
                        <a:t>0.9113</a:t>
                      </a:r>
                    </a:p>
                  </a:txBody>
                  <a:tcPr marL="98812" marR="98812" marT="49406" marB="49406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700">
                          <a:effectLst/>
                        </a:rPr>
                        <a:t>0.9108</a:t>
                      </a:r>
                    </a:p>
                  </a:txBody>
                  <a:tcPr marL="98812" marR="98812" marT="49406" marB="49406" anchor="ctr"/>
                </a:tc>
                <a:extLst>
                  <a:ext uri="{0D108BD9-81ED-4DB2-BD59-A6C34878D82A}">
                    <a16:rowId xmlns:a16="http://schemas.microsoft.com/office/drawing/2014/main" val="71304165"/>
                  </a:ext>
                </a:extLst>
              </a:tr>
              <a:tr h="360904">
                <a:tc>
                  <a:txBody>
                    <a:bodyPr/>
                    <a:lstStyle/>
                    <a:p>
                      <a:r>
                        <a:rPr lang="en-US" sz="1700">
                          <a:effectLst/>
                        </a:rPr>
                        <a:t>Transformer Encoder</a:t>
                      </a:r>
                    </a:p>
                  </a:txBody>
                  <a:tcPr marL="98812" marR="98812" marT="49406" marB="49406" anchor="ctr"/>
                </a:tc>
                <a:tc>
                  <a:txBody>
                    <a:bodyPr/>
                    <a:lstStyle/>
                    <a:p>
                      <a:r>
                        <a:rPr lang="en-US" sz="1700">
                          <a:effectLst/>
                        </a:rPr>
                        <a:t>Validation</a:t>
                      </a:r>
                    </a:p>
                  </a:txBody>
                  <a:tcPr marL="98812" marR="98812" marT="49406" marB="49406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700">
                          <a:effectLst/>
                        </a:rPr>
                        <a:t>0.3103</a:t>
                      </a:r>
                    </a:p>
                  </a:txBody>
                  <a:tcPr marL="98812" marR="98812" marT="49406" marB="49406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700">
                          <a:effectLst/>
                        </a:rPr>
                        <a:t>0.9118</a:t>
                      </a:r>
                    </a:p>
                  </a:txBody>
                  <a:tcPr marL="98812" marR="98812" marT="49406" marB="49406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700">
                          <a:effectLst/>
                        </a:rPr>
                        <a:t>0.9115</a:t>
                      </a:r>
                    </a:p>
                  </a:txBody>
                  <a:tcPr marL="98812" marR="98812" marT="49406" marB="49406" anchor="ctr"/>
                </a:tc>
                <a:extLst>
                  <a:ext uri="{0D108BD9-81ED-4DB2-BD59-A6C34878D82A}">
                    <a16:rowId xmlns:a16="http://schemas.microsoft.com/office/drawing/2014/main" val="1293993527"/>
                  </a:ext>
                </a:extLst>
              </a:tr>
              <a:tr h="360904">
                <a:tc>
                  <a:txBody>
                    <a:bodyPr/>
                    <a:lstStyle/>
                    <a:p>
                      <a:r>
                        <a:rPr lang="en-US" sz="1700">
                          <a:effectLst/>
                        </a:rPr>
                        <a:t>LSTM</a:t>
                      </a:r>
                    </a:p>
                  </a:txBody>
                  <a:tcPr marL="98812" marR="98812" marT="49406" marB="49406" anchor="ctr"/>
                </a:tc>
                <a:tc>
                  <a:txBody>
                    <a:bodyPr/>
                    <a:lstStyle/>
                    <a:p>
                      <a:r>
                        <a:rPr lang="en-US" sz="1700">
                          <a:effectLst/>
                        </a:rPr>
                        <a:t>Test</a:t>
                      </a:r>
                    </a:p>
                  </a:txBody>
                  <a:tcPr marL="98812" marR="98812" marT="49406" marB="49406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700">
                          <a:effectLst/>
                        </a:rPr>
                        <a:t>0.3459</a:t>
                      </a:r>
                    </a:p>
                  </a:txBody>
                  <a:tcPr marL="98812" marR="98812" marT="49406" marB="49406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700">
                          <a:effectLst/>
                        </a:rPr>
                        <a:t>0.9120</a:t>
                      </a:r>
                    </a:p>
                  </a:txBody>
                  <a:tcPr marL="98812" marR="98812" marT="49406" marB="49406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700">
                          <a:effectLst/>
                        </a:rPr>
                        <a:t>0.9118</a:t>
                      </a:r>
                    </a:p>
                  </a:txBody>
                  <a:tcPr marL="98812" marR="98812" marT="49406" marB="49406" anchor="ctr"/>
                </a:tc>
                <a:extLst>
                  <a:ext uri="{0D108BD9-81ED-4DB2-BD59-A6C34878D82A}">
                    <a16:rowId xmlns:a16="http://schemas.microsoft.com/office/drawing/2014/main" val="3379563365"/>
                  </a:ext>
                </a:extLst>
              </a:tr>
              <a:tr h="360904">
                <a:tc>
                  <a:txBody>
                    <a:bodyPr/>
                    <a:lstStyle/>
                    <a:p>
                      <a:r>
                        <a:rPr lang="en-US" sz="1700">
                          <a:effectLst/>
                        </a:rPr>
                        <a:t>Transformer Encoder</a:t>
                      </a:r>
                    </a:p>
                  </a:txBody>
                  <a:tcPr marL="98812" marR="98812" marT="49406" marB="49406" anchor="ctr"/>
                </a:tc>
                <a:tc>
                  <a:txBody>
                    <a:bodyPr/>
                    <a:lstStyle/>
                    <a:p>
                      <a:r>
                        <a:rPr lang="en-US" sz="1700">
                          <a:effectLst/>
                        </a:rPr>
                        <a:t>Test</a:t>
                      </a:r>
                    </a:p>
                  </a:txBody>
                  <a:tcPr marL="98812" marR="98812" marT="49406" marB="49406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700">
                          <a:effectLst/>
                        </a:rPr>
                        <a:t>0.3066</a:t>
                      </a:r>
                    </a:p>
                  </a:txBody>
                  <a:tcPr marL="98812" marR="98812" marT="49406" marB="49406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700" dirty="0">
                          <a:effectLst/>
                        </a:rPr>
                        <a:t>0.9125</a:t>
                      </a:r>
                    </a:p>
                  </a:txBody>
                  <a:tcPr marL="98812" marR="98812" marT="49406" marB="49406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700" dirty="0">
                          <a:effectLst/>
                        </a:rPr>
                        <a:t>0.9126</a:t>
                      </a:r>
                    </a:p>
                  </a:txBody>
                  <a:tcPr marL="98812" marR="98812" marT="49406" marB="49406" anchor="ctr"/>
                </a:tc>
                <a:extLst>
                  <a:ext uri="{0D108BD9-81ED-4DB2-BD59-A6C34878D82A}">
                    <a16:rowId xmlns:a16="http://schemas.microsoft.com/office/drawing/2014/main" val="20718560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049224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34401" y="182802"/>
            <a:ext cx="8050842" cy="3206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-10" dirty="0"/>
              <a:t>Main Results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7"/>
          </p:nvPr>
        </p:nvSpPr>
        <p:spPr>
          <a:xfrm>
            <a:off x="5181600" y="6609807"/>
            <a:ext cx="3924873" cy="184666"/>
          </a:xfrm>
        </p:spPr>
        <p:txBody>
          <a:bodyPr/>
          <a:lstStyle/>
          <a:p>
            <a:pPr marL="3303904">
              <a:lnSpc>
                <a:spcPct val="100000"/>
              </a:lnSpc>
              <a:spcBef>
                <a:spcPts val="40"/>
              </a:spcBef>
            </a:pPr>
            <a:fld id="{81D60167-4931-47E6-BA6A-407CBD079E47}" type="slidenum">
              <a:rPr lang="en-US" spc="-50" smtClean="0"/>
              <a:t>8</a:t>
            </a:fld>
            <a:r>
              <a:rPr lang="en-US" spc="-50" dirty="0"/>
              <a:t> of 11</a:t>
            </a:r>
          </a:p>
        </p:txBody>
      </p:sp>
      <p:pic>
        <p:nvPicPr>
          <p:cNvPr id="5" name="Picture 4" descr="A blue and red logo&#10;&#10;AI-generated content may be incorrect.">
            <a:extLst>
              <a:ext uri="{FF2B5EF4-FFF2-40B4-BE49-F238E27FC236}">
                <a16:creationId xmlns:a16="http://schemas.microsoft.com/office/drawing/2014/main" id="{C0F089F8-38A5-65C8-BC32-7309A247FDD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58200" y="128016"/>
            <a:ext cx="444532" cy="30832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F95D2C2-BDF0-9D9B-8305-864984F7924C}"/>
              </a:ext>
            </a:extLst>
          </p:cNvPr>
          <p:cNvSpPr txBox="1"/>
          <p:nvPr/>
        </p:nvSpPr>
        <p:spPr>
          <a:xfrm>
            <a:off x="533400" y="762000"/>
            <a:ext cx="77186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000" dirty="0">
                <a:latin typeface="+mn-lt"/>
              </a:rPr>
              <a:t>Training loss continues to decrease across 6 epochs.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000" dirty="0">
                <a:latin typeface="+mn-lt"/>
              </a:rPr>
              <a:t>Validation loss rises late in training.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000" dirty="0">
                <a:latin typeface="+mn-lt"/>
              </a:rPr>
              <a:t>This suggests early stopping or stronger regularization as the logical next improvement.</a:t>
            </a:r>
          </a:p>
        </p:txBody>
      </p:sp>
      <p:pic>
        <p:nvPicPr>
          <p:cNvPr id="3" name="Picture 2" descr="main_loss_curv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62910" y="2313054"/>
            <a:ext cx="6018179" cy="3761362"/>
          </a:xfrm>
          <a:prstGeom prst="rect">
            <a:avLst/>
          </a:prstGeom>
        </p:spPr>
      </p:pic>
      <p:sp>
        <p:nvSpPr>
          <p:cNvPr id="7" name="Oval 6">
            <a:extLst>
              <a:ext uri="{FF2B5EF4-FFF2-40B4-BE49-F238E27FC236}">
                <a16:creationId xmlns:a16="http://schemas.microsoft.com/office/drawing/2014/main" id="{A9F9A312-1E64-5D16-B534-425A67705275}"/>
              </a:ext>
            </a:extLst>
          </p:cNvPr>
          <p:cNvSpPr/>
          <p:nvPr/>
        </p:nvSpPr>
        <p:spPr>
          <a:xfrm rot="21247958">
            <a:off x="4101842" y="3542371"/>
            <a:ext cx="3344948" cy="811250"/>
          </a:xfrm>
          <a:prstGeom prst="ellipse">
            <a:avLst/>
          </a:prstGeom>
          <a:noFill/>
          <a:ln w="38100">
            <a:solidFill>
              <a:srgbClr val="00B0F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02663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34401" y="182802"/>
            <a:ext cx="8050842" cy="3206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-10" dirty="0"/>
              <a:t>Main Results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7"/>
          </p:nvPr>
        </p:nvSpPr>
        <p:spPr>
          <a:xfrm>
            <a:off x="5181600" y="6609807"/>
            <a:ext cx="3924873" cy="184666"/>
          </a:xfrm>
        </p:spPr>
        <p:txBody>
          <a:bodyPr/>
          <a:lstStyle/>
          <a:p>
            <a:pPr marL="3303904">
              <a:lnSpc>
                <a:spcPct val="100000"/>
              </a:lnSpc>
              <a:spcBef>
                <a:spcPts val="40"/>
              </a:spcBef>
            </a:pPr>
            <a:fld id="{81D60167-4931-47E6-BA6A-407CBD079E47}" type="slidenum">
              <a:rPr lang="en-US" spc="-50" smtClean="0"/>
              <a:t>9</a:t>
            </a:fld>
            <a:r>
              <a:rPr lang="en-US" spc="-50" dirty="0"/>
              <a:t> of 11</a:t>
            </a:r>
          </a:p>
        </p:txBody>
      </p:sp>
      <p:pic>
        <p:nvPicPr>
          <p:cNvPr id="5" name="Picture 4" descr="A blue and red logo&#10;&#10;AI-generated content may be incorrect.">
            <a:extLst>
              <a:ext uri="{FF2B5EF4-FFF2-40B4-BE49-F238E27FC236}">
                <a16:creationId xmlns:a16="http://schemas.microsoft.com/office/drawing/2014/main" id="{C0F089F8-38A5-65C8-BC32-7309A247FDD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58200" y="128016"/>
            <a:ext cx="444532" cy="30832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F95D2C2-BDF0-9D9B-8305-864984F7924C}"/>
              </a:ext>
            </a:extLst>
          </p:cNvPr>
          <p:cNvSpPr txBox="1"/>
          <p:nvPr/>
        </p:nvSpPr>
        <p:spPr>
          <a:xfrm>
            <a:off x="533399" y="1338618"/>
            <a:ext cx="4492557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dirty="0">
                <a:latin typeface="+mn-lt"/>
              </a:rPr>
              <a:t>Sports is the easiest class for both models.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dirty="0">
                <a:latin typeface="+mn-lt"/>
              </a:rPr>
              <a:t>Business and Sci/Tech overlap because many company stories include technology terms.</a:t>
            </a:r>
          </a:p>
          <a:p>
            <a:pPr marL="796925" indent="-342900" algn="l">
              <a:buFont typeface="Arial" panose="020B0604020202020204" pitchFamily="34" charset="0"/>
              <a:buChar char="•"/>
            </a:pPr>
            <a:r>
              <a:rPr lang="en-US" dirty="0">
                <a:latin typeface="+mn-lt"/>
              </a:rPr>
              <a:t>LSTM: 177 Business examples predicted as Sci/Tech, and 121 Sci/Tech examples predicted as Business.</a:t>
            </a:r>
          </a:p>
          <a:p>
            <a:pPr marL="796925" indent="-342900" algn="l">
              <a:buFont typeface="Arial" panose="020B0604020202020204" pitchFamily="34" charset="0"/>
              <a:buChar char="•"/>
            </a:pPr>
            <a:r>
              <a:rPr lang="en-US" dirty="0">
                <a:latin typeface="+mn-lt"/>
              </a:rPr>
              <a:t>Transformer Encoder: 200 Business examples predicted as Sci/Tech, and 93 Sci/Tech examples predicted as Business.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dirty="0">
                <a:latin typeface="+mn-lt"/>
              </a:rPr>
              <a:t>The pattern is consistent with the selected failure examples.</a:t>
            </a:r>
          </a:p>
        </p:txBody>
      </p:sp>
      <p:pic>
        <p:nvPicPr>
          <p:cNvPr id="7" name="Picture 6" descr="transformer_confusion_matri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62468" y="577334"/>
            <a:ext cx="3295732" cy="274644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AC292DC-CE22-065E-B9D5-45752CF0DD78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1600" y="3323777"/>
            <a:ext cx="3295732" cy="27465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35926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34401" y="182802"/>
            <a:ext cx="8050842" cy="3206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-10" dirty="0"/>
              <a:t>Ablation Studies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7"/>
          </p:nvPr>
        </p:nvSpPr>
        <p:spPr>
          <a:xfrm>
            <a:off x="5181600" y="6609807"/>
            <a:ext cx="3924873" cy="184666"/>
          </a:xfrm>
        </p:spPr>
        <p:txBody>
          <a:bodyPr/>
          <a:lstStyle/>
          <a:p>
            <a:pPr marL="3303904">
              <a:lnSpc>
                <a:spcPct val="100000"/>
              </a:lnSpc>
              <a:spcBef>
                <a:spcPts val="40"/>
              </a:spcBef>
            </a:pPr>
            <a:fld id="{81D60167-4931-47E6-BA6A-407CBD079E47}" type="slidenum">
              <a:rPr lang="en-US" spc="-50" smtClean="0"/>
              <a:t>10</a:t>
            </a:fld>
            <a:r>
              <a:rPr lang="en-US" spc="-50" dirty="0"/>
              <a:t> of 11</a:t>
            </a:r>
          </a:p>
        </p:txBody>
      </p:sp>
      <p:pic>
        <p:nvPicPr>
          <p:cNvPr id="5" name="Picture 4" descr="A blue and red logo&#10;&#10;AI-generated content may be incorrect.">
            <a:extLst>
              <a:ext uri="{FF2B5EF4-FFF2-40B4-BE49-F238E27FC236}">
                <a16:creationId xmlns:a16="http://schemas.microsoft.com/office/drawing/2014/main" id="{C0F089F8-38A5-65C8-BC32-7309A247FDD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58200" y="128016"/>
            <a:ext cx="444532" cy="30832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F95D2C2-BDF0-9D9B-8305-864984F7924C}"/>
              </a:ext>
            </a:extLst>
          </p:cNvPr>
          <p:cNvSpPr txBox="1"/>
          <p:nvPr/>
        </p:nvSpPr>
        <p:spPr>
          <a:xfrm>
            <a:off x="533400" y="762000"/>
            <a:ext cx="77186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2000" dirty="0">
                <a:latin typeface="+mn-lt"/>
              </a:rPr>
              <a:t>Two Ablation Studies were run:</a:t>
            </a:r>
          </a:p>
          <a:p>
            <a:pPr marL="796925" indent="-342900" algn="l">
              <a:buFont typeface="Arial" panose="020B0604020202020204" pitchFamily="34" charset="0"/>
              <a:buChar char="•"/>
            </a:pPr>
            <a:r>
              <a:rPr lang="en-US" sz="2000" dirty="0"/>
              <a:t>Variable Training Set Fraction – 25%, 50%, 100%</a:t>
            </a:r>
          </a:p>
          <a:p>
            <a:pPr marL="796925" indent="-342900" algn="l">
              <a:buFont typeface="Arial" panose="020B0604020202020204" pitchFamily="34" charset="0"/>
              <a:buChar char="•"/>
            </a:pPr>
            <a:r>
              <a:rPr lang="en-US" sz="2000" dirty="0">
                <a:latin typeface="+mn-lt"/>
              </a:rPr>
              <a:t>Variable Sequence Length – 128, 256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AD5F2DC-D682-0AE1-4F83-53285FC55F59}"/>
              </a:ext>
            </a:extLst>
          </p:cNvPr>
          <p:cNvSpPr/>
          <p:nvPr/>
        </p:nvSpPr>
        <p:spPr>
          <a:xfrm>
            <a:off x="241268" y="2036260"/>
            <a:ext cx="3993506" cy="4338600"/>
          </a:xfrm>
          <a:prstGeom prst="rect">
            <a:avLst/>
          </a:prstGeom>
          <a:noFill/>
          <a:ln>
            <a:solidFill>
              <a:schemeClr val="accent2">
                <a:lumMod val="60000"/>
                <a:lumOff val="40000"/>
              </a:schemeClr>
            </a:solidFill>
            <a:prstDash val="lg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endParaRPr lang="en-US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DDCAD1-428F-6593-D32D-073E4BEF1FFD}"/>
              </a:ext>
            </a:extLst>
          </p:cNvPr>
          <p:cNvSpPr/>
          <p:nvPr/>
        </p:nvSpPr>
        <p:spPr>
          <a:xfrm>
            <a:off x="4909228" y="2036260"/>
            <a:ext cx="3993506" cy="4338600"/>
          </a:xfrm>
          <a:prstGeom prst="rect">
            <a:avLst/>
          </a:prstGeom>
          <a:noFill/>
          <a:ln>
            <a:solidFill>
              <a:schemeClr val="accent2">
                <a:lumMod val="60000"/>
                <a:lumOff val="40000"/>
              </a:schemeClr>
            </a:solidFill>
            <a:prstDash val="lg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endParaRPr lang="en-US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83F98A7-7574-B65F-C31D-9AC1D1F3891C}"/>
              </a:ext>
            </a:extLst>
          </p:cNvPr>
          <p:cNvSpPr txBox="1"/>
          <p:nvPr/>
        </p:nvSpPr>
        <p:spPr>
          <a:xfrm>
            <a:off x="1020651" y="2153055"/>
            <a:ext cx="24347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Training Set Fraction</a:t>
            </a:r>
            <a:endParaRPr lang="en-US" sz="2000" dirty="0">
              <a:latin typeface="+mn-lt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14663DA-74CE-DFAD-D0F5-BE44217C5EEB}"/>
              </a:ext>
            </a:extLst>
          </p:cNvPr>
          <p:cNvSpPr txBox="1"/>
          <p:nvPr/>
        </p:nvSpPr>
        <p:spPr>
          <a:xfrm>
            <a:off x="5688609" y="2153055"/>
            <a:ext cx="24347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Sequence Length</a:t>
            </a:r>
            <a:endParaRPr lang="en-US" sz="2000" dirty="0">
              <a:latin typeface="+mn-lt"/>
            </a:endParaRPr>
          </a:p>
        </p:txBody>
      </p: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A92E030C-F4B6-DD59-F9EC-20160FE6C8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8549653"/>
              </p:ext>
            </p:extLst>
          </p:nvPr>
        </p:nvGraphicFramePr>
        <p:xfrm>
          <a:off x="367364" y="2614022"/>
          <a:ext cx="3741313" cy="1034796"/>
        </p:xfrm>
        <a:graphic>
          <a:graphicData uri="http://schemas.openxmlformats.org/drawingml/2006/table">
            <a:tbl>
              <a:tblPr firstRow="1" firstCol="1" bandRow="1"/>
              <a:tblGrid>
                <a:gridCol w="1231576">
                  <a:extLst>
                    <a:ext uri="{9D8B030D-6E8A-4147-A177-3AD203B41FA5}">
                      <a16:colId xmlns:a16="http://schemas.microsoft.com/office/drawing/2014/main" val="3745255075"/>
                    </a:ext>
                  </a:extLst>
                </a:gridCol>
                <a:gridCol w="901430">
                  <a:extLst>
                    <a:ext uri="{9D8B030D-6E8A-4147-A177-3AD203B41FA5}">
                      <a16:colId xmlns:a16="http://schemas.microsoft.com/office/drawing/2014/main" val="313225598"/>
                    </a:ext>
                  </a:extLst>
                </a:gridCol>
                <a:gridCol w="778212">
                  <a:extLst>
                    <a:ext uri="{9D8B030D-6E8A-4147-A177-3AD203B41FA5}">
                      <a16:colId xmlns:a16="http://schemas.microsoft.com/office/drawing/2014/main" val="1921703183"/>
                    </a:ext>
                  </a:extLst>
                </a:gridCol>
                <a:gridCol w="830095">
                  <a:extLst>
                    <a:ext uri="{9D8B030D-6E8A-4147-A177-3AD203B41FA5}">
                      <a16:colId xmlns:a16="http://schemas.microsoft.com/office/drawing/2014/main" val="125438281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b="1" kern="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Malgun Gothic" panose="020B0503020000020004" pitchFamily="34" charset="-127"/>
                          <a:cs typeface="Times New Roman" panose="02020603050405020304" pitchFamily="18" charset="0"/>
                        </a:rPr>
                        <a:t>Model</a:t>
                      </a:r>
                      <a:endParaRPr lang="en-US" sz="1200" kern="100">
                        <a:effectLst/>
                        <a:latin typeface="Gill Sans MT" panose="020B0502020104020203" pitchFamily="34" charset="0"/>
                        <a:ea typeface="Malgun Gothic" panose="020B0503020000020004" pitchFamily="34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b="1" kern="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Malgun Gothic" panose="020B0503020000020004" pitchFamily="34" charset="-127"/>
                          <a:cs typeface="Times New Roman" panose="02020603050405020304" pitchFamily="18" charset="0"/>
                        </a:rPr>
                        <a:t>Train fraction</a:t>
                      </a:r>
                      <a:endParaRPr lang="en-US" sz="1200" kern="100">
                        <a:effectLst/>
                        <a:latin typeface="Gill Sans MT" panose="020B0502020104020203" pitchFamily="34" charset="0"/>
                        <a:ea typeface="Malgun Gothic" panose="020B0503020000020004" pitchFamily="34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b="1" kern="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Malgun Gothic" panose="020B0503020000020004" pitchFamily="34" charset="-127"/>
                          <a:cs typeface="Times New Roman" panose="02020603050405020304" pitchFamily="18" charset="0"/>
                        </a:rPr>
                        <a:t>Accuracy</a:t>
                      </a:r>
                      <a:endParaRPr lang="en-US" sz="1200" kern="100">
                        <a:effectLst/>
                        <a:latin typeface="Gill Sans MT" panose="020B0502020104020203" pitchFamily="34" charset="0"/>
                        <a:ea typeface="Malgun Gothic" panose="020B0503020000020004" pitchFamily="34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b="1" kern="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Malgun Gothic" panose="020B0503020000020004" pitchFamily="34" charset="-127"/>
                          <a:cs typeface="Times New Roman" panose="02020603050405020304" pitchFamily="18" charset="0"/>
                        </a:rPr>
                        <a:t>Macro F1</a:t>
                      </a:r>
                      <a:endParaRPr lang="en-US" sz="1200" kern="100">
                        <a:effectLst/>
                        <a:latin typeface="Gill Sans MT" panose="020B0502020104020203" pitchFamily="34" charset="0"/>
                        <a:ea typeface="Malgun Gothic" panose="020B0503020000020004" pitchFamily="34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4643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kern="100">
                          <a:effectLst/>
                          <a:latin typeface="Calibri" panose="020F0502020204030204" pitchFamily="34" charset="0"/>
                          <a:ea typeface="Malgun Gothic" panose="020B0503020000020004" pitchFamily="34" charset="-127"/>
                          <a:cs typeface="Times New Roman" panose="02020603050405020304" pitchFamily="18" charset="0"/>
                        </a:rPr>
                        <a:t>LSTM</a:t>
                      </a:r>
                      <a:endParaRPr lang="en-US" sz="1200" kern="100">
                        <a:effectLst/>
                        <a:latin typeface="Gill Sans MT" panose="020B0502020104020203" pitchFamily="34" charset="0"/>
                        <a:ea typeface="Malgun Gothic" panose="020B0503020000020004" pitchFamily="34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kern="100">
                          <a:effectLst/>
                          <a:latin typeface="Calibri" panose="020F0502020204030204" pitchFamily="34" charset="0"/>
                          <a:ea typeface="Malgun Gothic" panose="020B0503020000020004" pitchFamily="34" charset="-127"/>
                          <a:cs typeface="Times New Roman" panose="02020603050405020304" pitchFamily="18" charset="0"/>
                        </a:rPr>
                        <a:t>25%</a:t>
                      </a:r>
                      <a:endParaRPr lang="en-US" sz="1200" kern="100">
                        <a:effectLst/>
                        <a:latin typeface="Gill Sans MT" panose="020B0502020104020203" pitchFamily="34" charset="0"/>
                        <a:ea typeface="Malgun Gothic" panose="020B0503020000020004" pitchFamily="34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kern="100">
                          <a:effectLst/>
                          <a:latin typeface="Calibri" panose="020F0502020204030204" pitchFamily="34" charset="0"/>
                          <a:ea typeface="Malgun Gothic" panose="020B0503020000020004" pitchFamily="34" charset="-127"/>
                          <a:cs typeface="Times New Roman" panose="02020603050405020304" pitchFamily="18" charset="0"/>
                        </a:rPr>
                        <a:t>0.8719</a:t>
                      </a:r>
                      <a:endParaRPr lang="en-US" sz="1200" kern="100">
                        <a:effectLst/>
                        <a:latin typeface="Gill Sans MT" panose="020B0502020104020203" pitchFamily="34" charset="0"/>
                        <a:ea typeface="Malgun Gothic" panose="020B0503020000020004" pitchFamily="34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kern="100">
                          <a:effectLst/>
                          <a:latin typeface="Calibri" panose="020F0502020204030204" pitchFamily="34" charset="0"/>
                          <a:ea typeface="Malgun Gothic" panose="020B0503020000020004" pitchFamily="34" charset="-127"/>
                          <a:cs typeface="Times New Roman" panose="02020603050405020304" pitchFamily="18" charset="0"/>
                        </a:rPr>
                        <a:t>0.8713</a:t>
                      </a:r>
                      <a:endParaRPr lang="en-US" sz="1200" kern="100">
                        <a:effectLst/>
                        <a:latin typeface="Gill Sans MT" panose="020B0502020104020203" pitchFamily="34" charset="0"/>
                        <a:ea typeface="Malgun Gothic" panose="020B0503020000020004" pitchFamily="34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5569236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kern="100">
                          <a:effectLst/>
                          <a:latin typeface="Calibri" panose="020F0502020204030204" pitchFamily="34" charset="0"/>
                          <a:ea typeface="Malgun Gothic" panose="020B0503020000020004" pitchFamily="34" charset="-127"/>
                          <a:cs typeface="Times New Roman" panose="02020603050405020304" pitchFamily="18" charset="0"/>
                        </a:rPr>
                        <a:t>Transformer Encoder</a:t>
                      </a:r>
                      <a:endParaRPr lang="en-US" sz="1200" kern="100">
                        <a:effectLst/>
                        <a:latin typeface="Gill Sans MT" panose="020B0502020104020203" pitchFamily="34" charset="0"/>
                        <a:ea typeface="Malgun Gothic" panose="020B0503020000020004" pitchFamily="34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kern="100">
                          <a:effectLst/>
                          <a:latin typeface="Calibri" panose="020F0502020204030204" pitchFamily="34" charset="0"/>
                          <a:ea typeface="Malgun Gothic" panose="020B0503020000020004" pitchFamily="34" charset="-127"/>
                          <a:cs typeface="Times New Roman" panose="02020603050405020304" pitchFamily="18" charset="0"/>
                        </a:rPr>
                        <a:t>25%</a:t>
                      </a:r>
                      <a:endParaRPr lang="en-US" sz="1200" kern="100">
                        <a:effectLst/>
                        <a:latin typeface="Gill Sans MT" panose="020B0502020104020203" pitchFamily="34" charset="0"/>
                        <a:ea typeface="Malgun Gothic" panose="020B0503020000020004" pitchFamily="34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kern="100">
                          <a:effectLst/>
                          <a:latin typeface="Calibri" panose="020F0502020204030204" pitchFamily="34" charset="0"/>
                          <a:ea typeface="Malgun Gothic" panose="020B0503020000020004" pitchFamily="34" charset="-127"/>
                          <a:cs typeface="Times New Roman" panose="02020603050405020304" pitchFamily="18" charset="0"/>
                        </a:rPr>
                        <a:t>0.8699</a:t>
                      </a:r>
                      <a:endParaRPr lang="en-US" sz="1200" kern="100">
                        <a:effectLst/>
                        <a:latin typeface="Gill Sans MT" panose="020B0502020104020203" pitchFamily="34" charset="0"/>
                        <a:ea typeface="Malgun Gothic" panose="020B0503020000020004" pitchFamily="34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kern="100">
                          <a:effectLst/>
                          <a:latin typeface="Calibri" panose="020F0502020204030204" pitchFamily="34" charset="0"/>
                          <a:ea typeface="Malgun Gothic" panose="020B0503020000020004" pitchFamily="34" charset="-127"/>
                          <a:cs typeface="Times New Roman" panose="02020603050405020304" pitchFamily="18" charset="0"/>
                        </a:rPr>
                        <a:t>0.8696</a:t>
                      </a:r>
                      <a:endParaRPr lang="en-US" sz="1200" kern="100">
                        <a:effectLst/>
                        <a:latin typeface="Gill Sans MT" panose="020B0502020104020203" pitchFamily="34" charset="0"/>
                        <a:ea typeface="Malgun Gothic" panose="020B0503020000020004" pitchFamily="34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23041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kern="100">
                          <a:effectLst/>
                          <a:latin typeface="Calibri" panose="020F0502020204030204" pitchFamily="34" charset="0"/>
                          <a:ea typeface="Malgun Gothic" panose="020B0503020000020004" pitchFamily="34" charset="-127"/>
                          <a:cs typeface="Times New Roman" panose="02020603050405020304" pitchFamily="18" charset="0"/>
                        </a:rPr>
                        <a:t>LSTM</a:t>
                      </a:r>
                      <a:endParaRPr lang="en-US" sz="1200" kern="100">
                        <a:effectLst/>
                        <a:latin typeface="Gill Sans MT" panose="020B0502020104020203" pitchFamily="34" charset="0"/>
                        <a:ea typeface="Malgun Gothic" panose="020B0503020000020004" pitchFamily="34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kern="100">
                          <a:effectLst/>
                          <a:latin typeface="Calibri" panose="020F0502020204030204" pitchFamily="34" charset="0"/>
                          <a:ea typeface="Malgun Gothic" panose="020B0503020000020004" pitchFamily="34" charset="-127"/>
                          <a:cs typeface="Times New Roman" panose="02020603050405020304" pitchFamily="18" charset="0"/>
                        </a:rPr>
                        <a:t>50%</a:t>
                      </a:r>
                      <a:endParaRPr lang="en-US" sz="1200" kern="100">
                        <a:effectLst/>
                        <a:latin typeface="Gill Sans MT" panose="020B0502020104020203" pitchFamily="34" charset="0"/>
                        <a:ea typeface="Malgun Gothic" panose="020B0503020000020004" pitchFamily="34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kern="100">
                          <a:effectLst/>
                          <a:latin typeface="Calibri" panose="020F0502020204030204" pitchFamily="34" charset="0"/>
                          <a:ea typeface="Malgun Gothic" panose="020B0503020000020004" pitchFamily="34" charset="-127"/>
                          <a:cs typeface="Times New Roman" panose="02020603050405020304" pitchFamily="18" charset="0"/>
                        </a:rPr>
                        <a:t>0.8944</a:t>
                      </a:r>
                      <a:endParaRPr lang="en-US" sz="1200" kern="100">
                        <a:effectLst/>
                        <a:latin typeface="Gill Sans MT" panose="020B0502020104020203" pitchFamily="34" charset="0"/>
                        <a:ea typeface="Malgun Gothic" panose="020B0503020000020004" pitchFamily="34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kern="100">
                          <a:effectLst/>
                          <a:latin typeface="Calibri" panose="020F0502020204030204" pitchFamily="34" charset="0"/>
                          <a:ea typeface="Malgun Gothic" panose="020B0503020000020004" pitchFamily="34" charset="-127"/>
                          <a:cs typeface="Times New Roman" panose="02020603050405020304" pitchFamily="18" charset="0"/>
                        </a:rPr>
                        <a:t>0.8940</a:t>
                      </a:r>
                      <a:endParaRPr lang="en-US" sz="1200" kern="100">
                        <a:effectLst/>
                        <a:latin typeface="Gill Sans MT" panose="020B0502020104020203" pitchFamily="34" charset="0"/>
                        <a:ea typeface="Malgun Gothic" panose="020B0503020000020004" pitchFamily="34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11101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kern="100">
                          <a:effectLst/>
                          <a:latin typeface="Calibri" panose="020F0502020204030204" pitchFamily="34" charset="0"/>
                          <a:ea typeface="Malgun Gothic" panose="020B0503020000020004" pitchFamily="34" charset="-127"/>
                          <a:cs typeface="Times New Roman" panose="02020603050405020304" pitchFamily="18" charset="0"/>
                        </a:rPr>
                        <a:t>Transformer Encoder</a:t>
                      </a:r>
                      <a:endParaRPr lang="en-US" sz="1200" kern="100">
                        <a:effectLst/>
                        <a:latin typeface="Gill Sans MT" panose="020B0502020104020203" pitchFamily="34" charset="0"/>
                        <a:ea typeface="Malgun Gothic" panose="020B0503020000020004" pitchFamily="34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kern="100">
                          <a:effectLst/>
                          <a:latin typeface="Calibri" panose="020F0502020204030204" pitchFamily="34" charset="0"/>
                          <a:ea typeface="Malgun Gothic" panose="020B0503020000020004" pitchFamily="34" charset="-127"/>
                          <a:cs typeface="Times New Roman" panose="02020603050405020304" pitchFamily="18" charset="0"/>
                        </a:rPr>
                        <a:t>50%</a:t>
                      </a:r>
                      <a:endParaRPr lang="en-US" sz="1200" kern="100">
                        <a:effectLst/>
                        <a:latin typeface="Gill Sans MT" panose="020B0502020104020203" pitchFamily="34" charset="0"/>
                        <a:ea typeface="Malgun Gothic" panose="020B0503020000020004" pitchFamily="34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kern="100">
                          <a:effectLst/>
                          <a:latin typeface="Calibri" panose="020F0502020204030204" pitchFamily="34" charset="0"/>
                          <a:ea typeface="Malgun Gothic" panose="020B0503020000020004" pitchFamily="34" charset="-127"/>
                          <a:cs typeface="Times New Roman" panose="02020603050405020304" pitchFamily="18" charset="0"/>
                        </a:rPr>
                        <a:t>0.8901</a:t>
                      </a:r>
                      <a:endParaRPr lang="en-US" sz="1200" kern="100">
                        <a:effectLst/>
                        <a:latin typeface="Gill Sans MT" panose="020B0502020104020203" pitchFamily="34" charset="0"/>
                        <a:ea typeface="Malgun Gothic" panose="020B0503020000020004" pitchFamily="34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kern="100">
                          <a:effectLst/>
                          <a:latin typeface="Calibri" panose="020F0502020204030204" pitchFamily="34" charset="0"/>
                          <a:ea typeface="Malgun Gothic" panose="020B0503020000020004" pitchFamily="34" charset="-127"/>
                          <a:cs typeface="Times New Roman" panose="02020603050405020304" pitchFamily="18" charset="0"/>
                        </a:rPr>
                        <a:t>0.8895</a:t>
                      </a:r>
                      <a:endParaRPr lang="en-US" sz="1200" kern="100">
                        <a:effectLst/>
                        <a:latin typeface="Gill Sans MT" panose="020B0502020104020203" pitchFamily="34" charset="0"/>
                        <a:ea typeface="Malgun Gothic" panose="020B0503020000020004" pitchFamily="34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804391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kern="100">
                          <a:effectLst/>
                          <a:latin typeface="Calibri" panose="020F0502020204030204" pitchFamily="34" charset="0"/>
                          <a:ea typeface="Malgun Gothic" panose="020B0503020000020004" pitchFamily="34" charset="-127"/>
                          <a:cs typeface="Times New Roman" panose="02020603050405020304" pitchFamily="18" charset="0"/>
                        </a:rPr>
                        <a:t>LSTM</a:t>
                      </a:r>
                      <a:endParaRPr lang="en-US" sz="1200" kern="100">
                        <a:effectLst/>
                        <a:latin typeface="Gill Sans MT" panose="020B0502020104020203" pitchFamily="34" charset="0"/>
                        <a:ea typeface="Malgun Gothic" panose="020B0503020000020004" pitchFamily="34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kern="100">
                          <a:effectLst/>
                          <a:latin typeface="Calibri" panose="020F0502020204030204" pitchFamily="34" charset="0"/>
                          <a:ea typeface="Malgun Gothic" panose="020B0503020000020004" pitchFamily="34" charset="-127"/>
                          <a:cs typeface="Times New Roman" panose="02020603050405020304" pitchFamily="18" charset="0"/>
                        </a:rPr>
                        <a:t>100%</a:t>
                      </a:r>
                      <a:endParaRPr lang="en-US" sz="1200" kern="100">
                        <a:effectLst/>
                        <a:latin typeface="Gill Sans MT" panose="020B0502020104020203" pitchFamily="34" charset="0"/>
                        <a:ea typeface="Malgun Gothic" panose="020B0503020000020004" pitchFamily="34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kern="100">
                          <a:effectLst/>
                          <a:latin typeface="Calibri" panose="020F0502020204030204" pitchFamily="34" charset="0"/>
                          <a:ea typeface="Malgun Gothic" panose="020B0503020000020004" pitchFamily="34" charset="-127"/>
                          <a:cs typeface="Times New Roman" panose="02020603050405020304" pitchFamily="18" charset="0"/>
                        </a:rPr>
                        <a:t>0.9089</a:t>
                      </a:r>
                      <a:endParaRPr lang="en-US" sz="1200" kern="100">
                        <a:effectLst/>
                        <a:latin typeface="Gill Sans MT" panose="020B0502020104020203" pitchFamily="34" charset="0"/>
                        <a:ea typeface="Malgun Gothic" panose="020B0503020000020004" pitchFamily="34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kern="100">
                          <a:effectLst/>
                          <a:latin typeface="Calibri" panose="020F0502020204030204" pitchFamily="34" charset="0"/>
                          <a:ea typeface="Malgun Gothic" panose="020B0503020000020004" pitchFamily="34" charset="-127"/>
                          <a:cs typeface="Times New Roman" panose="02020603050405020304" pitchFamily="18" charset="0"/>
                        </a:rPr>
                        <a:t>0.9082</a:t>
                      </a:r>
                      <a:endParaRPr lang="en-US" sz="1200" kern="100">
                        <a:effectLst/>
                        <a:latin typeface="Gill Sans MT" panose="020B0502020104020203" pitchFamily="34" charset="0"/>
                        <a:ea typeface="Malgun Gothic" panose="020B0503020000020004" pitchFamily="34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425904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kern="100">
                          <a:effectLst/>
                          <a:latin typeface="Calibri" panose="020F0502020204030204" pitchFamily="34" charset="0"/>
                          <a:ea typeface="Malgun Gothic" panose="020B0503020000020004" pitchFamily="34" charset="-127"/>
                          <a:cs typeface="Times New Roman" panose="02020603050405020304" pitchFamily="18" charset="0"/>
                        </a:rPr>
                        <a:t>Transformer Encoder</a:t>
                      </a:r>
                      <a:endParaRPr lang="en-US" sz="1200" kern="100">
                        <a:effectLst/>
                        <a:latin typeface="Gill Sans MT" panose="020B0502020104020203" pitchFamily="34" charset="0"/>
                        <a:ea typeface="Malgun Gothic" panose="020B0503020000020004" pitchFamily="34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kern="100">
                          <a:effectLst/>
                          <a:latin typeface="Calibri" panose="020F0502020204030204" pitchFamily="34" charset="0"/>
                          <a:ea typeface="Malgun Gothic" panose="020B0503020000020004" pitchFamily="34" charset="-127"/>
                          <a:cs typeface="Times New Roman" panose="02020603050405020304" pitchFamily="18" charset="0"/>
                        </a:rPr>
                        <a:t>100%</a:t>
                      </a:r>
                      <a:endParaRPr lang="en-US" sz="1200" kern="100">
                        <a:effectLst/>
                        <a:latin typeface="Gill Sans MT" panose="020B0502020104020203" pitchFamily="34" charset="0"/>
                        <a:ea typeface="Malgun Gothic" panose="020B0503020000020004" pitchFamily="34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kern="100">
                          <a:effectLst/>
                          <a:latin typeface="Calibri" panose="020F0502020204030204" pitchFamily="34" charset="0"/>
                          <a:ea typeface="Malgun Gothic" panose="020B0503020000020004" pitchFamily="34" charset="-127"/>
                          <a:cs typeface="Times New Roman" panose="02020603050405020304" pitchFamily="18" charset="0"/>
                        </a:rPr>
                        <a:t>0.9146</a:t>
                      </a:r>
                      <a:endParaRPr lang="en-US" sz="1200" kern="100">
                        <a:effectLst/>
                        <a:latin typeface="Gill Sans MT" panose="020B0502020104020203" pitchFamily="34" charset="0"/>
                        <a:ea typeface="Malgun Gothic" panose="020B0503020000020004" pitchFamily="34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kern="100" dirty="0">
                          <a:effectLst/>
                          <a:latin typeface="Calibri" panose="020F0502020204030204" pitchFamily="34" charset="0"/>
                          <a:ea typeface="Malgun Gothic" panose="020B0503020000020004" pitchFamily="34" charset="-127"/>
                          <a:cs typeface="Times New Roman" panose="02020603050405020304" pitchFamily="18" charset="0"/>
                        </a:rPr>
                        <a:t>0.9142</a:t>
                      </a:r>
                      <a:endParaRPr lang="en-US" sz="1200" kern="100" dirty="0">
                        <a:effectLst/>
                        <a:latin typeface="Gill Sans MT" panose="020B0502020104020203" pitchFamily="34" charset="0"/>
                        <a:ea typeface="Malgun Gothic" panose="020B0503020000020004" pitchFamily="34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73016475"/>
                  </a:ext>
                </a:extLst>
              </a:tr>
            </a:tbl>
          </a:graphicData>
        </a:graphic>
      </p:graphicFrame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A64ECE65-6DD3-52F7-5639-4EF4C30102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2691822"/>
              </p:ext>
            </p:extLst>
          </p:nvPr>
        </p:nvGraphicFramePr>
        <p:xfrm>
          <a:off x="5045035" y="2761850"/>
          <a:ext cx="3731600" cy="739140"/>
        </p:xfrm>
        <a:graphic>
          <a:graphicData uri="http://schemas.openxmlformats.org/drawingml/2006/table">
            <a:tbl>
              <a:tblPr firstRow="1" firstCol="1" bandRow="1"/>
              <a:tblGrid>
                <a:gridCol w="1154727">
                  <a:extLst>
                    <a:ext uri="{9D8B030D-6E8A-4147-A177-3AD203B41FA5}">
                      <a16:colId xmlns:a16="http://schemas.microsoft.com/office/drawing/2014/main" val="3427439579"/>
                    </a:ext>
                  </a:extLst>
                </a:gridCol>
                <a:gridCol w="874740">
                  <a:extLst>
                    <a:ext uri="{9D8B030D-6E8A-4147-A177-3AD203B41FA5}">
                      <a16:colId xmlns:a16="http://schemas.microsoft.com/office/drawing/2014/main" val="780307965"/>
                    </a:ext>
                  </a:extLst>
                </a:gridCol>
                <a:gridCol w="523733">
                  <a:extLst>
                    <a:ext uri="{9D8B030D-6E8A-4147-A177-3AD203B41FA5}">
                      <a16:colId xmlns:a16="http://schemas.microsoft.com/office/drawing/2014/main" val="2325484379"/>
                    </a:ext>
                  </a:extLst>
                </a:gridCol>
                <a:gridCol w="589200">
                  <a:extLst>
                    <a:ext uri="{9D8B030D-6E8A-4147-A177-3AD203B41FA5}">
                      <a16:colId xmlns:a16="http://schemas.microsoft.com/office/drawing/2014/main" val="2291822479"/>
                    </a:ext>
                  </a:extLst>
                </a:gridCol>
                <a:gridCol w="589200">
                  <a:extLst>
                    <a:ext uri="{9D8B030D-6E8A-4147-A177-3AD203B41FA5}">
                      <a16:colId xmlns:a16="http://schemas.microsoft.com/office/drawing/2014/main" val="280172048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b="1" kern="1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Malgun Gothic" panose="020B0503020000020004" pitchFamily="34" charset="-127"/>
                          <a:cs typeface="Times New Roman" panose="02020603050405020304" pitchFamily="18" charset="0"/>
                        </a:rPr>
                        <a:t>Model</a:t>
                      </a:r>
                      <a:endParaRPr lang="en-US" sz="1200" kern="100" dirty="0">
                        <a:effectLst/>
                        <a:latin typeface="Gill Sans MT" panose="020B0502020104020203" pitchFamily="34" charset="0"/>
                        <a:ea typeface="Malgun Gothic" panose="020B0503020000020004" pitchFamily="34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b="1" kern="1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Malgun Gothic" panose="020B0503020000020004" pitchFamily="34" charset="-127"/>
                          <a:cs typeface="Times New Roman" panose="02020603050405020304" pitchFamily="18" charset="0"/>
                        </a:rPr>
                        <a:t>Max length</a:t>
                      </a:r>
                      <a:endParaRPr lang="en-US" sz="1200" kern="100" dirty="0">
                        <a:effectLst/>
                        <a:latin typeface="Gill Sans MT" panose="020B0502020104020203" pitchFamily="34" charset="0"/>
                        <a:ea typeface="Malgun Gothic" panose="020B0503020000020004" pitchFamily="34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b="1" kern="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Malgun Gothic" panose="020B0503020000020004" pitchFamily="34" charset="-127"/>
                          <a:cs typeface="Times New Roman" panose="02020603050405020304" pitchFamily="18" charset="0"/>
                        </a:rPr>
                        <a:t>Loss</a:t>
                      </a:r>
                      <a:endParaRPr lang="en-US" sz="1200" kern="100">
                        <a:effectLst/>
                        <a:latin typeface="Gill Sans MT" panose="020B0502020104020203" pitchFamily="34" charset="0"/>
                        <a:ea typeface="Malgun Gothic" panose="020B0503020000020004" pitchFamily="34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b="1" kern="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Malgun Gothic" panose="020B0503020000020004" pitchFamily="34" charset="-127"/>
                          <a:cs typeface="Times New Roman" panose="02020603050405020304" pitchFamily="18" charset="0"/>
                        </a:rPr>
                        <a:t>Accuracy</a:t>
                      </a:r>
                      <a:endParaRPr lang="en-US" sz="1200" kern="100">
                        <a:effectLst/>
                        <a:latin typeface="Gill Sans MT" panose="020B0502020104020203" pitchFamily="34" charset="0"/>
                        <a:ea typeface="Malgun Gothic" panose="020B0503020000020004" pitchFamily="34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b="1" kern="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Malgun Gothic" panose="020B0503020000020004" pitchFamily="34" charset="-127"/>
                          <a:cs typeface="Times New Roman" panose="02020603050405020304" pitchFamily="18" charset="0"/>
                        </a:rPr>
                        <a:t>Macro F1</a:t>
                      </a:r>
                      <a:endParaRPr lang="en-US" sz="1200" kern="100">
                        <a:effectLst/>
                        <a:latin typeface="Gill Sans MT" panose="020B0502020104020203" pitchFamily="34" charset="0"/>
                        <a:ea typeface="Malgun Gothic" panose="020B0503020000020004" pitchFamily="34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782847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kern="100">
                          <a:effectLst/>
                          <a:latin typeface="Calibri" panose="020F0502020204030204" pitchFamily="34" charset="0"/>
                          <a:ea typeface="Malgun Gothic" panose="020B0503020000020004" pitchFamily="34" charset="-127"/>
                          <a:cs typeface="Times New Roman" panose="02020603050405020304" pitchFamily="18" charset="0"/>
                        </a:rPr>
                        <a:t>LSTM</a:t>
                      </a:r>
                      <a:endParaRPr lang="en-US" sz="1200" kern="100">
                        <a:effectLst/>
                        <a:latin typeface="Gill Sans MT" panose="020B0502020104020203" pitchFamily="34" charset="0"/>
                        <a:ea typeface="Malgun Gothic" panose="020B0503020000020004" pitchFamily="34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kern="100" dirty="0">
                          <a:effectLst/>
                          <a:latin typeface="Calibri" panose="020F0502020204030204" pitchFamily="34" charset="0"/>
                          <a:ea typeface="Malgun Gothic" panose="020B0503020000020004" pitchFamily="34" charset="-127"/>
                          <a:cs typeface="Times New Roman" panose="02020603050405020304" pitchFamily="18" charset="0"/>
                        </a:rPr>
                        <a:t>128</a:t>
                      </a:r>
                      <a:endParaRPr lang="en-US" sz="1200" kern="100" dirty="0">
                        <a:effectLst/>
                        <a:latin typeface="Gill Sans MT" panose="020B0502020104020203" pitchFamily="34" charset="0"/>
                        <a:ea typeface="Malgun Gothic" panose="020B0503020000020004" pitchFamily="34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kern="100">
                          <a:effectLst/>
                          <a:latin typeface="Calibri" panose="020F0502020204030204" pitchFamily="34" charset="0"/>
                          <a:ea typeface="Malgun Gothic" panose="020B0503020000020004" pitchFamily="34" charset="-127"/>
                          <a:cs typeface="Times New Roman" panose="02020603050405020304" pitchFamily="18" charset="0"/>
                        </a:rPr>
                        <a:t>0.3402</a:t>
                      </a:r>
                      <a:endParaRPr lang="en-US" sz="1200" kern="100">
                        <a:effectLst/>
                        <a:latin typeface="Gill Sans MT" panose="020B0502020104020203" pitchFamily="34" charset="0"/>
                        <a:ea typeface="Malgun Gothic" panose="020B0503020000020004" pitchFamily="34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kern="100">
                          <a:effectLst/>
                          <a:latin typeface="Calibri" panose="020F0502020204030204" pitchFamily="34" charset="0"/>
                          <a:ea typeface="Malgun Gothic" panose="020B0503020000020004" pitchFamily="34" charset="-127"/>
                          <a:cs typeface="Times New Roman" panose="02020603050405020304" pitchFamily="18" charset="0"/>
                        </a:rPr>
                        <a:t>0.9113</a:t>
                      </a:r>
                      <a:endParaRPr lang="en-US" sz="1200" kern="100">
                        <a:effectLst/>
                        <a:latin typeface="Gill Sans MT" panose="020B0502020104020203" pitchFamily="34" charset="0"/>
                        <a:ea typeface="Malgun Gothic" panose="020B0503020000020004" pitchFamily="34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kern="100">
                          <a:effectLst/>
                          <a:latin typeface="Calibri" panose="020F0502020204030204" pitchFamily="34" charset="0"/>
                          <a:ea typeface="Malgun Gothic" panose="020B0503020000020004" pitchFamily="34" charset="-127"/>
                          <a:cs typeface="Times New Roman" panose="02020603050405020304" pitchFamily="18" charset="0"/>
                        </a:rPr>
                        <a:t>0.9108</a:t>
                      </a:r>
                      <a:endParaRPr lang="en-US" sz="1200" kern="100">
                        <a:effectLst/>
                        <a:latin typeface="Gill Sans MT" panose="020B0502020104020203" pitchFamily="34" charset="0"/>
                        <a:ea typeface="Malgun Gothic" panose="020B0503020000020004" pitchFamily="34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649518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kern="100">
                          <a:effectLst/>
                          <a:latin typeface="Calibri" panose="020F0502020204030204" pitchFamily="34" charset="0"/>
                          <a:ea typeface="Malgun Gothic" panose="020B0503020000020004" pitchFamily="34" charset="-127"/>
                          <a:cs typeface="Times New Roman" panose="02020603050405020304" pitchFamily="18" charset="0"/>
                        </a:rPr>
                        <a:t>Transformer Encoder</a:t>
                      </a:r>
                      <a:endParaRPr lang="en-US" sz="1200" kern="100">
                        <a:effectLst/>
                        <a:latin typeface="Gill Sans MT" panose="020B0502020104020203" pitchFamily="34" charset="0"/>
                        <a:ea typeface="Malgun Gothic" panose="020B0503020000020004" pitchFamily="34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kern="100">
                          <a:effectLst/>
                          <a:latin typeface="Calibri" panose="020F0502020204030204" pitchFamily="34" charset="0"/>
                          <a:ea typeface="Malgun Gothic" panose="020B0503020000020004" pitchFamily="34" charset="-127"/>
                          <a:cs typeface="Times New Roman" panose="02020603050405020304" pitchFamily="18" charset="0"/>
                        </a:rPr>
                        <a:t>128</a:t>
                      </a:r>
                      <a:endParaRPr lang="en-US" sz="1200" kern="100">
                        <a:effectLst/>
                        <a:latin typeface="Gill Sans MT" panose="020B0502020104020203" pitchFamily="34" charset="0"/>
                        <a:ea typeface="Malgun Gothic" panose="020B0503020000020004" pitchFamily="34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kern="100">
                          <a:effectLst/>
                          <a:latin typeface="Calibri" panose="020F0502020204030204" pitchFamily="34" charset="0"/>
                          <a:ea typeface="Malgun Gothic" panose="020B0503020000020004" pitchFamily="34" charset="-127"/>
                          <a:cs typeface="Times New Roman" panose="02020603050405020304" pitchFamily="18" charset="0"/>
                        </a:rPr>
                        <a:t>0.3103</a:t>
                      </a:r>
                      <a:endParaRPr lang="en-US" sz="1200" kern="100">
                        <a:effectLst/>
                        <a:latin typeface="Gill Sans MT" panose="020B0502020104020203" pitchFamily="34" charset="0"/>
                        <a:ea typeface="Malgun Gothic" panose="020B0503020000020004" pitchFamily="34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kern="100">
                          <a:effectLst/>
                          <a:latin typeface="Calibri" panose="020F0502020204030204" pitchFamily="34" charset="0"/>
                          <a:ea typeface="Malgun Gothic" panose="020B0503020000020004" pitchFamily="34" charset="-127"/>
                          <a:cs typeface="Times New Roman" panose="02020603050405020304" pitchFamily="18" charset="0"/>
                        </a:rPr>
                        <a:t>0.9118</a:t>
                      </a:r>
                      <a:endParaRPr lang="en-US" sz="1200" kern="100">
                        <a:effectLst/>
                        <a:latin typeface="Gill Sans MT" panose="020B0502020104020203" pitchFamily="34" charset="0"/>
                        <a:ea typeface="Malgun Gothic" panose="020B0503020000020004" pitchFamily="34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kern="100">
                          <a:effectLst/>
                          <a:latin typeface="Calibri" panose="020F0502020204030204" pitchFamily="34" charset="0"/>
                          <a:ea typeface="Malgun Gothic" panose="020B0503020000020004" pitchFamily="34" charset="-127"/>
                          <a:cs typeface="Times New Roman" panose="02020603050405020304" pitchFamily="18" charset="0"/>
                        </a:rPr>
                        <a:t>0.9115</a:t>
                      </a:r>
                      <a:endParaRPr lang="en-US" sz="1200" kern="100">
                        <a:effectLst/>
                        <a:latin typeface="Gill Sans MT" panose="020B0502020104020203" pitchFamily="34" charset="0"/>
                        <a:ea typeface="Malgun Gothic" panose="020B0503020000020004" pitchFamily="34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648318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kern="100">
                          <a:effectLst/>
                          <a:latin typeface="Calibri" panose="020F0502020204030204" pitchFamily="34" charset="0"/>
                          <a:ea typeface="Malgun Gothic" panose="020B0503020000020004" pitchFamily="34" charset="-127"/>
                          <a:cs typeface="Times New Roman" panose="02020603050405020304" pitchFamily="18" charset="0"/>
                        </a:rPr>
                        <a:t>LSTM</a:t>
                      </a:r>
                      <a:endParaRPr lang="en-US" sz="1200" kern="100">
                        <a:effectLst/>
                        <a:latin typeface="Gill Sans MT" panose="020B0502020104020203" pitchFamily="34" charset="0"/>
                        <a:ea typeface="Malgun Gothic" panose="020B0503020000020004" pitchFamily="34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kern="100">
                          <a:effectLst/>
                          <a:latin typeface="Calibri" panose="020F0502020204030204" pitchFamily="34" charset="0"/>
                          <a:ea typeface="Malgun Gothic" panose="020B0503020000020004" pitchFamily="34" charset="-127"/>
                          <a:cs typeface="Times New Roman" panose="02020603050405020304" pitchFamily="18" charset="0"/>
                        </a:rPr>
                        <a:t>256</a:t>
                      </a:r>
                      <a:endParaRPr lang="en-US" sz="1200" kern="100">
                        <a:effectLst/>
                        <a:latin typeface="Gill Sans MT" panose="020B0502020104020203" pitchFamily="34" charset="0"/>
                        <a:ea typeface="Malgun Gothic" panose="020B0503020000020004" pitchFamily="34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kern="100">
                          <a:effectLst/>
                          <a:latin typeface="Calibri" panose="020F0502020204030204" pitchFamily="34" charset="0"/>
                          <a:ea typeface="Malgun Gothic" panose="020B0503020000020004" pitchFamily="34" charset="-127"/>
                          <a:cs typeface="Times New Roman" panose="02020603050405020304" pitchFamily="18" charset="0"/>
                        </a:rPr>
                        <a:t>0.3535</a:t>
                      </a:r>
                      <a:endParaRPr lang="en-US" sz="1200" kern="100">
                        <a:effectLst/>
                        <a:latin typeface="Gill Sans MT" panose="020B0502020104020203" pitchFamily="34" charset="0"/>
                        <a:ea typeface="Malgun Gothic" panose="020B0503020000020004" pitchFamily="34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kern="100">
                          <a:effectLst/>
                          <a:latin typeface="Calibri" panose="020F0502020204030204" pitchFamily="34" charset="0"/>
                          <a:ea typeface="Malgun Gothic" panose="020B0503020000020004" pitchFamily="34" charset="-127"/>
                          <a:cs typeface="Times New Roman" panose="02020603050405020304" pitchFamily="18" charset="0"/>
                        </a:rPr>
                        <a:t>0.9065</a:t>
                      </a:r>
                      <a:endParaRPr lang="en-US" sz="1200" kern="100">
                        <a:effectLst/>
                        <a:latin typeface="Gill Sans MT" panose="020B0502020104020203" pitchFamily="34" charset="0"/>
                        <a:ea typeface="Malgun Gothic" panose="020B0503020000020004" pitchFamily="34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kern="100">
                          <a:effectLst/>
                          <a:latin typeface="Calibri" panose="020F0502020204030204" pitchFamily="34" charset="0"/>
                          <a:ea typeface="Malgun Gothic" panose="020B0503020000020004" pitchFamily="34" charset="-127"/>
                          <a:cs typeface="Times New Roman" panose="02020603050405020304" pitchFamily="18" charset="0"/>
                        </a:rPr>
                        <a:t>0.9058</a:t>
                      </a:r>
                      <a:endParaRPr lang="en-US" sz="1200" kern="100">
                        <a:effectLst/>
                        <a:latin typeface="Gill Sans MT" panose="020B0502020104020203" pitchFamily="34" charset="0"/>
                        <a:ea typeface="Malgun Gothic" panose="020B0503020000020004" pitchFamily="34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263007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kern="100">
                          <a:effectLst/>
                          <a:latin typeface="Calibri" panose="020F0502020204030204" pitchFamily="34" charset="0"/>
                          <a:ea typeface="Malgun Gothic" panose="020B0503020000020004" pitchFamily="34" charset="-127"/>
                          <a:cs typeface="Times New Roman" panose="02020603050405020304" pitchFamily="18" charset="0"/>
                        </a:rPr>
                        <a:t>Transformer Encoder</a:t>
                      </a:r>
                      <a:endParaRPr lang="en-US" sz="1200" kern="100">
                        <a:effectLst/>
                        <a:latin typeface="Gill Sans MT" panose="020B0502020104020203" pitchFamily="34" charset="0"/>
                        <a:ea typeface="Malgun Gothic" panose="020B0503020000020004" pitchFamily="34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kern="100">
                          <a:effectLst/>
                          <a:latin typeface="Calibri" panose="020F0502020204030204" pitchFamily="34" charset="0"/>
                          <a:ea typeface="Malgun Gothic" panose="020B0503020000020004" pitchFamily="34" charset="-127"/>
                          <a:cs typeface="Times New Roman" panose="02020603050405020304" pitchFamily="18" charset="0"/>
                        </a:rPr>
                        <a:t>256</a:t>
                      </a:r>
                      <a:endParaRPr lang="en-US" sz="1200" kern="100">
                        <a:effectLst/>
                        <a:latin typeface="Gill Sans MT" panose="020B0502020104020203" pitchFamily="34" charset="0"/>
                        <a:ea typeface="Malgun Gothic" panose="020B0503020000020004" pitchFamily="34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kern="100">
                          <a:effectLst/>
                          <a:latin typeface="Calibri" panose="020F0502020204030204" pitchFamily="34" charset="0"/>
                          <a:ea typeface="Malgun Gothic" panose="020B0503020000020004" pitchFamily="34" charset="-127"/>
                          <a:cs typeface="Times New Roman" panose="02020603050405020304" pitchFamily="18" charset="0"/>
                        </a:rPr>
                        <a:t>0.3304</a:t>
                      </a:r>
                      <a:endParaRPr lang="en-US" sz="1200" kern="100">
                        <a:effectLst/>
                        <a:latin typeface="Gill Sans MT" panose="020B0502020104020203" pitchFamily="34" charset="0"/>
                        <a:ea typeface="Malgun Gothic" panose="020B0503020000020004" pitchFamily="34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kern="100">
                          <a:effectLst/>
                          <a:latin typeface="Calibri" panose="020F0502020204030204" pitchFamily="34" charset="0"/>
                          <a:ea typeface="Malgun Gothic" panose="020B0503020000020004" pitchFamily="34" charset="-127"/>
                          <a:cs typeface="Times New Roman" panose="02020603050405020304" pitchFamily="18" charset="0"/>
                        </a:rPr>
                        <a:t>0.9062</a:t>
                      </a:r>
                      <a:endParaRPr lang="en-US" sz="1200" kern="100">
                        <a:effectLst/>
                        <a:latin typeface="Gill Sans MT" panose="020B0502020104020203" pitchFamily="34" charset="0"/>
                        <a:ea typeface="Malgun Gothic" panose="020B0503020000020004" pitchFamily="34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kern="100" dirty="0">
                          <a:effectLst/>
                          <a:latin typeface="Calibri" panose="020F0502020204030204" pitchFamily="34" charset="0"/>
                          <a:ea typeface="Malgun Gothic" panose="020B0503020000020004" pitchFamily="34" charset="-127"/>
                          <a:cs typeface="Times New Roman" panose="02020603050405020304" pitchFamily="18" charset="0"/>
                        </a:rPr>
                        <a:t>0.9059</a:t>
                      </a:r>
                      <a:endParaRPr lang="en-US" sz="1200" kern="100" dirty="0">
                        <a:effectLst/>
                        <a:latin typeface="Gill Sans MT" panose="020B0502020104020203" pitchFamily="34" charset="0"/>
                        <a:ea typeface="Malgun Gothic" panose="020B0503020000020004" pitchFamily="34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738975"/>
                  </a:ext>
                </a:extLst>
              </a:tr>
            </a:tbl>
          </a:graphicData>
        </a:graphic>
      </p:graphicFrame>
      <p:sp>
        <p:nvSpPr>
          <p:cNvPr id="20" name="TextBox 19">
            <a:extLst>
              <a:ext uri="{FF2B5EF4-FFF2-40B4-BE49-F238E27FC236}">
                <a16:creationId xmlns:a16="http://schemas.microsoft.com/office/drawing/2014/main" id="{92189F67-E796-49A4-9CE0-B0C8016EFD0D}"/>
              </a:ext>
            </a:extLst>
          </p:cNvPr>
          <p:cNvSpPr txBox="1"/>
          <p:nvPr/>
        </p:nvSpPr>
        <p:spPr>
          <a:xfrm>
            <a:off x="241268" y="3843990"/>
            <a:ext cx="3993505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25% data, LSTM is slightly better.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50% data, LSTM is still better.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100% data, Transformer Encoder is better.</a:t>
            </a:r>
          </a:p>
          <a:p>
            <a:endParaRPr lang="en-US" sz="1600" dirty="0"/>
          </a:p>
          <a:p>
            <a:r>
              <a:rPr lang="en-US" sz="1600" dirty="0"/>
              <a:t>LSTM is more stable in lower-data settings, while the Transformer Encoder benefits more from the full dataset. </a:t>
            </a:r>
          </a:p>
          <a:p>
            <a:r>
              <a:rPr lang="en-US" sz="1600" dirty="0"/>
              <a:t>However, the differences are modest, so the result should be described as a trend rather than universal proof from this result.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FF3A766-9F74-8CF2-F430-8EC3BD32B858}"/>
              </a:ext>
            </a:extLst>
          </p:cNvPr>
          <p:cNvSpPr txBox="1"/>
          <p:nvPr/>
        </p:nvSpPr>
        <p:spPr>
          <a:xfrm>
            <a:off x="4909227" y="3843990"/>
            <a:ext cx="3993505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285750" indent="-285750">
              <a:buFont typeface="Arial" panose="020B0604020202020204" pitchFamily="34" charset="0"/>
              <a:buChar char="•"/>
              <a:defRPr sz="1600"/>
            </a:lvl1pPr>
          </a:lstStyle>
          <a:p>
            <a:r>
              <a:rPr lang="en-US" dirty="0"/>
              <a:t>No improvement going from 128 to 256. Both models performed worse at 256 tokens.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Likely, AG News texts are short enough that 128 tokens already capture the useful signal.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Longer sequences increase computation and may introduce noisy or weakly useful tokens.</a:t>
            </a:r>
          </a:p>
        </p:txBody>
      </p:sp>
    </p:spTree>
    <p:extLst>
      <p:ext uri="{BB962C8B-B14F-4D97-AF65-F5344CB8AC3E}">
        <p14:creationId xmlns:p14="http://schemas.microsoft.com/office/powerpoint/2010/main" val="12380712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34401" y="182802"/>
            <a:ext cx="8050842" cy="3206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-10" dirty="0"/>
              <a:t>Failure Analysis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7"/>
          </p:nvPr>
        </p:nvSpPr>
        <p:spPr>
          <a:xfrm>
            <a:off x="5181600" y="6609807"/>
            <a:ext cx="3924873" cy="184666"/>
          </a:xfrm>
        </p:spPr>
        <p:txBody>
          <a:bodyPr/>
          <a:lstStyle/>
          <a:p>
            <a:pPr marL="3303904">
              <a:lnSpc>
                <a:spcPct val="100000"/>
              </a:lnSpc>
              <a:spcBef>
                <a:spcPts val="40"/>
              </a:spcBef>
            </a:pPr>
            <a:fld id="{81D60167-4931-47E6-BA6A-407CBD079E47}" type="slidenum">
              <a:rPr lang="en-US" spc="-50" smtClean="0"/>
              <a:t>11</a:t>
            </a:fld>
            <a:r>
              <a:rPr lang="en-US" spc="-50" dirty="0"/>
              <a:t> of 11</a:t>
            </a:r>
          </a:p>
        </p:txBody>
      </p:sp>
      <p:pic>
        <p:nvPicPr>
          <p:cNvPr id="5" name="Picture 4" descr="A blue and red logo&#10;&#10;AI-generated content may be incorrect.">
            <a:extLst>
              <a:ext uri="{FF2B5EF4-FFF2-40B4-BE49-F238E27FC236}">
                <a16:creationId xmlns:a16="http://schemas.microsoft.com/office/drawing/2014/main" id="{C0F089F8-38A5-65C8-BC32-7309A247FDD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58200" y="128016"/>
            <a:ext cx="444532" cy="308324"/>
          </a:xfrm>
          <a:prstGeom prst="rect">
            <a:avLst/>
          </a:prstGeom>
        </p:spPr>
      </p:pic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F2E872D6-BE6F-C6BB-1680-FA9F1DFBE2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7363211"/>
              </p:ext>
            </p:extLst>
          </p:nvPr>
        </p:nvGraphicFramePr>
        <p:xfrm>
          <a:off x="287833" y="674666"/>
          <a:ext cx="8614899" cy="3903920"/>
        </p:xfrm>
        <a:graphic>
          <a:graphicData uri="http://schemas.openxmlformats.org/drawingml/2006/table">
            <a:tbl>
              <a:tblPr firstRow="1" firstCol="1" bandRow="1"/>
              <a:tblGrid>
                <a:gridCol w="374562">
                  <a:extLst>
                    <a:ext uri="{9D8B030D-6E8A-4147-A177-3AD203B41FA5}">
                      <a16:colId xmlns:a16="http://schemas.microsoft.com/office/drawing/2014/main" val="1227718581"/>
                    </a:ext>
                  </a:extLst>
                </a:gridCol>
                <a:gridCol w="2172453">
                  <a:extLst>
                    <a:ext uri="{9D8B030D-6E8A-4147-A177-3AD203B41FA5}">
                      <a16:colId xmlns:a16="http://schemas.microsoft.com/office/drawing/2014/main" val="730428118"/>
                    </a:ext>
                  </a:extLst>
                </a:gridCol>
                <a:gridCol w="898946">
                  <a:extLst>
                    <a:ext uri="{9D8B030D-6E8A-4147-A177-3AD203B41FA5}">
                      <a16:colId xmlns:a16="http://schemas.microsoft.com/office/drawing/2014/main" val="3188494461"/>
                    </a:ext>
                  </a:extLst>
                </a:gridCol>
                <a:gridCol w="1048771">
                  <a:extLst>
                    <a:ext uri="{9D8B030D-6E8A-4147-A177-3AD203B41FA5}">
                      <a16:colId xmlns:a16="http://schemas.microsoft.com/office/drawing/2014/main" val="147341789"/>
                    </a:ext>
                  </a:extLst>
                </a:gridCol>
                <a:gridCol w="1123683">
                  <a:extLst>
                    <a:ext uri="{9D8B030D-6E8A-4147-A177-3AD203B41FA5}">
                      <a16:colId xmlns:a16="http://schemas.microsoft.com/office/drawing/2014/main" val="3823263364"/>
                    </a:ext>
                  </a:extLst>
                </a:gridCol>
                <a:gridCol w="2996484">
                  <a:extLst>
                    <a:ext uri="{9D8B030D-6E8A-4147-A177-3AD203B41FA5}">
                      <a16:colId xmlns:a16="http://schemas.microsoft.com/office/drawing/2014/main" val="3966337809"/>
                    </a:ext>
                  </a:extLst>
                </a:gridCol>
              </a:tblGrid>
              <a:tr h="16572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kern="1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Malgun Gothic" panose="020B0503020000020004" pitchFamily="34" charset="-127"/>
                          <a:cs typeface="Times New Roman" panose="02020603050405020304" pitchFamily="18" charset="0"/>
                        </a:rPr>
                        <a:t>#</a:t>
                      </a:r>
                      <a:endParaRPr lang="en-US" sz="1200" kern="100" dirty="0">
                        <a:effectLst/>
                        <a:latin typeface="Gill Sans MT" panose="020B0502020104020203" pitchFamily="34" charset="0"/>
                        <a:ea typeface="Malgun Gothic" panose="020B0503020000020004" pitchFamily="34" charset="-127"/>
                        <a:cs typeface="Times New Roman" panose="02020603050405020304" pitchFamily="18" charset="0"/>
                      </a:endParaRPr>
                    </a:p>
                  </a:txBody>
                  <a:tcPr marL="46643" marR="46643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kern="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Malgun Gothic" panose="020B0503020000020004" pitchFamily="34" charset="-127"/>
                          <a:cs typeface="Times New Roman" panose="02020603050405020304" pitchFamily="18" charset="0"/>
                        </a:rPr>
                        <a:t>Input excerpt</a:t>
                      </a:r>
                      <a:endParaRPr lang="en-US" sz="1200" kern="100">
                        <a:effectLst/>
                        <a:latin typeface="Gill Sans MT" panose="020B0502020104020203" pitchFamily="34" charset="0"/>
                        <a:ea typeface="Malgun Gothic" panose="020B0503020000020004" pitchFamily="34" charset="-127"/>
                        <a:cs typeface="Times New Roman" panose="02020603050405020304" pitchFamily="18" charset="0"/>
                      </a:endParaRPr>
                    </a:p>
                  </a:txBody>
                  <a:tcPr marL="46643" marR="46643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kern="1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Malgun Gothic" panose="020B0503020000020004" pitchFamily="34" charset="-127"/>
                          <a:cs typeface="Times New Roman" panose="02020603050405020304" pitchFamily="18" charset="0"/>
                        </a:rPr>
                        <a:t>True</a:t>
                      </a:r>
                      <a:endParaRPr lang="en-US" sz="1200" kern="100" dirty="0">
                        <a:effectLst/>
                        <a:latin typeface="Gill Sans MT" panose="020B0502020104020203" pitchFamily="34" charset="0"/>
                        <a:ea typeface="Malgun Gothic" panose="020B0503020000020004" pitchFamily="34" charset="-127"/>
                        <a:cs typeface="Times New Roman" panose="02020603050405020304" pitchFamily="18" charset="0"/>
                      </a:endParaRPr>
                    </a:p>
                  </a:txBody>
                  <a:tcPr marL="46643" marR="46643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kern="1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Malgun Gothic" panose="020B0503020000020004" pitchFamily="34" charset="-127"/>
                          <a:cs typeface="Times New Roman" panose="02020603050405020304" pitchFamily="18" charset="0"/>
                        </a:rPr>
                        <a:t>LSTM</a:t>
                      </a:r>
                      <a:endParaRPr lang="en-US" sz="1200" kern="100" dirty="0">
                        <a:effectLst/>
                        <a:latin typeface="Gill Sans MT" panose="020B0502020104020203" pitchFamily="34" charset="0"/>
                        <a:ea typeface="Malgun Gothic" panose="020B0503020000020004" pitchFamily="34" charset="-127"/>
                        <a:cs typeface="Times New Roman" panose="02020603050405020304" pitchFamily="18" charset="0"/>
                      </a:endParaRPr>
                    </a:p>
                  </a:txBody>
                  <a:tcPr marL="46643" marR="46643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kern="1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Malgun Gothic" panose="020B0503020000020004" pitchFamily="34" charset="-127"/>
                          <a:cs typeface="Times New Roman" panose="02020603050405020304" pitchFamily="18" charset="0"/>
                        </a:rPr>
                        <a:t>Transformer</a:t>
                      </a:r>
                      <a:endParaRPr lang="en-US" sz="1200" kern="100" dirty="0">
                        <a:effectLst/>
                        <a:latin typeface="Gill Sans MT" panose="020B0502020104020203" pitchFamily="34" charset="0"/>
                        <a:ea typeface="Malgun Gothic" panose="020B0503020000020004" pitchFamily="34" charset="-127"/>
                        <a:cs typeface="Times New Roman" panose="02020603050405020304" pitchFamily="18" charset="0"/>
                      </a:endParaRPr>
                    </a:p>
                  </a:txBody>
                  <a:tcPr marL="46643" marR="46643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kern="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Malgun Gothic" panose="020B0503020000020004" pitchFamily="34" charset="-127"/>
                          <a:cs typeface="Times New Roman" panose="02020603050405020304" pitchFamily="18" charset="0"/>
                        </a:rPr>
                        <a:t>Likely reason</a:t>
                      </a:r>
                      <a:endParaRPr lang="en-US" sz="1200" kern="100">
                        <a:effectLst/>
                        <a:latin typeface="Gill Sans MT" panose="020B0502020104020203" pitchFamily="34" charset="0"/>
                        <a:ea typeface="Malgun Gothic" panose="020B0503020000020004" pitchFamily="34" charset="-127"/>
                        <a:cs typeface="Times New Roman" panose="02020603050405020304" pitchFamily="18" charset="0"/>
                      </a:endParaRPr>
                    </a:p>
                  </a:txBody>
                  <a:tcPr marL="46643" marR="46643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9013392"/>
                  </a:ext>
                </a:extLst>
              </a:tr>
              <a:tr h="519255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kern="100">
                          <a:effectLst/>
                          <a:latin typeface="Calibri" panose="020F0502020204030204" pitchFamily="34" charset="0"/>
                          <a:ea typeface="Malgun Gothic" panose="020B0503020000020004" pitchFamily="34" charset="-127"/>
                          <a:cs typeface="Times New Roman" panose="02020603050405020304" pitchFamily="18" charset="0"/>
                        </a:rPr>
                        <a:t>1</a:t>
                      </a:r>
                      <a:endParaRPr lang="en-US" sz="1200" kern="100">
                        <a:effectLst/>
                        <a:latin typeface="Gill Sans MT" panose="020B0502020104020203" pitchFamily="34" charset="0"/>
                        <a:ea typeface="Malgun Gothic" panose="020B0503020000020004" pitchFamily="34" charset="-127"/>
                        <a:cs typeface="Times New Roman" panose="02020603050405020304" pitchFamily="18" charset="0"/>
                      </a:endParaRPr>
                    </a:p>
                  </a:txBody>
                  <a:tcPr marL="46643" marR="46643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kern="100" dirty="0">
                          <a:effectLst/>
                          <a:latin typeface="Calibri" panose="020F0502020204030204" pitchFamily="34" charset="0"/>
                          <a:ea typeface="Malgun Gothic" panose="020B0503020000020004" pitchFamily="34" charset="-127"/>
                          <a:cs typeface="Times New Roman" panose="02020603050405020304" pitchFamily="18" charset="0"/>
                        </a:rPr>
                        <a:t>Live: Olympics day four Richard Faulds and Stephen Parry are going </a:t>
                      </a:r>
                      <a:r>
                        <a:rPr lang="en-US" sz="1200" kern="100" dirty="0" err="1">
                          <a:effectLst/>
                          <a:latin typeface="Calibri" panose="020F0502020204030204" pitchFamily="34" charset="0"/>
                          <a:ea typeface="Malgun Gothic" panose="020B0503020000020004" pitchFamily="34" charset="-127"/>
                          <a:cs typeface="Times New Roman" panose="02020603050405020304" pitchFamily="18" charset="0"/>
                        </a:rPr>
                        <a:t>fo</a:t>
                      </a:r>
                      <a:r>
                        <a:rPr lang="en-US" sz="1200" kern="100" dirty="0">
                          <a:effectLst/>
                          <a:latin typeface="Calibri" panose="020F0502020204030204" pitchFamily="34" charset="0"/>
                          <a:ea typeface="Malgun Gothic" panose="020B0503020000020004" pitchFamily="34" charset="-127"/>
                          <a:cs typeface="Times New Roman" panose="02020603050405020304" pitchFamily="18" charset="0"/>
                        </a:rPr>
                        <a:t>...</a:t>
                      </a:r>
                      <a:endParaRPr lang="en-US" sz="1200" kern="100" dirty="0">
                        <a:effectLst/>
                        <a:latin typeface="Gill Sans MT" panose="020B0502020104020203" pitchFamily="34" charset="0"/>
                        <a:ea typeface="Malgun Gothic" panose="020B0503020000020004" pitchFamily="34" charset="-127"/>
                        <a:cs typeface="Times New Roman" panose="02020603050405020304" pitchFamily="18" charset="0"/>
                      </a:endParaRPr>
                    </a:p>
                  </a:txBody>
                  <a:tcPr marL="46643" marR="46643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kern="100" dirty="0">
                          <a:effectLst/>
                          <a:latin typeface="Calibri" panose="020F0502020204030204" pitchFamily="34" charset="0"/>
                          <a:ea typeface="Malgun Gothic" panose="020B0503020000020004" pitchFamily="34" charset="-127"/>
                          <a:cs typeface="Times New Roman" panose="02020603050405020304" pitchFamily="18" charset="0"/>
                        </a:rPr>
                        <a:t>World</a:t>
                      </a:r>
                      <a:endParaRPr lang="en-US" sz="1200" kern="100" dirty="0">
                        <a:effectLst/>
                        <a:latin typeface="Gill Sans MT" panose="020B0502020104020203" pitchFamily="34" charset="0"/>
                        <a:ea typeface="Malgun Gothic" panose="020B0503020000020004" pitchFamily="34" charset="-127"/>
                        <a:cs typeface="Times New Roman" panose="02020603050405020304" pitchFamily="18" charset="0"/>
                      </a:endParaRPr>
                    </a:p>
                  </a:txBody>
                  <a:tcPr marL="46643" marR="46643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kern="100">
                          <a:effectLst/>
                          <a:latin typeface="Calibri" panose="020F0502020204030204" pitchFamily="34" charset="0"/>
                          <a:ea typeface="Malgun Gothic" panose="020B0503020000020004" pitchFamily="34" charset="-127"/>
                          <a:cs typeface="Times New Roman" panose="02020603050405020304" pitchFamily="18" charset="0"/>
                        </a:rPr>
                        <a:t>Sports</a:t>
                      </a:r>
                      <a:endParaRPr lang="en-US" sz="1200" kern="100">
                        <a:effectLst/>
                        <a:latin typeface="Gill Sans MT" panose="020B0502020104020203" pitchFamily="34" charset="0"/>
                        <a:ea typeface="Malgun Gothic" panose="020B0503020000020004" pitchFamily="34" charset="-127"/>
                        <a:cs typeface="Times New Roman" panose="02020603050405020304" pitchFamily="18" charset="0"/>
                      </a:endParaRPr>
                    </a:p>
                  </a:txBody>
                  <a:tcPr marL="46643" marR="46643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kern="100" dirty="0">
                          <a:effectLst/>
                          <a:latin typeface="Calibri" panose="020F0502020204030204" pitchFamily="34" charset="0"/>
                          <a:ea typeface="Malgun Gothic" panose="020B0503020000020004" pitchFamily="34" charset="-127"/>
                          <a:cs typeface="Times New Roman" panose="02020603050405020304" pitchFamily="18" charset="0"/>
                        </a:rPr>
                        <a:t>Sports</a:t>
                      </a:r>
                      <a:endParaRPr lang="en-US" sz="1200" kern="100" dirty="0">
                        <a:effectLst/>
                        <a:latin typeface="Gill Sans MT" panose="020B0502020104020203" pitchFamily="34" charset="0"/>
                        <a:ea typeface="Malgun Gothic" panose="020B0503020000020004" pitchFamily="34" charset="-127"/>
                        <a:cs typeface="Times New Roman" panose="02020603050405020304" pitchFamily="18" charset="0"/>
                      </a:endParaRPr>
                    </a:p>
                  </a:txBody>
                  <a:tcPr marL="46643" marR="46643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kern="100" dirty="0">
                          <a:effectLst/>
                          <a:latin typeface="Calibri" panose="020F0502020204030204" pitchFamily="34" charset="0"/>
                          <a:ea typeface="Malgun Gothic" panose="020B0503020000020004" pitchFamily="34" charset="-127"/>
                          <a:cs typeface="Times New Roman" panose="02020603050405020304" pitchFamily="18" charset="0"/>
                        </a:rPr>
                        <a:t>Sports terms dominate the short text even though the dataset section is World.</a:t>
                      </a:r>
                      <a:endParaRPr lang="en-US" sz="1200" kern="100" dirty="0">
                        <a:effectLst/>
                        <a:latin typeface="Gill Sans MT" panose="020B0502020104020203" pitchFamily="34" charset="0"/>
                        <a:ea typeface="Malgun Gothic" panose="020B0503020000020004" pitchFamily="34" charset="-127"/>
                        <a:cs typeface="Times New Roman" panose="02020603050405020304" pitchFamily="18" charset="0"/>
                      </a:endParaRPr>
                    </a:p>
                  </a:txBody>
                  <a:tcPr marL="46643" marR="46643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61821302"/>
                  </a:ext>
                </a:extLst>
              </a:tr>
              <a:tr h="519255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kern="100">
                          <a:effectLst/>
                          <a:latin typeface="Calibri" panose="020F0502020204030204" pitchFamily="34" charset="0"/>
                          <a:ea typeface="Malgun Gothic" panose="020B0503020000020004" pitchFamily="34" charset="-127"/>
                          <a:cs typeface="Times New Roman" panose="02020603050405020304" pitchFamily="18" charset="0"/>
                        </a:rPr>
                        <a:t>2</a:t>
                      </a:r>
                      <a:endParaRPr lang="en-US" sz="1200" kern="100">
                        <a:effectLst/>
                        <a:latin typeface="Gill Sans MT" panose="020B0502020104020203" pitchFamily="34" charset="0"/>
                        <a:ea typeface="Malgun Gothic" panose="020B0503020000020004" pitchFamily="34" charset="-127"/>
                        <a:cs typeface="Times New Roman" panose="02020603050405020304" pitchFamily="18" charset="0"/>
                      </a:endParaRPr>
                    </a:p>
                  </a:txBody>
                  <a:tcPr marL="46643" marR="46643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kern="100" dirty="0">
                          <a:effectLst/>
                          <a:latin typeface="Calibri" panose="020F0502020204030204" pitchFamily="34" charset="0"/>
                          <a:ea typeface="Malgun Gothic" panose="020B0503020000020004" pitchFamily="34" charset="-127"/>
                          <a:cs typeface="Times New Roman" panose="02020603050405020304" pitchFamily="18" charset="0"/>
                        </a:rPr>
                        <a:t>Intel to delay product aimed for high-definition TVs SAN FRANCISCO --...</a:t>
                      </a:r>
                      <a:endParaRPr lang="en-US" sz="1200" kern="100" dirty="0">
                        <a:effectLst/>
                        <a:latin typeface="Gill Sans MT" panose="020B0502020104020203" pitchFamily="34" charset="0"/>
                        <a:ea typeface="Malgun Gothic" panose="020B0503020000020004" pitchFamily="34" charset="-127"/>
                        <a:cs typeface="Times New Roman" panose="02020603050405020304" pitchFamily="18" charset="0"/>
                      </a:endParaRPr>
                    </a:p>
                  </a:txBody>
                  <a:tcPr marL="46643" marR="46643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kern="100">
                          <a:effectLst/>
                          <a:latin typeface="Calibri" panose="020F0502020204030204" pitchFamily="34" charset="0"/>
                          <a:ea typeface="Malgun Gothic" panose="020B0503020000020004" pitchFamily="34" charset="-127"/>
                          <a:cs typeface="Times New Roman" panose="02020603050405020304" pitchFamily="18" charset="0"/>
                        </a:rPr>
                        <a:t>Business</a:t>
                      </a:r>
                      <a:endParaRPr lang="en-US" sz="1200" kern="100">
                        <a:effectLst/>
                        <a:latin typeface="Gill Sans MT" panose="020B0502020104020203" pitchFamily="34" charset="0"/>
                        <a:ea typeface="Malgun Gothic" panose="020B0503020000020004" pitchFamily="34" charset="-127"/>
                        <a:cs typeface="Times New Roman" panose="02020603050405020304" pitchFamily="18" charset="0"/>
                      </a:endParaRPr>
                    </a:p>
                  </a:txBody>
                  <a:tcPr marL="46643" marR="46643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kern="100">
                          <a:effectLst/>
                          <a:latin typeface="Calibri" panose="020F0502020204030204" pitchFamily="34" charset="0"/>
                          <a:ea typeface="Malgun Gothic" panose="020B0503020000020004" pitchFamily="34" charset="-127"/>
                          <a:cs typeface="Times New Roman" panose="02020603050405020304" pitchFamily="18" charset="0"/>
                        </a:rPr>
                        <a:t>Sci/Tech</a:t>
                      </a:r>
                      <a:endParaRPr lang="en-US" sz="1200" kern="100">
                        <a:effectLst/>
                        <a:latin typeface="Gill Sans MT" panose="020B0502020104020203" pitchFamily="34" charset="0"/>
                        <a:ea typeface="Malgun Gothic" panose="020B0503020000020004" pitchFamily="34" charset="-127"/>
                        <a:cs typeface="Times New Roman" panose="02020603050405020304" pitchFamily="18" charset="0"/>
                      </a:endParaRPr>
                    </a:p>
                  </a:txBody>
                  <a:tcPr marL="46643" marR="46643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kern="100">
                          <a:effectLst/>
                          <a:latin typeface="Calibri" panose="020F0502020204030204" pitchFamily="34" charset="0"/>
                          <a:ea typeface="Malgun Gothic" panose="020B0503020000020004" pitchFamily="34" charset="-127"/>
                          <a:cs typeface="Times New Roman" panose="02020603050405020304" pitchFamily="18" charset="0"/>
                        </a:rPr>
                        <a:t>Sci/Tech</a:t>
                      </a:r>
                      <a:endParaRPr lang="en-US" sz="1200" kern="100">
                        <a:effectLst/>
                        <a:latin typeface="Gill Sans MT" panose="020B0502020104020203" pitchFamily="34" charset="0"/>
                        <a:ea typeface="Malgun Gothic" panose="020B0503020000020004" pitchFamily="34" charset="-127"/>
                        <a:cs typeface="Times New Roman" panose="02020603050405020304" pitchFamily="18" charset="0"/>
                      </a:endParaRPr>
                    </a:p>
                  </a:txBody>
                  <a:tcPr marL="46643" marR="46643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kern="100" dirty="0">
                          <a:effectLst/>
                          <a:latin typeface="Calibri" panose="020F0502020204030204" pitchFamily="34" charset="0"/>
                          <a:ea typeface="Malgun Gothic" panose="020B0503020000020004" pitchFamily="34" charset="-127"/>
                          <a:cs typeface="Times New Roman" panose="02020603050405020304" pitchFamily="18" charset="0"/>
                        </a:rPr>
                        <a:t>A technology company story overlaps Business and Sci/Tech vocabulary.</a:t>
                      </a:r>
                      <a:endParaRPr lang="en-US" sz="1200" kern="100" dirty="0">
                        <a:effectLst/>
                        <a:latin typeface="Gill Sans MT" panose="020B0502020104020203" pitchFamily="34" charset="0"/>
                        <a:ea typeface="Malgun Gothic" panose="020B0503020000020004" pitchFamily="34" charset="-127"/>
                        <a:cs typeface="Times New Roman" panose="02020603050405020304" pitchFamily="18" charset="0"/>
                      </a:endParaRPr>
                    </a:p>
                  </a:txBody>
                  <a:tcPr marL="46643" marR="46643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30914092"/>
                  </a:ext>
                </a:extLst>
              </a:tr>
              <a:tr h="519255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kern="100">
                          <a:effectLst/>
                          <a:latin typeface="Calibri" panose="020F0502020204030204" pitchFamily="34" charset="0"/>
                          <a:ea typeface="Malgun Gothic" panose="020B0503020000020004" pitchFamily="34" charset="-127"/>
                          <a:cs typeface="Times New Roman" panose="02020603050405020304" pitchFamily="18" charset="0"/>
                        </a:rPr>
                        <a:t>3</a:t>
                      </a:r>
                      <a:endParaRPr lang="en-US" sz="1200" kern="100">
                        <a:effectLst/>
                        <a:latin typeface="Gill Sans MT" panose="020B0502020104020203" pitchFamily="34" charset="0"/>
                        <a:ea typeface="Malgun Gothic" panose="020B0503020000020004" pitchFamily="34" charset="-127"/>
                        <a:cs typeface="Times New Roman" panose="02020603050405020304" pitchFamily="18" charset="0"/>
                      </a:endParaRPr>
                    </a:p>
                  </a:txBody>
                  <a:tcPr marL="46643" marR="46643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kern="100" dirty="0">
                          <a:effectLst/>
                          <a:latin typeface="Calibri" panose="020F0502020204030204" pitchFamily="34" charset="0"/>
                          <a:ea typeface="Malgun Gothic" panose="020B0503020000020004" pitchFamily="34" charset="-127"/>
                          <a:cs typeface="Times New Roman" panose="02020603050405020304" pitchFamily="18" charset="0"/>
                        </a:rPr>
                        <a:t>Prediction Unit Helps Forecast Wildfires (AP) AP - It's barely dawn w...</a:t>
                      </a:r>
                      <a:endParaRPr lang="en-US" sz="1200" kern="100" dirty="0">
                        <a:effectLst/>
                        <a:latin typeface="Gill Sans MT" panose="020B0502020104020203" pitchFamily="34" charset="0"/>
                        <a:ea typeface="Malgun Gothic" panose="020B0503020000020004" pitchFamily="34" charset="-127"/>
                        <a:cs typeface="Times New Roman" panose="02020603050405020304" pitchFamily="18" charset="0"/>
                      </a:endParaRPr>
                    </a:p>
                  </a:txBody>
                  <a:tcPr marL="46643" marR="46643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kern="100">
                          <a:effectLst/>
                          <a:latin typeface="Calibri" panose="020F0502020204030204" pitchFamily="34" charset="0"/>
                          <a:ea typeface="Malgun Gothic" panose="020B0503020000020004" pitchFamily="34" charset="-127"/>
                          <a:cs typeface="Times New Roman" panose="02020603050405020304" pitchFamily="18" charset="0"/>
                        </a:rPr>
                        <a:t>Sci/Tech</a:t>
                      </a:r>
                      <a:endParaRPr lang="en-US" sz="1200" kern="100">
                        <a:effectLst/>
                        <a:latin typeface="Gill Sans MT" panose="020B0502020104020203" pitchFamily="34" charset="0"/>
                        <a:ea typeface="Malgun Gothic" panose="020B0503020000020004" pitchFamily="34" charset="-127"/>
                        <a:cs typeface="Times New Roman" panose="02020603050405020304" pitchFamily="18" charset="0"/>
                      </a:endParaRPr>
                    </a:p>
                  </a:txBody>
                  <a:tcPr marL="46643" marR="46643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kern="100">
                          <a:effectLst/>
                          <a:latin typeface="Calibri" panose="020F0502020204030204" pitchFamily="34" charset="0"/>
                          <a:ea typeface="Malgun Gothic" panose="020B0503020000020004" pitchFamily="34" charset="-127"/>
                          <a:cs typeface="Times New Roman" panose="02020603050405020304" pitchFamily="18" charset="0"/>
                        </a:rPr>
                        <a:t>World</a:t>
                      </a:r>
                      <a:endParaRPr lang="en-US" sz="1200" kern="100">
                        <a:effectLst/>
                        <a:latin typeface="Gill Sans MT" panose="020B0502020104020203" pitchFamily="34" charset="0"/>
                        <a:ea typeface="Malgun Gothic" panose="020B0503020000020004" pitchFamily="34" charset="-127"/>
                        <a:cs typeface="Times New Roman" panose="02020603050405020304" pitchFamily="18" charset="0"/>
                      </a:endParaRPr>
                    </a:p>
                  </a:txBody>
                  <a:tcPr marL="46643" marR="46643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kern="100" dirty="0">
                          <a:effectLst/>
                          <a:latin typeface="Calibri" panose="020F0502020204030204" pitchFamily="34" charset="0"/>
                          <a:ea typeface="Malgun Gothic" panose="020B0503020000020004" pitchFamily="34" charset="-127"/>
                          <a:cs typeface="Times New Roman" panose="02020603050405020304" pitchFamily="18" charset="0"/>
                        </a:rPr>
                        <a:t>Sci/Tech</a:t>
                      </a:r>
                      <a:endParaRPr lang="en-US" sz="1200" kern="100" dirty="0">
                        <a:effectLst/>
                        <a:latin typeface="Gill Sans MT" panose="020B0502020104020203" pitchFamily="34" charset="0"/>
                        <a:ea typeface="Malgun Gothic" panose="020B0503020000020004" pitchFamily="34" charset="-127"/>
                        <a:cs typeface="Times New Roman" panose="02020603050405020304" pitchFamily="18" charset="0"/>
                      </a:endParaRPr>
                    </a:p>
                  </a:txBody>
                  <a:tcPr marL="46643" marR="46643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kern="100">
                          <a:effectLst/>
                          <a:latin typeface="Calibri" panose="020F0502020204030204" pitchFamily="34" charset="0"/>
                          <a:ea typeface="Malgun Gothic" panose="020B0503020000020004" pitchFamily="34" charset="-127"/>
                          <a:cs typeface="Times New Roman" panose="02020603050405020304" pitchFamily="18" charset="0"/>
                        </a:rPr>
                        <a:t>Weather prediction language mixes science terms with world-event framing.</a:t>
                      </a:r>
                      <a:endParaRPr lang="en-US" sz="1200" kern="100">
                        <a:effectLst/>
                        <a:latin typeface="Gill Sans MT" panose="020B0502020104020203" pitchFamily="34" charset="0"/>
                        <a:ea typeface="Malgun Gothic" panose="020B0503020000020004" pitchFamily="34" charset="-127"/>
                        <a:cs typeface="Times New Roman" panose="02020603050405020304" pitchFamily="18" charset="0"/>
                      </a:endParaRPr>
                    </a:p>
                  </a:txBody>
                  <a:tcPr marL="46643" marR="46643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6451134"/>
                  </a:ext>
                </a:extLst>
              </a:tr>
              <a:tr h="519255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kern="100">
                          <a:effectLst/>
                          <a:latin typeface="Calibri" panose="020F0502020204030204" pitchFamily="34" charset="0"/>
                          <a:ea typeface="Malgun Gothic" panose="020B0503020000020004" pitchFamily="34" charset="-127"/>
                          <a:cs typeface="Times New Roman" panose="02020603050405020304" pitchFamily="18" charset="0"/>
                        </a:rPr>
                        <a:t>4</a:t>
                      </a:r>
                      <a:endParaRPr lang="en-US" sz="1200" kern="100">
                        <a:effectLst/>
                        <a:latin typeface="Gill Sans MT" panose="020B0502020104020203" pitchFamily="34" charset="0"/>
                        <a:ea typeface="Malgun Gothic" panose="020B0503020000020004" pitchFamily="34" charset="-127"/>
                        <a:cs typeface="Times New Roman" panose="02020603050405020304" pitchFamily="18" charset="0"/>
                      </a:endParaRPr>
                    </a:p>
                  </a:txBody>
                  <a:tcPr marL="46643" marR="46643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kern="100">
                          <a:effectLst/>
                          <a:latin typeface="Calibri" panose="020F0502020204030204" pitchFamily="34" charset="0"/>
                          <a:ea typeface="Malgun Gothic" panose="020B0503020000020004" pitchFamily="34" charset="-127"/>
                          <a:cs typeface="Times New Roman" panose="02020603050405020304" pitchFamily="18" charset="0"/>
                        </a:rPr>
                        <a:t>Some People Not Eligible to Get in on Google IPO Google has billed it...</a:t>
                      </a:r>
                      <a:endParaRPr lang="en-US" sz="1200" kern="100">
                        <a:effectLst/>
                        <a:latin typeface="Gill Sans MT" panose="020B0502020104020203" pitchFamily="34" charset="0"/>
                        <a:ea typeface="Malgun Gothic" panose="020B0503020000020004" pitchFamily="34" charset="-127"/>
                        <a:cs typeface="Times New Roman" panose="02020603050405020304" pitchFamily="18" charset="0"/>
                      </a:endParaRPr>
                    </a:p>
                  </a:txBody>
                  <a:tcPr marL="46643" marR="46643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kern="100">
                          <a:effectLst/>
                          <a:latin typeface="Calibri" panose="020F0502020204030204" pitchFamily="34" charset="0"/>
                          <a:ea typeface="Malgun Gothic" panose="020B0503020000020004" pitchFamily="34" charset="-127"/>
                          <a:cs typeface="Times New Roman" panose="02020603050405020304" pitchFamily="18" charset="0"/>
                        </a:rPr>
                        <a:t>Sci/Tech</a:t>
                      </a:r>
                      <a:endParaRPr lang="en-US" sz="1200" kern="100">
                        <a:effectLst/>
                        <a:latin typeface="Gill Sans MT" panose="020B0502020104020203" pitchFamily="34" charset="0"/>
                        <a:ea typeface="Malgun Gothic" panose="020B0503020000020004" pitchFamily="34" charset="-127"/>
                        <a:cs typeface="Times New Roman" panose="02020603050405020304" pitchFamily="18" charset="0"/>
                      </a:endParaRPr>
                    </a:p>
                  </a:txBody>
                  <a:tcPr marL="46643" marR="46643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kern="100">
                          <a:effectLst/>
                          <a:latin typeface="Calibri" panose="020F0502020204030204" pitchFamily="34" charset="0"/>
                          <a:ea typeface="Malgun Gothic" panose="020B0503020000020004" pitchFamily="34" charset="-127"/>
                          <a:cs typeface="Times New Roman" panose="02020603050405020304" pitchFamily="18" charset="0"/>
                        </a:rPr>
                        <a:t>Business</a:t>
                      </a:r>
                      <a:endParaRPr lang="en-US" sz="1200" kern="100">
                        <a:effectLst/>
                        <a:latin typeface="Gill Sans MT" panose="020B0502020104020203" pitchFamily="34" charset="0"/>
                        <a:ea typeface="Malgun Gothic" panose="020B0503020000020004" pitchFamily="34" charset="-127"/>
                        <a:cs typeface="Times New Roman" panose="02020603050405020304" pitchFamily="18" charset="0"/>
                      </a:endParaRPr>
                    </a:p>
                  </a:txBody>
                  <a:tcPr marL="46643" marR="46643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kern="100" dirty="0">
                          <a:effectLst/>
                          <a:latin typeface="Calibri" panose="020F0502020204030204" pitchFamily="34" charset="0"/>
                          <a:ea typeface="Malgun Gothic" panose="020B0503020000020004" pitchFamily="34" charset="-127"/>
                          <a:cs typeface="Times New Roman" panose="02020603050405020304" pitchFamily="18" charset="0"/>
                        </a:rPr>
                        <a:t>Sci/Tech</a:t>
                      </a:r>
                      <a:endParaRPr lang="en-US" sz="1200" kern="100" dirty="0">
                        <a:effectLst/>
                        <a:latin typeface="Gill Sans MT" panose="020B0502020104020203" pitchFamily="34" charset="0"/>
                        <a:ea typeface="Malgun Gothic" panose="020B0503020000020004" pitchFamily="34" charset="-127"/>
                        <a:cs typeface="Times New Roman" panose="02020603050405020304" pitchFamily="18" charset="0"/>
                      </a:endParaRPr>
                    </a:p>
                  </a:txBody>
                  <a:tcPr marL="46643" marR="46643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kern="100">
                          <a:effectLst/>
                          <a:latin typeface="Calibri" panose="020F0502020204030204" pitchFamily="34" charset="0"/>
                          <a:ea typeface="Malgun Gothic" panose="020B0503020000020004" pitchFamily="34" charset="-127"/>
                          <a:cs typeface="Times New Roman" panose="02020603050405020304" pitchFamily="18" charset="0"/>
                        </a:rPr>
                        <a:t>Finance and technology cues conflict; the IPO framing points toward Business.</a:t>
                      </a:r>
                      <a:endParaRPr lang="en-US" sz="1200" kern="100">
                        <a:effectLst/>
                        <a:latin typeface="Gill Sans MT" panose="020B0502020104020203" pitchFamily="34" charset="0"/>
                        <a:ea typeface="Malgun Gothic" panose="020B0503020000020004" pitchFamily="34" charset="-127"/>
                        <a:cs typeface="Times New Roman" panose="02020603050405020304" pitchFamily="18" charset="0"/>
                      </a:endParaRPr>
                    </a:p>
                  </a:txBody>
                  <a:tcPr marL="46643" marR="46643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99797075"/>
                  </a:ext>
                </a:extLst>
              </a:tr>
              <a:tr h="519255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kern="100">
                          <a:effectLst/>
                          <a:latin typeface="Calibri" panose="020F0502020204030204" pitchFamily="34" charset="0"/>
                          <a:ea typeface="Malgun Gothic" panose="020B0503020000020004" pitchFamily="34" charset="-127"/>
                          <a:cs typeface="Times New Roman" panose="02020603050405020304" pitchFamily="18" charset="0"/>
                        </a:rPr>
                        <a:t>5</a:t>
                      </a:r>
                      <a:endParaRPr lang="en-US" sz="1200" kern="100">
                        <a:effectLst/>
                        <a:latin typeface="Gill Sans MT" panose="020B0502020104020203" pitchFamily="34" charset="0"/>
                        <a:ea typeface="Malgun Gothic" panose="020B0503020000020004" pitchFamily="34" charset="-127"/>
                        <a:cs typeface="Times New Roman" panose="02020603050405020304" pitchFamily="18" charset="0"/>
                      </a:endParaRPr>
                    </a:p>
                  </a:txBody>
                  <a:tcPr marL="46643" marR="46643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kern="100">
                          <a:effectLst/>
                          <a:latin typeface="Calibri" panose="020F0502020204030204" pitchFamily="34" charset="0"/>
                          <a:ea typeface="Malgun Gothic" panose="020B0503020000020004" pitchFamily="34" charset="-127"/>
                          <a:cs typeface="Times New Roman" panose="02020603050405020304" pitchFamily="18" charset="0"/>
                        </a:rPr>
                        <a:t>Teenage T. rex's monster growth Tyrannosaurus rex achieved its massiv...</a:t>
                      </a:r>
                      <a:endParaRPr lang="en-US" sz="1200" kern="100">
                        <a:effectLst/>
                        <a:latin typeface="Gill Sans MT" panose="020B0502020104020203" pitchFamily="34" charset="0"/>
                        <a:ea typeface="Malgun Gothic" panose="020B0503020000020004" pitchFamily="34" charset="-127"/>
                        <a:cs typeface="Times New Roman" panose="02020603050405020304" pitchFamily="18" charset="0"/>
                      </a:endParaRPr>
                    </a:p>
                  </a:txBody>
                  <a:tcPr marL="46643" marR="46643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kern="100">
                          <a:effectLst/>
                          <a:latin typeface="Calibri" panose="020F0502020204030204" pitchFamily="34" charset="0"/>
                          <a:ea typeface="Malgun Gothic" panose="020B0503020000020004" pitchFamily="34" charset="-127"/>
                          <a:cs typeface="Times New Roman" panose="02020603050405020304" pitchFamily="18" charset="0"/>
                        </a:rPr>
                        <a:t>Sci/Tech</a:t>
                      </a:r>
                      <a:endParaRPr lang="en-US" sz="1200" kern="100">
                        <a:effectLst/>
                        <a:latin typeface="Gill Sans MT" panose="020B0502020104020203" pitchFamily="34" charset="0"/>
                        <a:ea typeface="Malgun Gothic" panose="020B0503020000020004" pitchFamily="34" charset="-127"/>
                        <a:cs typeface="Times New Roman" panose="02020603050405020304" pitchFamily="18" charset="0"/>
                      </a:endParaRPr>
                    </a:p>
                  </a:txBody>
                  <a:tcPr marL="46643" marR="46643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kern="100" dirty="0">
                          <a:effectLst/>
                          <a:latin typeface="Calibri" panose="020F0502020204030204" pitchFamily="34" charset="0"/>
                          <a:ea typeface="Malgun Gothic" panose="020B0503020000020004" pitchFamily="34" charset="-127"/>
                          <a:cs typeface="Times New Roman" panose="02020603050405020304" pitchFamily="18" charset="0"/>
                        </a:rPr>
                        <a:t>Sci/Tech</a:t>
                      </a:r>
                      <a:endParaRPr lang="en-US" sz="1200" kern="100" dirty="0">
                        <a:effectLst/>
                        <a:latin typeface="Gill Sans MT" panose="020B0502020104020203" pitchFamily="34" charset="0"/>
                        <a:ea typeface="Malgun Gothic" panose="020B0503020000020004" pitchFamily="34" charset="-127"/>
                        <a:cs typeface="Times New Roman" panose="02020603050405020304" pitchFamily="18" charset="0"/>
                      </a:endParaRPr>
                    </a:p>
                  </a:txBody>
                  <a:tcPr marL="46643" marR="46643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kern="100">
                          <a:effectLst/>
                          <a:latin typeface="Calibri" panose="020F0502020204030204" pitchFamily="34" charset="0"/>
                          <a:ea typeface="Malgun Gothic" panose="020B0503020000020004" pitchFamily="34" charset="-127"/>
                          <a:cs typeface="Times New Roman" panose="02020603050405020304" pitchFamily="18" charset="0"/>
                        </a:rPr>
                        <a:t>Business</a:t>
                      </a:r>
                      <a:endParaRPr lang="en-US" sz="1200" kern="100">
                        <a:effectLst/>
                        <a:latin typeface="Gill Sans MT" panose="020B0502020104020203" pitchFamily="34" charset="0"/>
                        <a:ea typeface="Malgun Gothic" panose="020B0503020000020004" pitchFamily="34" charset="-127"/>
                        <a:cs typeface="Times New Roman" panose="02020603050405020304" pitchFamily="18" charset="0"/>
                      </a:endParaRPr>
                    </a:p>
                  </a:txBody>
                  <a:tcPr marL="46643" marR="46643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kern="100" dirty="0">
                          <a:effectLst/>
                          <a:latin typeface="Calibri" panose="020F0502020204030204" pitchFamily="34" charset="0"/>
                          <a:ea typeface="Malgun Gothic" panose="020B0503020000020004" pitchFamily="34" charset="-127"/>
                          <a:cs typeface="Times New Roman" panose="02020603050405020304" pitchFamily="18" charset="0"/>
                        </a:rPr>
                        <a:t>Very short science item gives limited context; the Transformer overweighs business-like wording.</a:t>
                      </a:r>
                      <a:endParaRPr lang="en-US" sz="1200" kern="100" dirty="0">
                        <a:effectLst/>
                        <a:latin typeface="Gill Sans MT" panose="020B0502020104020203" pitchFamily="34" charset="0"/>
                        <a:ea typeface="Malgun Gothic" panose="020B0503020000020004" pitchFamily="34" charset="-127"/>
                        <a:cs typeface="Times New Roman" panose="02020603050405020304" pitchFamily="18" charset="0"/>
                      </a:endParaRPr>
                    </a:p>
                  </a:txBody>
                  <a:tcPr marL="46643" marR="46643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997194"/>
                  </a:ext>
                </a:extLst>
              </a:tr>
              <a:tr h="519255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kern="100" dirty="0">
                          <a:effectLst/>
                          <a:latin typeface="Calibri" panose="020F0502020204030204" pitchFamily="34" charset="0"/>
                          <a:ea typeface="Malgun Gothic" panose="020B0503020000020004" pitchFamily="34" charset="-127"/>
                          <a:cs typeface="Times New Roman" panose="02020603050405020304" pitchFamily="18" charset="0"/>
                        </a:rPr>
                        <a:t>6</a:t>
                      </a:r>
                      <a:endParaRPr lang="en-US" sz="1200" kern="100" dirty="0">
                        <a:effectLst/>
                        <a:latin typeface="Gill Sans MT" panose="020B0502020104020203" pitchFamily="34" charset="0"/>
                        <a:ea typeface="Malgun Gothic" panose="020B0503020000020004" pitchFamily="34" charset="-127"/>
                        <a:cs typeface="Times New Roman" panose="02020603050405020304" pitchFamily="18" charset="0"/>
                      </a:endParaRPr>
                    </a:p>
                  </a:txBody>
                  <a:tcPr marL="46643" marR="46643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kern="100">
                          <a:effectLst/>
                          <a:latin typeface="Calibri" panose="020F0502020204030204" pitchFamily="34" charset="0"/>
                          <a:ea typeface="Malgun Gothic" panose="020B0503020000020004" pitchFamily="34" charset="-127"/>
                          <a:cs typeface="Times New Roman" panose="02020603050405020304" pitchFamily="18" charset="0"/>
                        </a:rPr>
                        <a:t>IBM to hire even more new workers By the end of the year, the computi...</a:t>
                      </a:r>
                      <a:endParaRPr lang="en-US" sz="1200" kern="100">
                        <a:effectLst/>
                        <a:latin typeface="Gill Sans MT" panose="020B0502020104020203" pitchFamily="34" charset="0"/>
                        <a:ea typeface="Malgun Gothic" panose="020B0503020000020004" pitchFamily="34" charset="-127"/>
                        <a:cs typeface="Times New Roman" panose="02020603050405020304" pitchFamily="18" charset="0"/>
                      </a:endParaRPr>
                    </a:p>
                  </a:txBody>
                  <a:tcPr marL="46643" marR="46643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kern="100">
                          <a:effectLst/>
                          <a:latin typeface="Calibri" panose="020F0502020204030204" pitchFamily="34" charset="0"/>
                          <a:ea typeface="Malgun Gothic" panose="020B0503020000020004" pitchFamily="34" charset="-127"/>
                          <a:cs typeface="Times New Roman" panose="02020603050405020304" pitchFamily="18" charset="0"/>
                        </a:rPr>
                        <a:t>Sci/Tech</a:t>
                      </a:r>
                      <a:endParaRPr lang="en-US" sz="1200" kern="100">
                        <a:effectLst/>
                        <a:latin typeface="Gill Sans MT" panose="020B0502020104020203" pitchFamily="34" charset="0"/>
                        <a:ea typeface="Malgun Gothic" panose="020B0503020000020004" pitchFamily="34" charset="-127"/>
                        <a:cs typeface="Times New Roman" panose="02020603050405020304" pitchFamily="18" charset="0"/>
                      </a:endParaRPr>
                    </a:p>
                  </a:txBody>
                  <a:tcPr marL="46643" marR="46643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kern="100" dirty="0">
                          <a:effectLst/>
                          <a:latin typeface="Calibri" panose="020F0502020204030204" pitchFamily="34" charset="0"/>
                          <a:ea typeface="Malgun Gothic" panose="020B0503020000020004" pitchFamily="34" charset="-127"/>
                          <a:cs typeface="Times New Roman" panose="02020603050405020304" pitchFamily="18" charset="0"/>
                        </a:rPr>
                        <a:t>Sci/Tech</a:t>
                      </a:r>
                      <a:endParaRPr lang="en-US" sz="1200" kern="100" dirty="0">
                        <a:effectLst/>
                        <a:latin typeface="Gill Sans MT" panose="020B0502020104020203" pitchFamily="34" charset="0"/>
                        <a:ea typeface="Malgun Gothic" panose="020B0503020000020004" pitchFamily="34" charset="-127"/>
                        <a:cs typeface="Times New Roman" panose="02020603050405020304" pitchFamily="18" charset="0"/>
                      </a:endParaRPr>
                    </a:p>
                  </a:txBody>
                  <a:tcPr marL="46643" marR="46643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kern="100" dirty="0">
                          <a:effectLst/>
                          <a:latin typeface="Calibri" panose="020F0502020204030204" pitchFamily="34" charset="0"/>
                          <a:ea typeface="Malgun Gothic" panose="020B0503020000020004" pitchFamily="34" charset="-127"/>
                          <a:cs typeface="Times New Roman" panose="02020603050405020304" pitchFamily="18" charset="0"/>
                        </a:rPr>
                        <a:t>Business</a:t>
                      </a:r>
                      <a:endParaRPr lang="en-US" sz="1200" kern="100" dirty="0">
                        <a:effectLst/>
                        <a:latin typeface="Gill Sans MT" panose="020B0502020104020203" pitchFamily="34" charset="0"/>
                        <a:ea typeface="Malgun Gothic" panose="020B0503020000020004" pitchFamily="34" charset="-127"/>
                        <a:cs typeface="Times New Roman" panose="02020603050405020304" pitchFamily="18" charset="0"/>
                      </a:endParaRPr>
                    </a:p>
                  </a:txBody>
                  <a:tcPr marL="46643" marR="46643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kern="100" dirty="0">
                          <a:effectLst/>
                          <a:latin typeface="Calibri" panose="020F0502020204030204" pitchFamily="34" charset="0"/>
                          <a:ea typeface="Malgun Gothic" panose="020B0503020000020004" pitchFamily="34" charset="-127"/>
                          <a:cs typeface="Times New Roman" panose="02020603050405020304" pitchFamily="18" charset="0"/>
                        </a:rPr>
                        <a:t>Company hiring story overlaps labor/business cues and computing-company Sci/Tech label.</a:t>
                      </a:r>
                      <a:endParaRPr lang="en-US" sz="1200" kern="100" dirty="0">
                        <a:effectLst/>
                        <a:latin typeface="Gill Sans MT" panose="020B0502020104020203" pitchFamily="34" charset="0"/>
                        <a:ea typeface="Malgun Gothic" panose="020B0503020000020004" pitchFamily="34" charset="-127"/>
                        <a:cs typeface="Times New Roman" panose="02020603050405020304" pitchFamily="18" charset="0"/>
                      </a:endParaRPr>
                    </a:p>
                  </a:txBody>
                  <a:tcPr marL="46643" marR="46643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94170523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49D7CD77-30CD-BE3D-1F55-C49BE014A8D1}"/>
              </a:ext>
            </a:extLst>
          </p:cNvPr>
          <p:cNvSpPr txBox="1"/>
          <p:nvPr/>
        </p:nvSpPr>
        <p:spPr>
          <a:xfrm>
            <a:off x="287832" y="4778588"/>
            <a:ext cx="8614899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1600" dirty="0">
                <a:latin typeface="+mn-lt"/>
              </a:rPr>
              <a:t>Surface cues can dominate the true news section. For example, an Olympics-related text labeled World was predicted as Sports by both models.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1600" dirty="0">
                <a:latin typeface="+mn-lt"/>
              </a:rPr>
              <a:t>Business and Sci/Tech overlap heavily when a story discusses a technology company, IPO, chip delay, software company, or computing-related business event.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1600" dirty="0">
                <a:latin typeface="+mn-lt"/>
              </a:rPr>
              <a:t>Short science or technology items can be ambiguous because there is less context for the model to average over.</a:t>
            </a:r>
          </a:p>
        </p:txBody>
      </p:sp>
    </p:spTree>
    <p:extLst>
      <p:ext uri="{BB962C8B-B14F-4D97-AF65-F5344CB8AC3E}">
        <p14:creationId xmlns:p14="http://schemas.microsoft.com/office/powerpoint/2010/main" val="19660072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34401" y="182802"/>
            <a:ext cx="8050842" cy="3206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-10" dirty="0"/>
              <a:t>Conclusion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7"/>
          </p:nvPr>
        </p:nvSpPr>
        <p:spPr>
          <a:xfrm>
            <a:off x="5181600" y="6609807"/>
            <a:ext cx="3924873" cy="184666"/>
          </a:xfrm>
        </p:spPr>
        <p:txBody>
          <a:bodyPr/>
          <a:lstStyle/>
          <a:p>
            <a:pPr marL="3303904">
              <a:lnSpc>
                <a:spcPct val="100000"/>
              </a:lnSpc>
              <a:spcBef>
                <a:spcPts val="40"/>
              </a:spcBef>
            </a:pPr>
            <a:fld id="{81D60167-4931-47E6-BA6A-407CBD079E47}" type="slidenum">
              <a:rPr lang="en-US" spc="-50" smtClean="0"/>
              <a:t>12</a:t>
            </a:fld>
            <a:r>
              <a:rPr lang="en-US" spc="-50" dirty="0"/>
              <a:t> of 11</a:t>
            </a:r>
          </a:p>
        </p:txBody>
      </p:sp>
      <p:pic>
        <p:nvPicPr>
          <p:cNvPr id="5" name="Picture 4" descr="A blue and red logo&#10;&#10;AI-generated content may be incorrect.">
            <a:extLst>
              <a:ext uri="{FF2B5EF4-FFF2-40B4-BE49-F238E27FC236}">
                <a16:creationId xmlns:a16="http://schemas.microsoft.com/office/drawing/2014/main" id="{C0F089F8-38A5-65C8-BC32-7309A247FDD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58200" y="128016"/>
            <a:ext cx="444532" cy="30832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79F116D-7940-3A66-90C9-CBE4E1321171}"/>
              </a:ext>
            </a:extLst>
          </p:cNvPr>
          <p:cNvSpPr txBox="1"/>
          <p:nvPr/>
        </p:nvSpPr>
        <p:spPr>
          <a:xfrm>
            <a:off x="334401" y="720991"/>
            <a:ext cx="8511283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Both models reach about 91.2% final test accuracy.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Transformer Encoder is slightly better on final test accuracy and macro F1.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LSTM is stronger at 25% and 50% training data.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Transformer Encoder benefits more at 100% training data.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Increasing max sequence length from 128 to 256 hurts validation performance in this run.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main error pattern is Business vs Sci/Tech ambiguity.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Both models show overfitting by the final epoch.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>
                <a:latin typeface="+mn-lt"/>
              </a:rPr>
              <a:t>Future work: early stopping, regularization, and class-level error reduction.</a:t>
            </a:r>
          </a:p>
        </p:txBody>
      </p:sp>
    </p:spTree>
    <p:extLst>
      <p:ext uri="{BB962C8B-B14F-4D97-AF65-F5344CB8AC3E}">
        <p14:creationId xmlns:p14="http://schemas.microsoft.com/office/powerpoint/2010/main" val="20974432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1439" y="6623992"/>
            <a:ext cx="2206625" cy="18605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1385"/>
              </a:lnSpc>
            </a:pPr>
            <a:r>
              <a:rPr sz="1200" b="1" spc="-10" dirty="0">
                <a:solidFill>
                  <a:srgbClr val="7F8FA9"/>
                </a:solidFill>
                <a:latin typeface="Calibri"/>
                <a:cs typeface="Calibri"/>
              </a:rPr>
              <a:t>Algorithmic</a:t>
            </a:r>
            <a:r>
              <a:rPr sz="1200" b="1" spc="80" dirty="0">
                <a:solidFill>
                  <a:srgbClr val="7F8FA9"/>
                </a:solidFill>
                <a:latin typeface="Calibri"/>
                <a:cs typeface="Calibri"/>
              </a:rPr>
              <a:t> </a:t>
            </a:r>
            <a:r>
              <a:rPr sz="1200" b="1" spc="-10" dirty="0">
                <a:solidFill>
                  <a:srgbClr val="7F8FA9"/>
                </a:solidFill>
                <a:latin typeface="Calibri"/>
                <a:cs typeface="Calibri"/>
              </a:rPr>
              <a:t>Intelligence</a:t>
            </a:r>
            <a:r>
              <a:rPr sz="1200" b="1" spc="-5" dirty="0">
                <a:solidFill>
                  <a:srgbClr val="7F8FA9"/>
                </a:solidFill>
                <a:latin typeface="Calibri"/>
                <a:cs typeface="Calibri"/>
              </a:rPr>
              <a:t> </a:t>
            </a:r>
            <a:r>
              <a:rPr sz="1200" b="1" spc="-25" dirty="0">
                <a:solidFill>
                  <a:srgbClr val="7F8FA9"/>
                </a:solidFill>
                <a:latin typeface="Calibri"/>
                <a:cs typeface="Calibri"/>
              </a:rPr>
              <a:t>Laboratory</a:t>
            </a:r>
            <a:endParaRPr sz="1200" dirty="0">
              <a:latin typeface="Calibri"/>
              <a:cs typeface="Calibri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0" y="6642100"/>
            <a:ext cx="2552700" cy="215900"/>
          </a:xfrm>
          <a:custGeom>
            <a:avLst/>
            <a:gdLst/>
            <a:ahLst/>
            <a:cxnLst/>
            <a:rect l="l" t="t" r="r" b="b"/>
            <a:pathLst>
              <a:path w="2552700" h="215900">
                <a:moveTo>
                  <a:pt x="2552700" y="0"/>
                </a:moveTo>
                <a:lnTo>
                  <a:pt x="0" y="0"/>
                </a:lnTo>
                <a:lnTo>
                  <a:pt x="0" y="215900"/>
                </a:lnTo>
                <a:lnTo>
                  <a:pt x="2552700" y="215900"/>
                </a:lnTo>
                <a:lnTo>
                  <a:pt x="25527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5" name="object 5"/>
          <p:cNvSpPr/>
          <p:nvPr/>
        </p:nvSpPr>
        <p:spPr>
          <a:xfrm>
            <a:off x="184150" y="412750"/>
            <a:ext cx="8785225" cy="0"/>
          </a:xfrm>
          <a:custGeom>
            <a:avLst/>
            <a:gdLst/>
            <a:ahLst/>
            <a:cxnLst/>
            <a:rect l="l" t="t" r="r" b="b"/>
            <a:pathLst>
              <a:path w="8785225">
                <a:moveTo>
                  <a:pt x="0" y="0"/>
                </a:moveTo>
                <a:lnTo>
                  <a:pt x="8784976" y="1"/>
                </a:lnTo>
              </a:path>
            </a:pathLst>
          </a:custGeom>
          <a:ln w="12700">
            <a:solidFill>
              <a:srgbClr val="44546A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pic>
        <p:nvPicPr>
          <p:cNvPr id="9" name="Picture 8" descr="A blue and red logo&#10;&#10;AI-generated content may be incorrect.">
            <a:extLst>
              <a:ext uri="{FF2B5EF4-FFF2-40B4-BE49-F238E27FC236}">
                <a16:creationId xmlns:a16="http://schemas.microsoft.com/office/drawing/2014/main" id="{AC170A6F-8C65-A98B-0A1D-C5F9ECD7590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03920" y="45720"/>
            <a:ext cx="444532" cy="30832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168036E-919B-D93C-8CF7-3D131E99DD4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5548" y="97738"/>
            <a:ext cx="444532" cy="20428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86FAEC6-56F5-3C37-41A3-B69782C5703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674807"/>
            <a:ext cx="9144000" cy="35083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30318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800080"/>
      </a:folHlink>
    </a:clrScheme>
    <a:fontScheme name="맑은 고딕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114</TotalTime>
  <Words>1211</Words>
  <Application>Microsoft Office PowerPoint</Application>
  <PresentationFormat>On-screen Show (4:3)</PresentationFormat>
  <Paragraphs>267</Paragraphs>
  <Slides>13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13</vt:i4>
      </vt:variant>
    </vt:vector>
  </HeadingPairs>
  <TitlesOfParts>
    <vt:vector size="20" baseType="lpstr">
      <vt:lpstr>Aptos</vt:lpstr>
      <vt:lpstr>Arial</vt:lpstr>
      <vt:lpstr>Calibri</vt:lpstr>
      <vt:lpstr>Cambria Math</vt:lpstr>
      <vt:lpstr>Gill Sans MT</vt:lpstr>
      <vt:lpstr>Office Theme</vt:lpstr>
      <vt:lpstr>1_Office Theme</vt:lpstr>
      <vt:lpstr>LSTM vs Transformer Encoder for AG News Text Classification</vt:lpstr>
      <vt:lpstr>Table of Contents</vt:lpstr>
      <vt:lpstr>Introduction and Motivation</vt:lpstr>
      <vt:lpstr>Dataset</vt:lpstr>
      <vt:lpstr>Preprocessing</vt:lpstr>
      <vt:lpstr>Model Development</vt:lpstr>
      <vt:lpstr>Main Results</vt:lpstr>
      <vt:lpstr>Main Results</vt:lpstr>
      <vt:lpstr>Main Results</vt:lpstr>
      <vt:lpstr>Ablation Studies</vt:lpstr>
      <vt:lpstr>Failure Analysis</vt:lpstr>
      <vt:lpstr>Conclusion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Muhammad Abdullah Hassan Malik</cp:lastModifiedBy>
  <cp:revision>11</cp:revision>
  <dcterms:created xsi:type="dcterms:W3CDTF">2013-01-27T09:14:16Z</dcterms:created>
  <dcterms:modified xsi:type="dcterms:W3CDTF">2026-06-19T09:11:28Z</dcterms:modified>
  <cp:category/>
</cp:coreProperties>
</file>